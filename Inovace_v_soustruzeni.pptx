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Úvod" id="{4137d3ad-3e59-cc67-651a-9f9476df7c44}">
          <p14:sldIdLst>
            <p14:sldId id="256"/>
            <p14:sldId id="257"/>
          </p14:sldIdLst>
        </p14:section>
        <p14:section name="Inovace" id="{3ffe8d69-d81d-3fe8-54a2-d3d0070179c7}">
          <p14:sldIdLst>
            <p14:sldId id="258"/>
            <p14:sldId id="259"/>
            <p14:sldId id="260"/>
            <p14:sldId id="261"/>
            <p14:sldId id="262"/>
            <p14:sldId id="263"/>
            <p14:sldId id="264"/>
          </p14:sldIdLst>
        </p14:section>
        <p14:section name="Závěr" id="{3843af86-3261-186d-b2cf-463373d0c7c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0:30) Dobrý den, jmenuji se … a dnes vám představím nejzajímavější inovace v soustružení. Většina lidí si pod soustruhem představí stroj, který točí kus kovu a nůž z něj odebírá třísky. To pořád platí, ale dnešní stroje k tomu přidávají 3D tisk, tekutý dusík, lasery, ultrazvuk, umělou inteligenci a diamantové nástroje. Za pár minut vám ukážu šest technologií, které z obyčejného soustruhu dělají high-tech stroj.</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1</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0:50) Tady je přehled toho, co nás čeká. [Ukaž na dlaždice.] Jako první hybridní stroje, které kov umí 3D tisknout i obrábět. Pak dvě technologie, které řeší největšího nepřítele obrábění, a to je teplo: kryogenní obrábění chladí tekutým dusíkem a laserem asistované soustružení naopak materiál schválně ohřívá. Čtvrtá je digitalizace – chytré nástroje se senzory a umělá inteligence. Pátá je ultrazvuk, díky kterému jde soustružit i keramika nebo sklo. A šestá je diamantové soustružení, které vyrobí zrcadlo s přesností na nanometry. Proč je to všechno potřeba? Letectví, medicína i elektronika dnes používají materiály, které jsou extrémně tvrdé nebo křehké, a klasický soustruh na ně nestačí.</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2</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1:30 včetně videa) První inovací jsou hybridní stroje. Spojují dvě opačné technologie: aditivní výrobu, tedy 3D tisk, kdy se materiál přidává, a obrábění, kdy se materiál odebírá. Funguje to takhle: laser vytvoří na povrchu malou tavnou lázeň a tryska do ní fouká jemný kovový prášek. Prášek se roztaví a vrstvu po vrstvě vzniká hrubý tvar součástky. Této metodě se říká DED, Directed Energy Deposition. Hned potom stejný stroj díl soustruží a frézuje na přesný rozměr. [Ukaž na obrázek stroje.] Výhoda je, že se díl celou dobu nepřepíná, takže nevzniká nepřesnost z přepnutí. Šetří se materiál, protože kov se přidá jen tam, kde je potřeba, místo obrábění z velkého špalku. A dají se i opravovat drahé díly – opotřebená lopatka turbíny se nemusí vyhodit, chybějící materiál se navaří a pak obrobí. Takové stroje vyrábí například Okuma, DMG MORI nebo Mazak. [VIDEO: klikni na tlačítko a pusť asi 15 sekund, pak pokračuj.]</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3</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1:20) Druhá inovace řeší teplo. Při soustružení těžko obrobitelných slitin, jako je titan nebo Inconel, ze kterých se dělají letecké motory nebo implantáty, vzniká v místě řezu teplota několik set stupňů. Tyhle materiály navíc špatně vedou teplo, takže zůstává v břitu nože a ten se rychle opotřebí. Klasicky se chladí emulzí, tedy směsí vody a oleje. Kryogenní obrábění ji nahrazuje tekutým dusíkem o teplotě minus 196 stupňů, který se stříká přímo na břit, nebo oxidem uhličitým, který se po vystříknutí změní na sníh o teplotě asi minus 78 stupňů. Nástroj pak vydrží déle – běžně o desítky procent, v nejlepších studiích i dvakrát až třikrát. Dusík se odpaří, takže nezůstává žádná odpadní emulze a čisté třísky se dají rovnou recyklovat. Má to i nevýhody: výroba tekutého dusíku stojí hodně energie, zařízení je drahé a dusík nemaže, proto se často kombinuje s mikromazáním, tedy s malým množstvím oleje. [VIDEO – volitelné: krátká ukázka bílé mlhy dusíku u nástroje.]</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4</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1:10) Třetí technologie jde přesně opačně než kryogenní obrábění. U laserem asistovaného soustružení svítí laser na obrobek těsně před nožem a lokálně ho zahřeje – u kovů na stovky stupňů, u technické keramiky i přes tisíc. Ohřátý materiál změkne a nůž ho pak odebírá mnohem snadněji: klesnou řezné síly, nástroj se méně opotřebí a křehký materiál nepraská. Studie z Purdue University u Inconelu ukázala, že při ohřevu zhruba na 600 stupňů klesne potřebná energie asi o čtvrtinu a povrch je dvakrát až třikrát hladší. Používá se hlavně na keramiku jako nitrid křemíku, na Inconel, titan a kalené oceli. Zajímavá varianta je Micro-LAM, kde laser svítí přímo skrz diamantový nůž – díky tomu jde soustružit i karbid křemíku, který se diamantem běžně soustružit nedá. Shrnuto: kryo chladí nástroj, laser ohřívá obrobek, a obě metody řeší stejný problém – jak obrábět extrémně tvrdé materiály. [VIDEO – volitelné: Micro-LAM.]</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5</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1:20) Čtvrtá oblast je digitalizace, tedy Průmysl 4.0. Do držáků nožů se dnes montují senzory, které přímo při řezu měří vibrace, síly a teplotu. Příkladem je nůž CoroTurn Plus od Sandvik Coromant, který proces sleduje v reálném čase. Řídicí systém a umělá inteligence data vyhodnocují: sledují, jak se nástroj postupně opotřebovává, podle zatížení upraví posuv, a když se nástroj zlomí nebo hrozí kolize, stroj během milisekund zastaví. Na internetu se často píše, že AI pozná zlom nože zlomek sekundy předem. To je ale zatím spíš výzkum – v praxi jde hlavně o sledování opotřebení a rychlou reakci. Třetí věc je digitální dvojče: celý proces se nejdřív nasimuluje v počítači včetně přesného modelu stroje, upínání a nástrojů. Kolize se tak odhalí dřív, než se stroj vůbec rozjede, a první kus může být rovnou dobrý. [VIDEO – volitelné: CoroTurn Plus.]</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6</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1:10) Pátá inovace je ultrazvukem asistované soustružení. Nůž je připojený k piezoelektrickému měniči, který mění elektrický signál na mechanické kmity. Nůž kmitá dvacet až čtyřicet tisíckrát za sekundu, ale jen o pár mikrometrů – to je tenčí než vlas a okem to vůbec není vidět. Nůž se tak od materiálu neustále nepatrně odtahuje, klesá tření, teplo i řezné síly a třísky se lépe lámou. Díky tomu jde soustružit i tvrdé a křehké materiály, jako je technická keramika, sklo nebo karbid wolframu, které se jinak většinou musí brousit. Pomáhá to i u titanu a Inconelu. Video od firmy LT Ultra ukazuje ultrazvukem asistované přesné soustružení oceli. V průmyslu je to zatím spíš specializovaná technologie, ale rychle se rozvíjí. [VIDEO – volitelné.]</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7</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1:30 včetně videa) Šestá technologie je diamantové soustružení, anglicky Single Point Diamond Turning. Používá se tam, kde nestačí ani mikrometr. Stroj stojí na masivním žulovém loži, vřeteno se točí na vzduchovém ložisku, takže se nic netře, a celý stroj je izolovaný od otřesů – nesmí ho rušit ani projíždějící auto nebo kroky v hale. Nástroj je z jediného krystalu syntetického diamantu a jeho břit je zaoblený jen na desítky nanometrů. Výsledkem je povrch s drsností pár nanometrů – to je asi deset tisíckrát méně, než je tloušťka lidského vlasu. Povrch tak rovnou funguje jako zrcadlo, hlavně pro infračervené světlo. Vyrábí se tak laserová zrcadla, optika do satelitů a termokamer, formy na čočky i samotné kontaktní čočky. A zajímavost: diamantem se běžně nedá soustružit ocel. Uhlík z diamantu se za vysoké teploty rozpouští v železe a nástroj se rychle zničí. Pomoct může právě ultrazvuk z minulého slidu – nůž pak není s ocelí v trvalém kontaktu. Jinak se takhle obrábí hliník, měď, germanium nebo plasty. [VIDEO: pusť asi 15 sekund – soustružení velkého zrcadla.]</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8</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1:00) Ještě tři rychlé zajímavosti navíc. Tvrdé soustružení: nástroji z kubického nitridu boru, což je po diamantu jeden z nejtvrdších materiálů, se dá soustružit kalená ocel s tvrdostí přes 60 HRC. Dřív to šlo jen broušením, dnes se tak dokončují třeba ložiskové kroužky nebo ozubená kola. Druhá je PrimeTurning od Sandvik Coromant: klasický nůž soustruží jen jedním směrem a pak musí naprázdno přejet zpátky. PrimeTurning soustruží oběma směry, takže stroj neztrácí čas – výrobce uvádí až o polovinu kratší časy. [VIDEO – volitelné: PrimeTurning demo.] A třetí je vysokotlaké chlazení: kapalina se stříká pod tlakem 70 barů i víc přímo pod třísku, láme ji na malé kousky, a ty se pak nenamotávají na obrobek ani na nůž.</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9</a:t>
            </a:fld>
            <a:endParaRPr lang="cs-CZ"/>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(cca 0:40) Shrnu to. Soustružení dnes spojuje 3D tisk s obráběním. Teplo, největšího nepřítele obrábění, umíme řídit – tekutým dusíkem ho odvádíme, laserem ho naopak cíleně přidáváme. Proces hlídají senzory, umělá inteligence a digitální dvojče. A díky ultrazvuku a diamantovým nástrojům lze obrábět křehké materiály s nanometrovou přesností. Soustruh je jeden z nejstarších strojů vůbec, a přesto se pořád vyvíjí. Děkuji za pozornost – máte nějaké otázky?</a:t>
            </a:r>
            <a:endParaRPr lang="cs-CZ" dirty="0"/>
          </a:p>
        </p:txBody>
      </p:sp>
      <p:sp>
        <p:nvSpPr>
          <p:cNvPr id="4" name="Slide Number Placeholder 3"/>
          <p:cNvSpPr>
            <a:spLocks noGrp="1"/>
          </p:cNvSpPr>
          <p:nvPr>
            <p:ph type="sldNum" sz="quarter" idx="10"/>
          </p:nvPr>
        </p:nvSpPr>
        <p:spPr/>
        <p:txBody>
          <a:bodyPr/>
          <a:lstStyle/>
          <a:p>
            <a:fld id="{F7021451-1387-4CA6-816F-3879F97B5CBC}" type="slidenum">
              <a:rPr lang="cs-CZ"/>
              <a:t>10</a:t>
            </a:fld>
            <a:endParaRPr lang="cs-CZ"/>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mavý – titulní">
    <p:bg>
      <p:bgPr>
        <a:solidFill>
          <a:schemeClr val="tx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6949440" y="0"/>
            <a:ext cx="5242255" cy="6858000"/>
          </a:xfrm>
          <a:prstGeom prst="rect">
            <a:avLst/>
          </a:prstGeom>
          <a:noFill/>
          <a:ln/>
        </p:spPr>
        <p:txBody>
          <a:bodyPr wrap="square" rtlCol="0"/>
          <a:lstStyle>
            <a:lvl1pPr algn="ctr" indent="0" marL="0">
              <a:buNone/>
              <a:defRPr lang="cs-CZ" sz="1400" dirty="0">
                <a:solidFill>
                  <a:schemeClr val="accent3"/>
                </a:solidFill>
              </a:defRPr>
            </a:lvl1pPr>
          </a:lstStyle>
          <a:p>
            <a:pPr algn="ctr" indent="0" marL="0">
              <a:buNone/>
            </a:pPr>
            <a:r>
              <a:rPr lang="cs-CZ" sz="1400" dirty="0">
                <a:solidFill>
                  <a:schemeClr val="accent3"/>
                </a:solidFill>
              </a:rPr>
              <a:t>Klikni na ikonu obrázku a vlož úvodní fotku – CNC soustruh při práci, letící třísky (např. unsplash.com, hledej „CNC lathe“)</a:t>
            </a:r>
            <a:endParaRPr lang="cs-CZ" sz="1400" dirty="0"/>
          </a:p>
        </p:txBody>
      </p:sp>
      <p:sp>
        <p:nvSpPr>
          <p:cNvPr id="3" name="Text 0"/>
          <p:cNvSpPr/>
          <p:nvPr>
            <p:ph idx="101" type="title" hasCustomPrompt="1"/>
          </p:nvPr>
        </p:nvSpPr>
        <p:spPr>
          <a:xfrm>
            <a:off x="731520" y="1737360"/>
            <a:ext cx="5760720" cy="1920240"/>
          </a:xfrm>
          <a:prstGeom prst="rect">
            <a:avLst/>
          </a:prstGeom>
          <a:noFill/>
          <a:ln/>
        </p:spPr>
        <p:txBody>
          <a:bodyPr wrap="square" rtlCol="0"/>
          <a:lstStyle>
            <a:lvl1pPr algn="l" indent="0" marL="0">
              <a:buNone/>
              <a:defRPr lang="cs-CZ" sz="4600" b="1" dirty="0">
                <a:solidFill>
                  <a:schemeClr val="bg1"/>
                </a:solidFill>
              </a:defRPr>
            </a:lvl1pPr>
          </a:lstStyle>
          <a:p>
            <a:pPr algn="l" indent="0" marL="0">
              <a:buNone/>
            </a:pPr>
            <a:endParaRPr lang="cs-CZ" sz="4600" dirty="0"/>
          </a:p>
        </p:txBody>
      </p:sp>
      <p:sp>
        <p:nvSpPr>
          <p:cNvPr id="4" name="Text 0"/>
          <p:cNvSpPr/>
          <p:nvPr>
            <p:ph idx="102" type="body" hasCustomPrompt="1"/>
          </p:nvPr>
        </p:nvSpPr>
        <p:spPr>
          <a:xfrm>
            <a:off x="731520" y="3886200"/>
            <a:ext cx="5760720" cy="914400"/>
          </a:xfrm>
          <a:prstGeom prst="rect">
            <a:avLst/>
          </a:prstGeom>
          <a:noFill/>
          <a:ln/>
        </p:spPr>
        <p:txBody>
          <a:bodyPr wrap="square" rtlCol="0"/>
          <a:lstStyle>
            <a:lvl1pPr algn="l" indent="0" marL="0">
              <a:buNone/>
              <a:defRPr lang="cs-CZ" sz="2200" dirty="0">
                <a:solidFill>
                  <a:schemeClr val="accent3"/>
                </a:solidFill>
              </a:defRPr>
            </a:lvl1pPr>
          </a:lstStyle>
          <a:p>
            <a:pPr algn="l" indent="0" marL="0">
              <a:buNone/>
            </a:pPr>
            <a:endParaRPr lang="cs-CZ"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bsah s obrázkem – přehled">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420624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fotku moderního CNC soustruhu nebo soustružnického centra</a:t>
            </a:r>
            <a:endParaRPr lang="cs-CZ" sz="1400" dirty="0"/>
          </a:p>
        </p:txBody>
      </p:sp>
      <p:sp>
        <p:nvSpPr>
          <p:cNvPr id="3" name="Text 0"/>
          <p:cNvSpPr/>
          <p:nvPr>
            <p:ph idx="101" type="body" hasCustomPrompt="1"/>
          </p:nvPr>
        </p:nvSpPr>
        <p:spPr>
          <a:xfrm>
            <a:off x="7708392" y="5742432"/>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1003</a:t>
            </a:fld>
            <a:endParaRPr lang="cs-CZ"/>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bsah s obrázkem – hybridní stroje">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361188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fotku hybridního stroje – např. Okuma MULTUS U4000 LASER EX nebo DMG MORI LASERTEC 65 DED hybrid</a:t>
            </a:r>
            <a:endParaRPr lang="cs-CZ" sz="1400" dirty="0"/>
          </a:p>
        </p:txBody>
      </p:sp>
      <p:sp>
        <p:nvSpPr>
          <p:cNvPr id="3" name="Text 0"/>
          <p:cNvSpPr/>
          <p:nvPr>
            <p:ph idx="101" type="body" hasCustomPrompt="1"/>
          </p:nvPr>
        </p:nvSpPr>
        <p:spPr>
          <a:xfrm>
            <a:off x="7708392" y="5138928"/>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1004</a:t>
            </a:fld>
            <a:endParaRPr lang="cs-CZ"/>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bsah s obrázkem – kryogenní obrábění">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361188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fotku kryogenního obrábění – bílá mlha tekutého dusíku u nože</a:t>
            </a:r>
            <a:endParaRPr lang="cs-CZ" sz="1400" dirty="0"/>
          </a:p>
        </p:txBody>
      </p:sp>
      <p:sp>
        <p:nvSpPr>
          <p:cNvPr id="3" name="Text 0"/>
          <p:cNvSpPr/>
          <p:nvPr>
            <p:ph idx="101" type="body" hasCustomPrompt="1"/>
          </p:nvPr>
        </p:nvSpPr>
        <p:spPr>
          <a:xfrm>
            <a:off x="7708392" y="5138928"/>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1005</a:t>
            </a:fld>
            <a:endParaRPr lang="cs-CZ"/>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bsah s obrázkem – laser">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361188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obrázek laserem asistovaného soustružení – schéma, jak laser míří těsně před nůž</a:t>
            </a:r>
            <a:endParaRPr lang="cs-CZ" sz="1400" dirty="0"/>
          </a:p>
        </p:txBody>
      </p:sp>
      <p:sp>
        <p:nvSpPr>
          <p:cNvPr id="3" name="Text 0"/>
          <p:cNvSpPr/>
          <p:nvPr>
            <p:ph idx="101" type="body" hasCustomPrompt="1"/>
          </p:nvPr>
        </p:nvSpPr>
        <p:spPr>
          <a:xfrm>
            <a:off x="7708392" y="5138928"/>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1006</a:t>
            </a:fld>
            <a:endParaRPr lang="cs-CZ"/>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bsah s obrázkem – chytré nástroje">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361188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fotku chytrého nože se senzory – např. Sandvik CoroTurn Plus</a:t>
            </a:r>
            <a:endParaRPr lang="cs-CZ" sz="1400" dirty="0"/>
          </a:p>
        </p:txBody>
      </p:sp>
      <p:sp>
        <p:nvSpPr>
          <p:cNvPr id="3" name="Text 0"/>
          <p:cNvSpPr/>
          <p:nvPr>
            <p:ph idx="101" type="body" hasCustomPrompt="1"/>
          </p:nvPr>
        </p:nvSpPr>
        <p:spPr>
          <a:xfrm>
            <a:off x="7708392" y="5138928"/>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1007</a:t>
            </a:fld>
            <a:endParaRPr lang="cs-CZ"/>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bsah s obrázkem – ultrazvuk">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361188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fotku nebo schéma ultrazvukového nástroje (piezo měnič + nůž)</a:t>
            </a:r>
            <a:endParaRPr lang="cs-CZ" sz="1400" dirty="0"/>
          </a:p>
        </p:txBody>
      </p:sp>
      <p:sp>
        <p:nvSpPr>
          <p:cNvPr id="3" name="Text 0"/>
          <p:cNvSpPr/>
          <p:nvPr>
            <p:ph idx="101" type="body" hasCustomPrompt="1"/>
          </p:nvPr>
        </p:nvSpPr>
        <p:spPr>
          <a:xfrm>
            <a:off x="7708392" y="5138928"/>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1008</a:t>
            </a:fld>
            <a:endParaRPr lang="cs-CZ"/>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bsah s obrázkem – diamant">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361188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fotku diamantem soustruženého zrcadla nebo stroje (Precitech, Moore Nanotech)</a:t>
            </a:r>
            <a:endParaRPr lang="cs-CZ" sz="1400" dirty="0"/>
          </a:p>
        </p:txBody>
      </p:sp>
      <p:sp>
        <p:nvSpPr>
          <p:cNvPr id="3" name="Text 0"/>
          <p:cNvSpPr/>
          <p:nvPr>
            <p:ph idx="101" type="body" hasCustomPrompt="1"/>
          </p:nvPr>
        </p:nvSpPr>
        <p:spPr>
          <a:xfrm>
            <a:off x="7708392" y="5138928"/>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1009</a:t>
            </a:fld>
            <a:endParaRPr lang="cs-CZ"/>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bsah s obrázkem – zajímavosti">
    <p:bg>
      <p:bgPr>
        <a:solidFill>
          <a:schemeClr val="bg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708392" y="1463040"/>
            <a:ext cx="3931920" cy="3611880"/>
          </a:xfrm>
          <a:prstGeom prst="rect">
            <a:avLst/>
          </a:prstGeom>
          <a:noFill/>
          <a:ln/>
        </p:spPr>
        <p:txBody>
          <a:bodyPr wrap="square" rtlCol="0"/>
          <a:lstStyle>
            <a:lvl1pPr algn="ctr" indent="0" marL="0">
              <a:buNone/>
              <a:defRPr lang="cs-CZ" sz="1400" dirty="0">
                <a:solidFill>
                  <a:schemeClr val="tx2"/>
                </a:solidFill>
              </a:defRPr>
            </a:lvl1pPr>
          </a:lstStyle>
          <a:p>
            <a:pPr algn="ctr" indent="0" marL="0">
              <a:buNone/>
            </a:pPr>
            <a:r>
              <a:rPr lang="cs-CZ" sz="1400" dirty="0">
                <a:solidFill>
                  <a:schemeClr val="tx2"/>
                </a:solidFill>
              </a:rPr>
              <a:t>Klikni na ikonu obrázku a vlož fotku nástroje CoroTurn Prime (PrimeTurning) od Sandvik Coromant</a:t>
            </a:r>
            <a:endParaRPr lang="cs-CZ" sz="1400" dirty="0"/>
          </a:p>
        </p:txBody>
      </p:sp>
      <p:sp>
        <p:nvSpPr>
          <p:cNvPr id="3" name="Text 0"/>
          <p:cNvSpPr/>
          <p:nvPr>
            <p:ph idx="101" type="body" hasCustomPrompt="1"/>
          </p:nvPr>
        </p:nvSpPr>
        <p:spPr>
          <a:xfrm>
            <a:off x="7708392" y="5138928"/>
            <a:ext cx="3931920" cy="256032"/>
          </a:xfrm>
          <a:prstGeom prst="rect">
            <a:avLst/>
          </a:prstGeom>
          <a:noFill/>
          <a:ln/>
        </p:spPr>
        <p:txBody>
          <a:bodyPr wrap="square" rtlCol="0"/>
          <a:lstStyle>
            <a:lvl1pPr indent="0" marL="0">
              <a:buNone/>
              <a:defRPr lang="cs-CZ" sz="1000" dirty="0">
                <a:solidFill>
                  <a:schemeClr val="tx2"/>
                </a:solidFill>
              </a:defRPr>
            </a:lvl1pPr>
          </a:lstStyle>
          <a:p>
            <a:pPr indent="0" marL="0">
              <a:buNone/>
            </a:pPr>
            <a:r>
              <a:rPr lang="cs-CZ" sz="1000" dirty="0">
                <a:solidFill>
                  <a:schemeClr val="tx2"/>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tx1"/>
                </a:solidFill>
              </a:defRPr>
            </a:lvl1pPr>
          </a:lstStyle>
          <a:p>
            <a:pPr indent="0" marL="0">
              <a:buNone/>
            </a:pPr>
            <a:endParaRPr lang="cs-CZ" sz="34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cs-CZ" sz="1000" dirty="0">
                <a:solidFill>
                  <a:schemeClr val="accent3"/>
                </a:solidFill>
              </a:rPr>
              <a:t>Inovace v soustružení</a:t>
            </a: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1010</a:t>
            </a:fld>
            <a:endParaRPr lang="cs-CZ"/>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mavý – závěr">
    <p:bg>
      <p:bgPr>
        <a:solidFill>
          <a:schemeClr val="tx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315200" y="1463040"/>
            <a:ext cx="4325112" cy="2834640"/>
          </a:xfrm>
          <a:prstGeom prst="rect">
            <a:avLst/>
          </a:prstGeom>
          <a:noFill/>
          <a:ln/>
        </p:spPr>
        <p:txBody>
          <a:bodyPr wrap="square" rtlCol="0"/>
          <a:lstStyle>
            <a:lvl1pPr algn="ctr" indent="0" marL="0">
              <a:buNone/>
              <a:defRPr lang="cs-CZ" sz="1400" dirty="0">
                <a:solidFill>
                  <a:schemeClr val="accent3"/>
                </a:solidFill>
              </a:defRPr>
            </a:lvl1pPr>
          </a:lstStyle>
          <a:p>
            <a:pPr algn="ctr" indent="0" marL="0">
              <a:buNone/>
            </a:pPr>
            <a:r>
              <a:rPr lang="cs-CZ" sz="1400" dirty="0">
                <a:solidFill>
                  <a:schemeClr val="accent3"/>
                </a:solidFill>
              </a:rPr>
              <a:t>Klikni na ikonu obrázku a vlož závěrečnou fotku – třeba detail třísky nebo hotového dílu</a:t>
            </a:r>
            <a:endParaRPr lang="cs-CZ" sz="1400" dirty="0"/>
          </a:p>
        </p:txBody>
      </p:sp>
      <p:sp>
        <p:nvSpPr>
          <p:cNvPr id="3" name="Text 0"/>
          <p:cNvSpPr/>
          <p:nvPr>
            <p:ph idx="101" type="body" hasCustomPrompt="1"/>
          </p:nvPr>
        </p:nvSpPr>
        <p:spPr>
          <a:xfrm>
            <a:off x="7315200" y="4361688"/>
            <a:ext cx="4325112" cy="256032"/>
          </a:xfrm>
          <a:prstGeom prst="rect">
            <a:avLst/>
          </a:prstGeom>
          <a:noFill/>
          <a:ln/>
        </p:spPr>
        <p:txBody>
          <a:bodyPr wrap="square" rtlCol="0"/>
          <a:lstStyle>
            <a:lvl1pPr indent="0" marL="0">
              <a:buNone/>
              <a:defRPr lang="cs-CZ" sz="1000" dirty="0">
                <a:solidFill>
                  <a:schemeClr val="accent3"/>
                </a:solidFill>
              </a:defRPr>
            </a:lvl1pPr>
          </a:lstStyle>
          <a:p>
            <a:pPr indent="0" marL="0">
              <a:buNone/>
            </a:pPr>
            <a:r>
              <a:rPr lang="cs-CZ" sz="1000" dirty="0">
                <a:solidFill>
                  <a:schemeClr val="accent3"/>
                </a:solidFill>
              </a:rPr>
              <a:t>Sem napiš zdroj obrázku (např. okuma.eu)</a:t>
            </a:r>
            <a:endParaRPr lang="cs-CZ" sz="1000" dirty="0"/>
          </a:p>
        </p:txBody>
      </p:sp>
      <p:sp>
        <p:nvSpPr>
          <p:cNvPr id="4" name="Text 0"/>
          <p:cNvSpPr/>
          <p:nvPr>
            <p:ph idx="102" type="title" hasCustomPrompt="1"/>
          </p:nvPr>
        </p:nvSpPr>
        <p:spPr>
          <a:xfrm>
            <a:off x="548640" y="365760"/>
            <a:ext cx="11091672" cy="822960"/>
          </a:xfrm>
          <a:prstGeom prst="rect">
            <a:avLst/>
          </a:prstGeom>
          <a:noFill/>
          <a:ln/>
        </p:spPr>
        <p:txBody>
          <a:bodyPr wrap="square" rtlCol="0"/>
          <a:lstStyle>
            <a:lvl1pPr indent="0" marL="0">
              <a:buNone/>
              <a:defRPr lang="cs-CZ" sz="3400" b="1" dirty="0">
                <a:solidFill>
                  <a:schemeClr val="bg1"/>
                </a:solidFill>
              </a:defRPr>
            </a:lvl1pPr>
          </a:lstStyle>
          <a:p>
            <a:pPr indent="0" marL="0">
              <a:buNone/>
            </a:pPr>
            <a:endParaRPr lang="cs-CZ"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null</a:t>
            </a:fld>
            <a:endParaRPr lang="cs-CZ"/>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7" Type="http://schemas.openxmlformats.org/officeDocument/2006/relationships/hyperlink" Target="https://www.youtube.com/watch?v=SMmV81FBI-I" TargetMode="External"/><Relationship Id="rId9" Type="http://schemas.openxmlformats.org/officeDocument/2006/relationships/hyperlink" Target="https://www.youtube.com/watch?v=SMmV81FBI-I" TargetMode="External"/><Relationship Id="rId10" Type="http://schemas.openxmlformats.org/officeDocument/2006/relationships/hyperlink" Target="https://www.youtube.com/watch?v=SMmV81FBI-I"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8" Type="http://schemas.openxmlformats.org/officeDocument/2006/relationships/image" Target="../media/image-3-7.pn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hyperlink" Target="https://www.youtube.com/watch?v=iW_y25rfM-M" TargetMode="External"/><Relationship Id="rId6" Type="http://schemas.openxmlformats.org/officeDocument/2006/relationships/hyperlink" Target="https://www.youtube.com/watch?v=iW_y25rfM-M" TargetMode="External"/><Relationship Id="rId7" Type="http://schemas.openxmlformats.org/officeDocument/2006/relationships/hyperlink" Target="https://www.youtube.com/watch?v=iW_y25rfM-M"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image" Target="../media/image-4-4.png"/><Relationship Id="rId8" Type="http://schemas.openxmlformats.org/officeDocument/2006/relationships/slideLayout" Target="../slideLayouts/slideLayout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hyperlink" Target="https://www.youtube.com/watch?v=GyqnE_KD37U" TargetMode="External"/><Relationship Id="rId10" Type="http://schemas.openxmlformats.org/officeDocument/2006/relationships/hyperlink" Target="https://www.youtube.com/watch?v=GyqnE_KD37U" TargetMode="External"/><Relationship Id="rId11" Type="http://schemas.openxmlformats.org/officeDocument/2006/relationships/hyperlink" Target="https://www.youtube.com/watch?v=GyqnE_KD37U"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9" Type="http://schemas.openxmlformats.org/officeDocument/2006/relationships/image" Target="../media/image-5-8.png"/><Relationship Id="rId12" Type="http://schemas.openxmlformats.org/officeDocument/2006/relationships/slideLayout" Target="../slideLayouts/slideLayout6.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hyperlink" Target="https://videos.sandvik.coromant.com/coroturn-plus-real-time-process" TargetMode="External"/><Relationship Id="rId7" Type="http://schemas.openxmlformats.org/officeDocument/2006/relationships/hyperlink" Target="https://videos.sandvik.coromant.com/coroturn-plus-real-time-process" TargetMode="External"/><Relationship Id="rId8" Type="http://schemas.openxmlformats.org/officeDocument/2006/relationships/hyperlink" Target="https://videos.sandvik.coromant.com/coroturn-plus-real-time-process"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image" Target="../media/image-6-5.pn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hyrhy_FG62E" TargetMode="External"/><Relationship Id="rId5" Type="http://schemas.openxmlformats.org/officeDocument/2006/relationships/hyperlink" Target="https://www.youtube.com/watch?v=hyrhy_FG62E" TargetMode="External"/><Relationship Id="rId6" Type="http://schemas.openxmlformats.org/officeDocument/2006/relationships/hyperlink" Target="https://www.youtube.com/watch?v=hyrhy_FG62E"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UJwV6cBC1a8" TargetMode="External"/><Relationship Id="rId5" Type="http://schemas.openxmlformats.org/officeDocument/2006/relationships/hyperlink" Target="https://www.youtube.com/watch?v=UJwV6cBC1a8" TargetMode="External"/><Relationship Id="rId6" Type="http://schemas.openxmlformats.org/officeDocument/2006/relationships/hyperlink" Target="https://www.youtube.com/watch?v=UJwV6cBC1a8"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7g1QIdfSRCo" TargetMode="External"/><Relationship Id="rId4" Type="http://schemas.openxmlformats.org/officeDocument/2006/relationships/hyperlink" Target="https://www.youtube.com/watch?v=7g1QIdfSRCo" TargetMode="External"/><Relationship Id="rId5" Type="http://schemas.openxmlformats.org/officeDocument/2006/relationships/hyperlink" Target="https://www.youtube.com/watch?v=7g1QIdfSRCo" TargetMode="External"/><Relationship Id="rId1" Type="http://schemas.openxmlformats.org/officeDocument/2006/relationships/image" Target="../media/image-9-1.png"/><Relationship Id="rId3" Type="http://schemas.openxmlformats.org/officeDocument/2006/relationships/image" Target="../media/image-9-2.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31520" y="1737360"/>
            <a:ext cx="5760720" cy="1920240"/>
          </a:xfrm>
          <a:prstGeom prst="rect">
            <a:avLst/>
          </a:prstGeom>
          <a:noFill/>
          <a:ln/>
        </p:spPr>
        <p:txBody>
          <a:bodyPr wrap="square" lIns="0" tIns="0" rIns="0" bIns="0" rtlCol="0" anchor="b"/>
          <a:lstStyle/>
          <a:p>
            <a:pPr algn="l" indent="0" marL="0">
              <a:buNone/>
            </a:pPr>
            <a:r>
              <a:rPr lang="cs-CZ" sz="4600" b="1" dirty="0">
                <a:solidFill>
                  <a:schemeClr val="bg1"/>
                </a:solidFill>
              </a:rPr>
              <a:t>Soustružení 21. století</a:t>
            </a:r>
            <a:endParaRPr lang="cs-CZ" sz="4600" dirty="0"/>
          </a:p>
        </p:txBody>
      </p:sp>
      <p:sp>
        <p:nvSpPr>
          <p:cNvPr id="3" name="Text 0"/>
          <p:cNvSpPr/>
          <p:nvPr>
            <p:ph idx="102" type="body" hasCustomPrompt="1"/>
          </p:nvPr>
        </p:nvSpPr>
        <p:spPr>
          <a:xfrm>
            <a:off x="731520" y="3886200"/>
            <a:ext cx="5760720" cy="914400"/>
          </a:xfrm>
          <a:prstGeom prst="rect">
            <a:avLst/>
          </a:prstGeom>
          <a:noFill/>
          <a:ln/>
        </p:spPr>
        <p:txBody>
          <a:bodyPr wrap="square" lIns="0" tIns="0" rIns="0" bIns="0" rtlCol="0" anchor="t"/>
          <a:lstStyle/>
          <a:p>
            <a:pPr algn="l" indent="0" marL="0">
              <a:buNone/>
            </a:pPr>
            <a:r>
              <a:rPr lang="cs-CZ" sz="2200" dirty="0">
                <a:solidFill>
                  <a:schemeClr val="accent3"/>
                </a:solidFill>
              </a:rPr>
              <a:t>Zajímavosti a inovace, které mění obrábění</a:t>
            </a:r>
            <a:endParaRPr lang="cs-CZ" sz="2200" dirty="0"/>
          </a:p>
        </p:txBody>
      </p:sp>
      <p:sp>
        <p:nvSpPr>
          <p:cNvPr id="4" name="autor"/>
          <p:cNvSpPr txBox="1"/>
          <p:nvPr/>
        </p:nvSpPr>
        <p:spPr>
          <a:xfrm>
            <a:off x="731520" y="5852160"/>
            <a:ext cx="5486400" cy="365760"/>
          </a:xfrm>
          <a:prstGeom prst="rect">
            <a:avLst/>
          </a:prstGeom>
          <a:noFill/>
          <a:ln/>
        </p:spPr>
        <p:txBody>
          <a:bodyPr wrap="square" lIns="0" tIns="0" rIns="0" bIns="0" rtlCol="0" anchor="t"/>
          <a:lstStyle/>
          <a:p>
            <a:pPr indent="0" marL="0">
              <a:buNone/>
            </a:pPr>
            <a:r>
              <a:rPr lang="cs-CZ" sz="1400" dirty="0">
                <a:solidFill>
                  <a:schemeClr val="accent3"/>
                </a:solidFill>
              </a:rPr>
              <a:t>Jméno Příjmení · třída</a:t>
            </a:r>
            <a:endParaRPr lang="cs-CZ" sz="1400" dirty="0"/>
          </a:p>
        </p:txBody>
      </p:sp>
      <p:sp>
        <p:nvSpPr>
          <p:cNvPr id="5" name="Místo na obrázek – pozadí"/>
          <p:cNvSpPr/>
          <p:nvPr/>
        </p:nvSpPr>
        <p:spPr>
          <a:xfrm>
            <a:off x="6949440" y="0"/>
            <a:ext cx="5242255" cy="6858000"/>
          </a:xfrm>
          <a:prstGeom prst="rect">
            <a:avLst/>
          </a:prstGeom>
          <a:solidFill>
            <a:schemeClr val="tx2"/>
          </a:solidFill>
          <a:ln/>
        </p:spPr>
      </p:sp>
      <p:sp>
        <p:nvSpPr>
          <p:cNvPr id="6" name="Místo na obrázek – kruh"/>
          <p:cNvSpPr/>
          <p:nvPr/>
        </p:nvSpPr>
        <p:spPr>
          <a:xfrm>
            <a:off x="8999068" y="1348740"/>
            <a:ext cx="1143000" cy="1143000"/>
          </a:xfrm>
          <a:prstGeom prst="ellipse">
            <a:avLst/>
          </a:prstGeom>
          <a:solidFill>
            <a:schemeClr val="tx1"/>
          </a:solidFill>
          <a:ln/>
        </p:spPr>
      </p:sp>
      <p:pic>
        <p:nvPicPr>
          <p:cNvPr id="7" name="Místo na obrázek – ikona" descr="ilustrační ikona">    </p:cNvPr>
          <p:cNvPicPr>
            <a:picLocks noChangeAspect="1"/>
          </p:cNvPicPr>
          <p:nvPr/>
        </p:nvPicPr>
        <p:blipFill>
          <a:blip r:embed="rId1"/>
          <a:stretch>
            <a:fillRect/>
          </a:stretch>
        </p:blipFill>
        <p:spPr>
          <a:xfrm>
            <a:off x="9239098" y="1588770"/>
            <a:ext cx="662940" cy="662940"/>
          </a:xfrm>
          <a:prstGeom prst="rect">
            <a:avLst/>
          </a:prstGeom>
        </p:spPr>
      </p:pic>
      <p:sp>
        <p:nvSpPr>
          <p:cNvPr id="8" name="Text 0"/>
          <p:cNvSpPr/>
          <p:nvPr>
            <p:ph type="pic" idx="100" hasCustomPrompt="1"/>
          </p:nvPr>
        </p:nvSpPr>
        <p:spPr>
          <a:xfrm>
            <a:off x="6949440" y="0"/>
            <a:ext cx="5242255" cy="6858000"/>
          </a:xfrm>
          <a:prstGeom prst="rect">
            <a:avLst/>
          </a:prstGeom>
          <a:noFill/>
          <a:ln/>
        </p:spPr>
        <p:txBody>
          <a:bodyPr wrap="square" lIns="203200" tIns="203200" rIns="203200" bIns="203200" rtlCol="0" anchor="b"/>
          <a:lstStyle/>
          <a:p>
            <a:pPr algn="ctr" indent="0" marL="0">
              <a:buNone/>
            </a:pPr>
            <a:endParaRPr lang="cs-CZ"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6 technologií, které mění soustružení</a:t>
            </a:r>
            <a:endParaRPr lang="cs-CZ" sz="3400" dirty="0"/>
          </a:p>
        </p:txBody>
      </p:sp>
      <p:sp>
        <p:nvSpPr>
          <p:cNvPr id="3" name="dlaždice 1"/>
          <p:cNvSpPr/>
          <p:nvPr/>
        </p:nvSpPr>
        <p:spPr>
          <a:xfrm>
            <a:off x="548640" y="1463040"/>
            <a:ext cx="3259836" cy="1371600"/>
          </a:xfrm>
          <a:prstGeom prst="roundRect">
            <a:avLst>
              <a:gd name="adj" fmla="val 8000"/>
            </a:avLst>
          </a:prstGeom>
          <a:solidFill>
            <a:schemeClr val="bg2"/>
          </a:solidFill>
          <a:ln/>
        </p:spPr>
      </p:sp>
      <p:sp>
        <p:nvSpPr>
          <p:cNvPr id="4" name="ikona 1 – kruh"/>
          <p:cNvSpPr/>
          <p:nvPr/>
        </p:nvSpPr>
        <p:spPr>
          <a:xfrm>
            <a:off x="777240" y="1664208"/>
            <a:ext cx="566928" cy="566928"/>
          </a:xfrm>
          <a:prstGeom prst="ellipse">
            <a:avLst/>
          </a:prstGeom>
          <a:solidFill>
            <a:schemeClr val="accent1"/>
          </a:solidFill>
          <a:ln/>
        </p:spPr>
      </p:sp>
      <p:pic>
        <p:nvPicPr>
          <p:cNvPr id="5" name="ikona 1" descr="ikona 1">    </p:cNvPr>
          <p:cNvPicPr>
            <a:picLocks noChangeAspect="1"/>
          </p:cNvPicPr>
          <p:nvPr/>
        </p:nvPicPr>
        <p:blipFill>
          <a:blip r:embed="rId1"/>
          <a:stretch>
            <a:fillRect/>
          </a:stretch>
        </p:blipFill>
        <p:spPr>
          <a:xfrm>
            <a:off x="901964" y="1788932"/>
            <a:ext cx="317480" cy="317480"/>
          </a:xfrm>
          <a:prstGeom prst="rect">
            <a:avLst/>
          </a:prstGeom>
        </p:spPr>
      </p:pic>
      <p:sp>
        <p:nvSpPr>
          <p:cNvPr id="6" name="dlaždice nadpis 1"/>
          <p:cNvSpPr txBox="1"/>
          <p:nvPr/>
        </p:nvSpPr>
        <p:spPr>
          <a:xfrm>
            <a:off x="1508760" y="1618488"/>
            <a:ext cx="2148840" cy="658368"/>
          </a:xfrm>
          <a:prstGeom prst="rect">
            <a:avLst/>
          </a:prstGeom>
          <a:noFill/>
          <a:ln/>
        </p:spPr>
        <p:txBody>
          <a:bodyPr wrap="square" lIns="0" tIns="0" rIns="0" bIns="0" rtlCol="0" anchor="ctr"/>
          <a:lstStyle/>
          <a:p>
            <a:pPr indent="0" marL="0">
              <a:buNone/>
            </a:pPr>
            <a:r>
              <a:rPr lang="cs-CZ" sz="1600" b="1" dirty="0">
                <a:solidFill>
                  <a:schemeClr val="accent1"/>
                </a:solidFill>
              </a:rPr>
              <a:t>1  </a:t>
            </a:r>
            <a:pPr indent="0" marL="0">
              <a:buNone/>
            </a:pPr>
            <a:r>
              <a:rPr lang="cs-CZ" sz="1600" b="1" dirty="0">
                <a:solidFill>
                  <a:schemeClr val="tx1"/>
                </a:solidFill>
              </a:rPr>
              <a:t>Hybridní stroje</a:t>
            </a:r>
            <a:endParaRPr lang="cs-CZ" sz="1600" dirty="0"/>
          </a:p>
        </p:txBody>
      </p:sp>
      <p:sp>
        <p:nvSpPr>
          <p:cNvPr id="7" name="dlaždice text 1"/>
          <p:cNvSpPr txBox="1"/>
          <p:nvPr/>
        </p:nvSpPr>
        <p:spPr>
          <a:xfrm>
            <a:off x="777240" y="2331720"/>
            <a:ext cx="2880360" cy="384048"/>
          </a:xfrm>
          <a:prstGeom prst="rect">
            <a:avLst/>
          </a:prstGeom>
          <a:noFill/>
          <a:ln/>
        </p:spPr>
        <p:txBody>
          <a:bodyPr wrap="square" lIns="0" tIns="0" rIns="0" bIns="0" rtlCol="0" anchor="t"/>
          <a:lstStyle/>
          <a:p>
            <a:pPr indent="0" marL="0">
              <a:buNone/>
            </a:pPr>
            <a:r>
              <a:rPr lang="cs-CZ" sz="1400" dirty="0">
                <a:solidFill>
                  <a:schemeClr val="tx2"/>
                </a:solidFill>
              </a:rPr>
              <a:t>3D tisk kovu + obrábění</a:t>
            </a:r>
            <a:endParaRPr lang="cs-CZ" sz="1400" dirty="0"/>
          </a:p>
        </p:txBody>
      </p:sp>
      <p:sp>
        <p:nvSpPr>
          <p:cNvPr id="8" name="dlaždice 2"/>
          <p:cNvSpPr/>
          <p:nvPr/>
        </p:nvSpPr>
        <p:spPr>
          <a:xfrm>
            <a:off x="4082796" y="1463040"/>
            <a:ext cx="3259836" cy="1371600"/>
          </a:xfrm>
          <a:prstGeom prst="roundRect">
            <a:avLst>
              <a:gd name="adj" fmla="val 8000"/>
            </a:avLst>
          </a:prstGeom>
          <a:solidFill>
            <a:schemeClr val="bg2"/>
          </a:solidFill>
          <a:ln/>
        </p:spPr>
      </p:sp>
      <p:sp>
        <p:nvSpPr>
          <p:cNvPr id="9" name="ikona 2 – kruh"/>
          <p:cNvSpPr/>
          <p:nvPr/>
        </p:nvSpPr>
        <p:spPr>
          <a:xfrm>
            <a:off x="4311396" y="1664208"/>
            <a:ext cx="566928" cy="566928"/>
          </a:xfrm>
          <a:prstGeom prst="ellipse">
            <a:avLst/>
          </a:prstGeom>
          <a:solidFill>
            <a:schemeClr val="accent1"/>
          </a:solidFill>
          <a:ln/>
        </p:spPr>
      </p:sp>
      <p:pic>
        <p:nvPicPr>
          <p:cNvPr id="10" name="ikona 2" descr="ikona 2">    </p:cNvPr>
          <p:cNvPicPr>
            <a:picLocks noChangeAspect="1"/>
          </p:cNvPicPr>
          <p:nvPr/>
        </p:nvPicPr>
        <p:blipFill>
          <a:blip r:embed="rId2"/>
          <a:stretch>
            <a:fillRect/>
          </a:stretch>
        </p:blipFill>
        <p:spPr>
          <a:xfrm>
            <a:off x="4436120" y="1788932"/>
            <a:ext cx="317480" cy="317480"/>
          </a:xfrm>
          <a:prstGeom prst="rect">
            <a:avLst/>
          </a:prstGeom>
        </p:spPr>
      </p:pic>
      <p:sp>
        <p:nvSpPr>
          <p:cNvPr id="11" name="dlaždice nadpis 2"/>
          <p:cNvSpPr txBox="1"/>
          <p:nvPr/>
        </p:nvSpPr>
        <p:spPr>
          <a:xfrm>
            <a:off x="5042916" y="1618488"/>
            <a:ext cx="2148840" cy="658368"/>
          </a:xfrm>
          <a:prstGeom prst="rect">
            <a:avLst/>
          </a:prstGeom>
          <a:noFill/>
          <a:ln/>
        </p:spPr>
        <p:txBody>
          <a:bodyPr wrap="square" lIns="0" tIns="0" rIns="0" bIns="0" rtlCol="0" anchor="ctr"/>
          <a:lstStyle/>
          <a:p>
            <a:pPr indent="0" marL="0">
              <a:buNone/>
            </a:pPr>
            <a:r>
              <a:rPr lang="cs-CZ" sz="1600" b="1" dirty="0">
                <a:solidFill>
                  <a:schemeClr val="accent1"/>
                </a:solidFill>
              </a:rPr>
              <a:t>2  </a:t>
            </a:r>
            <a:pPr indent="0" marL="0">
              <a:buNone/>
            </a:pPr>
            <a:r>
              <a:rPr lang="cs-CZ" sz="1600" b="1" dirty="0">
                <a:solidFill>
                  <a:schemeClr val="tx1"/>
                </a:solidFill>
              </a:rPr>
              <a:t>Kryogenní obrábění</a:t>
            </a:r>
            <a:endParaRPr lang="cs-CZ" sz="1600" dirty="0"/>
          </a:p>
        </p:txBody>
      </p:sp>
      <p:sp>
        <p:nvSpPr>
          <p:cNvPr id="12" name="dlaždice text 2"/>
          <p:cNvSpPr txBox="1"/>
          <p:nvPr/>
        </p:nvSpPr>
        <p:spPr>
          <a:xfrm>
            <a:off x="4311396" y="2331720"/>
            <a:ext cx="2880360" cy="384048"/>
          </a:xfrm>
          <a:prstGeom prst="rect">
            <a:avLst/>
          </a:prstGeom>
          <a:noFill/>
          <a:ln/>
        </p:spPr>
        <p:txBody>
          <a:bodyPr wrap="square" lIns="0" tIns="0" rIns="0" bIns="0" rtlCol="0" anchor="t"/>
          <a:lstStyle/>
          <a:p>
            <a:pPr indent="0" marL="0">
              <a:buNone/>
            </a:pPr>
            <a:r>
              <a:rPr lang="cs-CZ" sz="1400" dirty="0">
                <a:solidFill>
                  <a:schemeClr val="tx2"/>
                </a:solidFill>
              </a:rPr>
              <a:t>Chlazení tekutým dusíkem</a:t>
            </a:r>
            <a:endParaRPr lang="cs-CZ" sz="1400" dirty="0"/>
          </a:p>
        </p:txBody>
      </p:sp>
      <p:sp>
        <p:nvSpPr>
          <p:cNvPr id="13" name="dlaždice 3"/>
          <p:cNvSpPr/>
          <p:nvPr/>
        </p:nvSpPr>
        <p:spPr>
          <a:xfrm>
            <a:off x="548640" y="3063240"/>
            <a:ext cx="3259836" cy="1371600"/>
          </a:xfrm>
          <a:prstGeom prst="roundRect">
            <a:avLst>
              <a:gd name="adj" fmla="val 8000"/>
            </a:avLst>
          </a:prstGeom>
          <a:solidFill>
            <a:schemeClr val="bg2"/>
          </a:solidFill>
          <a:ln/>
        </p:spPr>
      </p:sp>
      <p:sp>
        <p:nvSpPr>
          <p:cNvPr id="14" name="ikona 3 – kruh"/>
          <p:cNvSpPr/>
          <p:nvPr/>
        </p:nvSpPr>
        <p:spPr>
          <a:xfrm>
            <a:off x="777240" y="3264408"/>
            <a:ext cx="566928" cy="566928"/>
          </a:xfrm>
          <a:prstGeom prst="ellipse">
            <a:avLst/>
          </a:prstGeom>
          <a:solidFill>
            <a:schemeClr val="accent1"/>
          </a:solidFill>
          <a:ln/>
        </p:spPr>
      </p:sp>
      <p:pic>
        <p:nvPicPr>
          <p:cNvPr id="15" name="ikona 3" descr="ikona 3">    </p:cNvPr>
          <p:cNvPicPr>
            <a:picLocks noChangeAspect="1"/>
          </p:cNvPicPr>
          <p:nvPr/>
        </p:nvPicPr>
        <p:blipFill>
          <a:blip r:embed="rId3"/>
          <a:stretch>
            <a:fillRect/>
          </a:stretch>
        </p:blipFill>
        <p:spPr>
          <a:xfrm>
            <a:off x="901964" y="3389132"/>
            <a:ext cx="317480" cy="317480"/>
          </a:xfrm>
          <a:prstGeom prst="rect">
            <a:avLst/>
          </a:prstGeom>
        </p:spPr>
      </p:pic>
      <p:sp>
        <p:nvSpPr>
          <p:cNvPr id="16" name="dlaždice nadpis 3"/>
          <p:cNvSpPr txBox="1"/>
          <p:nvPr/>
        </p:nvSpPr>
        <p:spPr>
          <a:xfrm>
            <a:off x="1508760" y="3218688"/>
            <a:ext cx="2148840" cy="658368"/>
          </a:xfrm>
          <a:prstGeom prst="rect">
            <a:avLst/>
          </a:prstGeom>
          <a:noFill/>
          <a:ln/>
        </p:spPr>
        <p:txBody>
          <a:bodyPr wrap="square" lIns="0" tIns="0" rIns="0" bIns="0" rtlCol="0" anchor="ctr"/>
          <a:lstStyle/>
          <a:p>
            <a:pPr indent="0" marL="0">
              <a:buNone/>
            </a:pPr>
            <a:r>
              <a:rPr lang="cs-CZ" sz="1600" b="1" dirty="0">
                <a:solidFill>
                  <a:schemeClr val="accent1"/>
                </a:solidFill>
              </a:rPr>
              <a:t>3  </a:t>
            </a:r>
            <a:pPr indent="0" marL="0">
              <a:buNone/>
            </a:pPr>
            <a:r>
              <a:rPr lang="cs-CZ" sz="1600" b="1" dirty="0">
                <a:solidFill>
                  <a:schemeClr val="tx1"/>
                </a:solidFill>
              </a:rPr>
              <a:t>Laserový ohřev</a:t>
            </a:r>
            <a:endParaRPr lang="cs-CZ" sz="1600" dirty="0"/>
          </a:p>
        </p:txBody>
      </p:sp>
      <p:sp>
        <p:nvSpPr>
          <p:cNvPr id="17" name="dlaždice text 3"/>
          <p:cNvSpPr txBox="1"/>
          <p:nvPr/>
        </p:nvSpPr>
        <p:spPr>
          <a:xfrm>
            <a:off x="777240" y="3931920"/>
            <a:ext cx="2880360" cy="384048"/>
          </a:xfrm>
          <a:prstGeom prst="rect">
            <a:avLst/>
          </a:prstGeom>
          <a:noFill/>
          <a:ln/>
        </p:spPr>
        <p:txBody>
          <a:bodyPr wrap="square" lIns="0" tIns="0" rIns="0" bIns="0" rtlCol="0" anchor="t"/>
          <a:lstStyle/>
          <a:p>
            <a:pPr indent="0" marL="0">
              <a:buNone/>
            </a:pPr>
            <a:r>
              <a:rPr lang="cs-CZ" sz="1400" dirty="0">
                <a:solidFill>
                  <a:schemeClr val="tx2"/>
                </a:solidFill>
              </a:rPr>
              <a:t>Laser změkčí obrobek</a:t>
            </a:r>
            <a:endParaRPr lang="cs-CZ" sz="1400" dirty="0"/>
          </a:p>
        </p:txBody>
      </p:sp>
      <p:sp>
        <p:nvSpPr>
          <p:cNvPr id="18" name="dlaždice 4"/>
          <p:cNvSpPr/>
          <p:nvPr/>
        </p:nvSpPr>
        <p:spPr>
          <a:xfrm>
            <a:off x="4082796" y="3063240"/>
            <a:ext cx="3259836" cy="1371600"/>
          </a:xfrm>
          <a:prstGeom prst="roundRect">
            <a:avLst>
              <a:gd name="adj" fmla="val 8000"/>
            </a:avLst>
          </a:prstGeom>
          <a:solidFill>
            <a:schemeClr val="bg2"/>
          </a:solidFill>
          <a:ln/>
        </p:spPr>
      </p:sp>
      <p:sp>
        <p:nvSpPr>
          <p:cNvPr id="19" name="ikona 4 – kruh"/>
          <p:cNvSpPr/>
          <p:nvPr/>
        </p:nvSpPr>
        <p:spPr>
          <a:xfrm>
            <a:off x="4311396" y="3264408"/>
            <a:ext cx="566928" cy="566928"/>
          </a:xfrm>
          <a:prstGeom prst="ellipse">
            <a:avLst/>
          </a:prstGeom>
          <a:solidFill>
            <a:schemeClr val="accent1"/>
          </a:solidFill>
          <a:ln/>
        </p:spPr>
      </p:sp>
      <p:pic>
        <p:nvPicPr>
          <p:cNvPr id="20" name="ikona 4" descr="ikona 4">    </p:cNvPr>
          <p:cNvPicPr>
            <a:picLocks noChangeAspect="1"/>
          </p:cNvPicPr>
          <p:nvPr/>
        </p:nvPicPr>
        <p:blipFill>
          <a:blip r:embed="rId4"/>
          <a:stretch>
            <a:fillRect/>
          </a:stretch>
        </p:blipFill>
        <p:spPr>
          <a:xfrm>
            <a:off x="4436120" y="3389132"/>
            <a:ext cx="317480" cy="317480"/>
          </a:xfrm>
          <a:prstGeom prst="rect">
            <a:avLst/>
          </a:prstGeom>
        </p:spPr>
      </p:pic>
      <p:sp>
        <p:nvSpPr>
          <p:cNvPr id="21" name="dlaždice nadpis 4"/>
          <p:cNvSpPr txBox="1"/>
          <p:nvPr/>
        </p:nvSpPr>
        <p:spPr>
          <a:xfrm>
            <a:off x="5042916" y="3218688"/>
            <a:ext cx="2148840" cy="658368"/>
          </a:xfrm>
          <a:prstGeom prst="rect">
            <a:avLst/>
          </a:prstGeom>
          <a:noFill/>
          <a:ln/>
        </p:spPr>
        <p:txBody>
          <a:bodyPr wrap="square" lIns="0" tIns="0" rIns="0" bIns="0" rtlCol="0" anchor="ctr"/>
          <a:lstStyle/>
          <a:p>
            <a:pPr indent="0" marL="0">
              <a:buNone/>
            </a:pPr>
            <a:r>
              <a:rPr lang="cs-CZ" sz="1600" b="1" dirty="0">
                <a:solidFill>
                  <a:schemeClr val="accent1"/>
                </a:solidFill>
              </a:rPr>
              <a:t>4  </a:t>
            </a:r>
            <a:pPr indent="0" marL="0">
              <a:buNone/>
            </a:pPr>
            <a:r>
              <a:rPr lang="cs-CZ" sz="1600" b="1" dirty="0">
                <a:solidFill>
                  <a:schemeClr val="tx1"/>
                </a:solidFill>
              </a:rPr>
              <a:t>Chytré nástroje a AI</a:t>
            </a:r>
            <a:endParaRPr lang="cs-CZ" sz="1600" dirty="0"/>
          </a:p>
        </p:txBody>
      </p:sp>
      <p:sp>
        <p:nvSpPr>
          <p:cNvPr id="22" name="dlaždice text 4"/>
          <p:cNvSpPr txBox="1"/>
          <p:nvPr/>
        </p:nvSpPr>
        <p:spPr>
          <a:xfrm>
            <a:off x="4311396" y="3931920"/>
            <a:ext cx="2880360" cy="384048"/>
          </a:xfrm>
          <a:prstGeom prst="rect">
            <a:avLst/>
          </a:prstGeom>
          <a:noFill/>
          <a:ln/>
        </p:spPr>
        <p:txBody>
          <a:bodyPr wrap="square" lIns="0" tIns="0" rIns="0" bIns="0" rtlCol="0" anchor="t"/>
          <a:lstStyle/>
          <a:p>
            <a:pPr indent="0" marL="0">
              <a:buNone/>
            </a:pPr>
            <a:r>
              <a:rPr lang="cs-CZ" sz="1400" dirty="0">
                <a:solidFill>
                  <a:schemeClr val="tx2"/>
                </a:solidFill>
              </a:rPr>
              <a:t>Senzory, AI, digitální dvojče</a:t>
            </a:r>
            <a:endParaRPr lang="cs-CZ" sz="1400" dirty="0"/>
          </a:p>
        </p:txBody>
      </p:sp>
      <p:sp>
        <p:nvSpPr>
          <p:cNvPr id="23" name="dlaždice 5"/>
          <p:cNvSpPr/>
          <p:nvPr/>
        </p:nvSpPr>
        <p:spPr>
          <a:xfrm>
            <a:off x="548640" y="4663440"/>
            <a:ext cx="3259836" cy="1371600"/>
          </a:xfrm>
          <a:prstGeom prst="roundRect">
            <a:avLst>
              <a:gd name="adj" fmla="val 8000"/>
            </a:avLst>
          </a:prstGeom>
          <a:solidFill>
            <a:schemeClr val="bg2"/>
          </a:solidFill>
          <a:ln/>
        </p:spPr>
      </p:sp>
      <p:sp>
        <p:nvSpPr>
          <p:cNvPr id="24" name="ikona 5 – kruh"/>
          <p:cNvSpPr/>
          <p:nvPr/>
        </p:nvSpPr>
        <p:spPr>
          <a:xfrm>
            <a:off x="777240" y="4864608"/>
            <a:ext cx="566928" cy="566928"/>
          </a:xfrm>
          <a:prstGeom prst="ellipse">
            <a:avLst/>
          </a:prstGeom>
          <a:solidFill>
            <a:schemeClr val="accent1"/>
          </a:solidFill>
          <a:ln/>
        </p:spPr>
      </p:sp>
      <p:pic>
        <p:nvPicPr>
          <p:cNvPr id="25" name="ikona 5" descr="ikona 5">    </p:cNvPr>
          <p:cNvPicPr>
            <a:picLocks noChangeAspect="1"/>
          </p:cNvPicPr>
          <p:nvPr/>
        </p:nvPicPr>
        <p:blipFill>
          <a:blip r:embed="rId5"/>
          <a:stretch>
            <a:fillRect/>
          </a:stretch>
        </p:blipFill>
        <p:spPr>
          <a:xfrm>
            <a:off x="901964" y="4989332"/>
            <a:ext cx="317480" cy="317480"/>
          </a:xfrm>
          <a:prstGeom prst="rect">
            <a:avLst/>
          </a:prstGeom>
        </p:spPr>
      </p:pic>
      <p:sp>
        <p:nvSpPr>
          <p:cNvPr id="26" name="dlaždice nadpis 5"/>
          <p:cNvSpPr txBox="1"/>
          <p:nvPr/>
        </p:nvSpPr>
        <p:spPr>
          <a:xfrm>
            <a:off x="1508760" y="4818888"/>
            <a:ext cx="2148840" cy="658368"/>
          </a:xfrm>
          <a:prstGeom prst="rect">
            <a:avLst/>
          </a:prstGeom>
          <a:noFill/>
          <a:ln/>
        </p:spPr>
        <p:txBody>
          <a:bodyPr wrap="square" lIns="0" tIns="0" rIns="0" bIns="0" rtlCol="0" anchor="ctr"/>
          <a:lstStyle/>
          <a:p>
            <a:pPr indent="0" marL="0">
              <a:buNone/>
            </a:pPr>
            <a:r>
              <a:rPr lang="cs-CZ" sz="1600" b="1" dirty="0">
                <a:solidFill>
                  <a:schemeClr val="accent1"/>
                </a:solidFill>
              </a:rPr>
              <a:t>5  </a:t>
            </a:r>
            <a:pPr indent="0" marL="0">
              <a:buNone/>
            </a:pPr>
            <a:r>
              <a:rPr lang="cs-CZ" sz="1600" b="1" dirty="0">
                <a:solidFill>
                  <a:schemeClr val="tx1"/>
                </a:solidFill>
              </a:rPr>
              <a:t>Ultrazvuk</a:t>
            </a:r>
            <a:endParaRPr lang="cs-CZ" sz="1600" dirty="0"/>
          </a:p>
        </p:txBody>
      </p:sp>
      <p:sp>
        <p:nvSpPr>
          <p:cNvPr id="27" name="dlaždice text 5"/>
          <p:cNvSpPr txBox="1"/>
          <p:nvPr/>
        </p:nvSpPr>
        <p:spPr>
          <a:xfrm>
            <a:off x="777240" y="5532120"/>
            <a:ext cx="2880360" cy="384048"/>
          </a:xfrm>
          <a:prstGeom prst="rect">
            <a:avLst/>
          </a:prstGeom>
          <a:noFill/>
          <a:ln/>
        </p:spPr>
        <p:txBody>
          <a:bodyPr wrap="square" lIns="0" tIns="0" rIns="0" bIns="0" rtlCol="0" anchor="t"/>
          <a:lstStyle/>
          <a:p>
            <a:pPr indent="0" marL="0">
              <a:buNone/>
            </a:pPr>
            <a:r>
              <a:rPr lang="cs-CZ" sz="1400" dirty="0">
                <a:solidFill>
                  <a:schemeClr val="tx2"/>
                </a:solidFill>
              </a:rPr>
              <a:t>Kmitající nůž zvládne i keramiku</a:t>
            </a:r>
            <a:endParaRPr lang="cs-CZ" sz="1400" dirty="0"/>
          </a:p>
        </p:txBody>
      </p:sp>
      <p:sp>
        <p:nvSpPr>
          <p:cNvPr id="28" name="dlaždice 6"/>
          <p:cNvSpPr/>
          <p:nvPr/>
        </p:nvSpPr>
        <p:spPr>
          <a:xfrm>
            <a:off x="4082796" y="4663440"/>
            <a:ext cx="3259836" cy="1371600"/>
          </a:xfrm>
          <a:prstGeom prst="roundRect">
            <a:avLst>
              <a:gd name="adj" fmla="val 8000"/>
            </a:avLst>
          </a:prstGeom>
          <a:solidFill>
            <a:schemeClr val="bg2"/>
          </a:solidFill>
          <a:ln/>
        </p:spPr>
      </p:sp>
      <p:sp>
        <p:nvSpPr>
          <p:cNvPr id="29" name="ikona 6 – kruh"/>
          <p:cNvSpPr/>
          <p:nvPr/>
        </p:nvSpPr>
        <p:spPr>
          <a:xfrm>
            <a:off x="4311396" y="4864608"/>
            <a:ext cx="566928" cy="566928"/>
          </a:xfrm>
          <a:prstGeom prst="ellipse">
            <a:avLst/>
          </a:prstGeom>
          <a:solidFill>
            <a:schemeClr val="accent1"/>
          </a:solidFill>
          <a:ln/>
        </p:spPr>
      </p:sp>
      <p:pic>
        <p:nvPicPr>
          <p:cNvPr id="30" name="ikona 6" descr="ikona 6">    </p:cNvPr>
          <p:cNvPicPr>
            <a:picLocks noChangeAspect="1"/>
          </p:cNvPicPr>
          <p:nvPr/>
        </p:nvPicPr>
        <p:blipFill>
          <a:blip r:embed="rId6"/>
          <a:stretch>
            <a:fillRect/>
          </a:stretch>
        </p:blipFill>
        <p:spPr>
          <a:xfrm>
            <a:off x="4436120" y="4989332"/>
            <a:ext cx="317480" cy="317480"/>
          </a:xfrm>
          <a:prstGeom prst="rect">
            <a:avLst/>
          </a:prstGeom>
        </p:spPr>
      </p:pic>
      <p:sp>
        <p:nvSpPr>
          <p:cNvPr id="31" name="dlaždice nadpis 6"/>
          <p:cNvSpPr txBox="1"/>
          <p:nvPr/>
        </p:nvSpPr>
        <p:spPr>
          <a:xfrm>
            <a:off x="5042916" y="4818888"/>
            <a:ext cx="2148840" cy="658368"/>
          </a:xfrm>
          <a:prstGeom prst="rect">
            <a:avLst/>
          </a:prstGeom>
          <a:noFill/>
          <a:ln/>
        </p:spPr>
        <p:txBody>
          <a:bodyPr wrap="square" lIns="0" tIns="0" rIns="0" bIns="0" rtlCol="0" anchor="ctr"/>
          <a:lstStyle/>
          <a:p>
            <a:pPr indent="0" marL="0">
              <a:buNone/>
            </a:pPr>
            <a:r>
              <a:rPr lang="cs-CZ" sz="1600" b="1" dirty="0">
                <a:solidFill>
                  <a:schemeClr val="accent1"/>
                </a:solidFill>
              </a:rPr>
              <a:t>6  </a:t>
            </a:r>
            <a:pPr indent="0" marL="0">
              <a:buNone/>
            </a:pPr>
            <a:r>
              <a:rPr lang="cs-CZ" sz="1600" b="1" dirty="0">
                <a:solidFill>
                  <a:schemeClr val="tx1"/>
                </a:solidFill>
              </a:rPr>
              <a:t>Diamantové soustružení</a:t>
            </a:r>
            <a:endParaRPr lang="cs-CZ" sz="1600" dirty="0"/>
          </a:p>
        </p:txBody>
      </p:sp>
      <p:sp>
        <p:nvSpPr>
          <p:cNvPr id="32" name="dlaždice text 6"/>
          <p:cNvSpPr txBox="1"/>
          <p:nvPr/>
        </p:nvSpPr>
        <p:spPr>
          <a:xfrm>
            <a:off x="4311396" y="5532120"/>
            <a:ext cx="2880360" cy="384048"/>
          </a:xfrm>
          <a:prstGeom prst="rect">
            <a:avLst/>
          </a:prstGeom>
          <a:noFill/>
          <a:ln/>
        </p:spPr>
        <p:txBody>
          <a:bodyPr wrap="square" lIns="0" tIns="0" rIns="0" bIns="0" rtlCol="0" anchor="t"/>
          <a:lstStyle/>
          <a:p>
            <a:pPr indent="0" marL="0">
              <a:buNone/>
            </a:pPr>
            <a:r>
              <a:rPr lang="cs-CZ" sz="1400" dirty="0">
                <a:solidFill>
                  <a:schemeClr val="tx2"/>
                </a:solidFill>
              </a:rPr>
              <a:t>Přesnost na nanometry</a:t>
            </a:r>
            <a:endParaRPr lang="cs-CZ" sz="1400" dirty="0"/>
          </a:p>
        </p:txBody>
      </p:sp>
      <p:sp>
        <p:nvSpPr>
          <p:cNvPr id="33" name="Místo na obrázek – pozadí"/>
          <p:cNvSpPr/>
          <p:nvPr/>
        </p:nvSpPr>
        <p:spPr>
          <a:xfrm>
            <a:off x="7708392" y="1463040"/>
            <a:ext cx="3931920" cy="4206240"/>
          </a:xfrm>
          <a:prstGeom prst="rect">
            <a:avLst/>
          </a:prstGeom>
          <a:solidFill>
            <a:schemeClr val="bg2"/>
          </a:solidFill>
          <a:ln/>
        </p:spPr>
      </p:sp>
      <p:sp>
        <p:nvSpPr>
          <p:cNvPr id="34" name="Místo na obrázek – kruh"/>
          <p:cNvSpPr/>
          <p:nvPr/>
        </p:nvSpPr>
        <p:spPr>
          <a:xfrm>
            <a:off x="9102852" y="2069287"/>
            <a:ext cx="1143000" cy="1143000"/>
          </a:xfrm>
          <a:prstGeom prst="ellipse">
            <a:avLst/>
          </a:prstGeom>
          <a:solidFill>
            <a:schemeClr val="bg1"/>
          </a:solidFill>
          <a:ln/>
        </p:spPr>
      </p:sp>
      <p:pic>
        <p:nvPicPr>
          <p:cNvPr id="35" name="Místo na obrázek – ikona" descr="ilustrační ikona">    </p:cNvPr>
          <p:cNvPicPr>
            <a:picLocks noChangeAspect="1"/>
          </p:cNvPicPr>
          <p:nvPr/>
        </p:nvPicPr>
        <p:blipFill>
          <a:blip r:embed="rId7"/>
          <a:stretch>
            <a:fillRect/>
          </a:stretch>
        </p:blipFill>
        <p:spPr>
          <a:xfrm>
            <a:off x="9342882" y="2309317"/>
            <a:ext cx="662940" cy="662940"/>
          </a:xfrm>
          <a:prstGeom prst="rect">
            <a:avLst/>
          </a:prstGeom>
        </p:spPr>
      </p:pic>
      <p:sp>
        <p:nvSpPr>
          <p:cNvPr id="36" name="Text 0"/>
          <p:cNvSpPr/>
          <p:nvPr>
            <p:ph type="pic" idx="100" hasCustomPrompt="1"/>
          </p:nvPr>
        </p:nvSpPr>
        <p:spPr>
          <a:xfrm>
            <a:off x="7708392" y="1463040"/>
            <a:ext cx="3931920" cy="4206240"/>
          </a:xfrm>
          <a:prstGeom prst="rect">
            <a:avLst/>
          </a:prstGeom>
          <a:noFill/>
          <a:ln/>
        </p:spPr>
        <p:txBody>
          <a:bodyPr wrap="square" lIns="152400" tIns="152400" rIns="152400" bIns="152400" rtlCol="0" anchor="b"/>
          <a:lstStyle/>
          <a:p>
            <a:pPr algn="ctr" indent="0" marL="0">
              <a:buNone/>
            </a:pPr>
            <a:endParaRPr lang="cs-CZ" sz="1400" dirty="0"/>
          </a:p>
        </p:txBody>
      </p:sp>
      <p:sp>
        <p:nvSpPr>
          <p:cNvPr id="37" name="Text 0"/>
          <p:cNvSpPr/>
          <p:nvPr>
            <p:ph idx="101" type="body" hasCustomPrompt="1"/>
          </p:nvPr>
        </p:nvSpPr>
        <p:spPr>
          <a:xfrm>
            <a:off x="7708392" y="5742432"/>
            <a:ext cx="3931920" cy="256032"/>
          </a:xfrm>
          <a:prstGeom prst="rect">
            <a:avLst/>
          </a:prstGeom>
          <a:noFill/>
          <a:ln/>
        </p:spPr>
        <p:txBody>
          <a:bodyPr wrap="square" lIns="0" tIns="0" rIns="0" bIns="0" rtlCol="0" anchor="t"/>
          <a:lstStyle/>
          <a:p>
            <a:pPr indent="0" marL="0">
              <a:buNone/>
            </a:pPr>
            <a:endParaRPr lang="cs-CZ"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2</a:t>
            </a:fld>
            <a:endParaRPr lang="cs-CZ"/>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1 · Hybridní stroje: 3D tisk + obrábění</a:t>
            </a:r>
            <a:endParaRPr lang="cs-CZ" sz="3400" dirty="0"/>
          </a:p>
        </p:txBody>
      </p:sp>
      <p:sp>
        <p:nvSpPr>
          <p:cNvPr id="3" name="krok 1"/>
          <p:cNvSpPr/>
          <p:nvPr/>
        </p:nvSpPr>
        <p:spPr>
          <a:xfrm>
            <a:off x="548640" y="1463040"/>
            <a:ext cx="2069287" cy="1965960"/>
          </a:xfrm>
          <a:prstGeom prst="roundRect">
            <a:avLst>
              <a:gd name="adj" fmla="val 5581"/>
            </a:avLst>
          </a:prstGeom>
          <a:solidFill>
            <a:schemeClr val="bg2"/>
          </a:solidFill>
          <a:ln/>
        </p:spPr>
      </p:sp>
      <p:sp>
        <p:nvSpPr>
          <p:cNvPr id="4" name="krok ikona 1 – kruh"/>
          <p:cNvSpPr/>
          <p:nvPr/>
        </p:nvSpPr>
        <p:spPr>
          <a:xfrm>
            <a:off x="731520" y="1645920"/>
            <a:ext cx="566928" cy="566928"/>
          </a:xfrm>
          <a:prstGeom prst="ellipse">
            <a:avLst/>
          </a:prstGeom>
          <a:solidFill>
            <a:schemeClr val="accent1"/>
          </a:solidFill>
          <a:ln/>
        </p:spPr>
      </p:sp>
      <p:pic>
        <p:nvPicPr>
          <p:cNvPr id="5" name="krok ikona 1" descr="krok ikona 1">    </p:cNvPr>
          <p:cNvPicPr>
            <a:picLocks noChangeAspect="1"/>
          </p:cNvPicPr>
          <p:nvPr/>
        </p:nvPicPr>
        <p:blipFill>
          <a:blip r:embed="rId1"/>
          <a:stretch>
            <a:fillRect/>
          </a:stretch>
        </p:blipFill>
        <p:spPr>
          <a:xfrm>
            <a:off x="856244" y="1770644"/>
            <a:ext cx="317480" cy="317480"/>
          </a:xfrm>
          <a:prstGeom prst="rect">
            <a:avLst/>
          </a:prstGeom>
        </p:spPr>
      </p:pic>
      <p:sp>
        <p:nvSpPr>
          <p:cNvPr id="6" name="krok nadpis 1"/>
          <p:cNvSpPr txBox="1"/>
          <p:nvPr/>
        </p:nvSpPr>
        <p:spPr>
          <a:xfrm>
            <a:off x="731520" y="2304288"/>
            <a:ext cx="1703527" cy="365760"/>
          </a:xfrm>
          <a:prstGeom prst="rect">
            <a:avLst/>
          </a:prstGeom>
          <a:noFill/>
          <a:ln/>
        </p:spPr>
        <p:txBody>
          <a:bodyPr wrap="square" lIns="0" tIns="0" rIns="0" bIns="0" rtlCol="0" anchor="t"/>
          <a:lstStyle/>
          <a:p>
            <a:pPr indent="0" marL="0">
              <a:buNone/>
            </a:pPr>
            <a:r>
              <a:rPr lang="cs-CZ" sz="1700" b="1" dirty="0">
                <a:solidFill>
                  <a:schemeClr val="tx1"/>
                </a:solidFill>
              </a:rPr>
              <a:t>Natisknout</a:t>
            </a:r>
            <a:endParaRPr lang="cs-CZ" sz="1700" dirty="0"/>
          </a:p>
        </p:txBody>
      </p:sp>
      <p:sp>
        <p:nvSpPr>
          <p:cNvPr id="7" name="krok text 1"/>
          <p:cNvSpPr txBox="1"/>
          <p:nvPr/>
        </p:nvSpPr>
        <p:spPr>
          <a:xfrm>
            <a:off x="731520" y="2697480"/>
            <a:ext cx="1749247" cy="685800"/>
          </a:xfrm>
          <a:prstGeom prst="rect">
            <a:avLst/>
          </a:prstGeom>
          <a:noFill/>
          <a:ln/>
        </p:spPr>
        <p:txBody>
          <a:bodyPr wrap="square" lIns="0" tIns="0" rIns="0" bIns="0" rtlCol="0" anchor="t"/>
          <a:lstStyle/>
          <a:p>
            <a:pPr indent="0" marL="0">
              <a:buNone/>
            </a:pPr>
            <a:r>
              <a:rPr lang="cs-CZ" sz="1400" dirty="0">
                <a:solidFill>
                  <a:schemeClr val="tx2"/>
                </a:solidFill>
              </a:rPr>
              <a:t>Laser taví prášek a staví hrubý tvar</a:t>
            </a:r>
            <a:endParaRPr lang="cs-CZ" sz="1400" dirty="0"/>
          </a:p>
        </p:txBody>
      </p:sp>
      <p:pic>
        <p:nvPicPr>
          <p:cNvPr id="8" name="šipka 1" descr="šipka">    </p:cNvPr>
          <p:cNvPicPr>
            <a:picLocks noChangeAspect="1"/>
          </p:cNvPicPr>
          <p:nvPr/>
        </p:nvPicPr>
        <p:blipFill>
          <a:blip r:embed="rId2"/>
          <a:stretch>
            <a:fillRect/>
          </a:stretch>
        </p:blipFill>
        <p:spPr>
          <a:xfrm>
            <a:off x="2645359" y="2331720"/>
            <a:ext cx="237744" cy="237744"/>
          </a:xfrm>
          <a:prstGeom prst="rect">
            <a:avLst/>
          </a:prstGeom>
        </p:spPr>
      </p:pic>
      <p:sp>
        <p:nvSpPr>
          <p:cNvPr id="9" name="krok 2"/>
          <p:cNvSpPr/>
          <p:nvPr/>
        </p:nvSpPr>
        <p:spPr>
          <a:xfrm>
            <a:off x="2910535" y="1463040"/>
            <a:ext cx="2069287" cy="1965960"/>
          </a:xfrm>
          <a:prstGeom prst="roundRect">
            <a:avLst>
              <a:gd name="adj" fmla="val 5581"/>
            </a:avLst>
          </a:prstGeom>
          <a:solidFill>
            <a:schemeClr val="bg2"/>
          </a:solidFill>
          <a:ln/>
        </p:spPr>
      </p:sp>
      <p:sp>
        <p:nvSpPr>
          <p:cNvPr id="10" name="krok ikona 2 – kruh"/>
          <p:cNvSpPr/>
          <p:nvPr/>
        </p:nvSpPr>
        <p:spPr>
          <a:xfrm>
            <a:off x="3093415" y="1645920"/>
            <a:ext cx="566928" cy="566928"/>
          </a:xfrm>
          <a:prstGeom prst="ellipse">
            <a:avLst/>
          </a:prstGeom>
          <a:solidFill>
            <a:schemeClr val="accent1"/>
          </a:solidFill>
          <a:ln/>
        </p:spPr>
      </p:sp>
      <p:pic>
        <p:nvPicPr>
          <p:cNvPr id="11" name="krok ikona 2" descr="krok ikona 2">    </p:cNvPr>
          <p:cNvPicPr>
            <a:picLocks noChangeAspect="1"/>
          </p:cNvPicPr>
          <p:nvPr/>
        </p:nvPicPr>
        <p:blipFill>
          <a:blip r:embed="rId3"/>
          <a:stretch>
            <a:fillRect/>
          </a:stretch>
        </p:blipFill>
        <p:spPr>
          <a:xfrm>
            <a:off x="3218139" y="1770644"/>
            <a:ext cx="317480" cy="317480"/>
          </a:xfrm>
          <a:prstGeom prst="rect">
            <a:avLst/>
          </a:prstGeom>
        </p:spPr>
      </p:pic>
      <p:sp>
        <p:nvSpPr>
          <p:cNvPr id="12" name="krok nadpis 2"/>
          <p:cNvSpPr txBox="1"/>
          <p:nvPr/>
        </p:nvSpPr>
        <p:spPr>
          <a:xfrm>
            <a:off x="3093415" y="2304288"/>
            <a:ext cx="1703527" cy="365760"/>
          </a:xfrm>
          <a:prstGeom prst="rect">
            <a:avLst/>
          </a:prstGeom>
          <a:noFill/>
          <a:ln/>
        </p:spPr>
        <p:txBody>
          <a:bodyPr wrap="square" lIns="0" tIns="0" rIns="0" bIns="0" rtlCol="0" anchor="t"/>
          <a:lstStyle/>
          <a:p>
            <a:pPr indent="0" marL="0">
              <a:buNone/>
            </a:pPr>
            <a:r>
              <a:rPr lang="cs-CZ" sz="1700" b="1" dirty="0">
                <a:solidFill>
                  <a:schemeClr val="tx1"/>
                </a:solidFill>
              </a:rPr>
              <a:t>Obrobit</a:t>
            </a:r>
            <a:endParaRPr lang="cs-CZ" sz="1700" dirty="0"/>
          </a:p>
        </p:txBody>
      </p:sp>
      <p:sp>
        <p:nvSpPr>
          <p:cNvPr id="13" name="krok text 2"/>
          <p:cNvSpPr txBox="1"/>
          <p:nvPr/>
        </p:nvSpPr>
        <p:spPr>
          <a:xfrm>
            <a:off x="3093415" y="2697480"/>
            <a:ext cx="1749247" cy="685800"/>
          </a:xfrm>
          <a:prstGeom prst="rect">
            <a:avLst/>
          </a:prstGeom>
          <a:noFill/>
          <a:ln/>
        </p:spPr>
        <p:txBody>
          <a:bodyPr wrap="square" lIns="0" tIns="0" rIns="0" bIns="0" rtlCol="0" anchor="t"/>
          <a:lstStyle/>
          <a:p>
            <a:pPr indent="0" marL="0">
              <a:buNone/>
            </a:pPr>
            <a:r>
              <a:rPr lang="cs-CZ" sz="1400" dirty="0">
                <a:solidFill>
                  <a:schemeClr val="tx2"/>
                </a:solidFill>
              </a:rPr>
              <a:t>Soustruží a frézuje na přesný rozměr</a:t>
            </a:r>
            <a:endParaRPr lang="cs-CZ" sz="1400" dirty="0"/>
          </a:p>
        </p:txBody>
      </p:sp>
      <p:pic>
        <p:nvPicPr>
          <p:cNvPr id="14" name="šipka 2" descr="šipka">    </p:cNvPr>
          <p:cNvPicPr>
            <a:picLocks noChangeAspect="1"/>
          </p:cNvPicPr>
          <p:nvPr/>
        </p:nvPicPr>
        <p:blipFill>
          <a:blip r:embed="rId4"/>
          <a:stretch>
            <a:fillRect/>
          </a:stretch>
        </p:blipFill>
        <p:spPr>
          <a:xfrm>
            <a:off x="5007254" y="2331720"/>
            <a:ext cx="237744" cy="237744"/>
          </a:xfrm>
          <a:prstGeom prst="rect">
            <a:avLst/>
          </a:prstGeom>
        </p:spPr>
      </p:pic>
      <p:sp>
        <p:nvSpPr>
          <p:cNvPr id="15" name="krok 3"/>
          <p:cNvSpPr/>
          <p:nvPr/>
        </p:nvSpPr>
        <p:spPr>
          <a:xfrm>
            <a:off x="5272430" y="1463040"/>
            <a:ext cx="2069287" cy="1965960"/>
          </a:xfrm>
          <a:prstGeom prst="roundRect">
            <a:avLst>
              <a:gd name="adj" fmla="val 5581"/>
            </a:avLst>
          </a:prstGeom>
          <a:solidFill>
            <a:schemeClr val="bg2"/>
          </a:solidFill>
          <a:ln/>
        </p:spPr>
      </p:sp>
      <p:sp>
        <p:nvSpPr>
          <p:cNvPr id="16" name="krok ikona 3 – kruh"/>
          <p:cNvSpPr/>
          <p:nvPr/>
        </p:nvSpPr>
        <p:spPr>
          <a:xfrm>
            <a:off x="5455310" y="1645920"/>
            <a:ext cx="566928" cy="566928"/>
          </a:xfrm>
          <a:prstGeom prst="ellipse">
            <a:avLst/>
          </a:prstGeom>
          <a:solidFill>
            <a:schemeClr val="accent1"/>
          </a:solidFill>
          <a:ln/>
        </p:spPr>
      </p:sp>
      <p:pic>
        <p:nvPicPr>
          <p:cNvPr id="17" name="krok ikona 3" descr="krok ikona 3">    </p:cNvPr>
          <p:cNvPicPr>
            <a:picLocks noChangeAspect="1"/>
          </p:cNvPicPr>
          <p:nvPr/>
        </p:nvPicPr>
        <p:blipFill>
          <a:blip r:embed="rId5"/>
          <a:stretch>
            <a:fillRect/>
          </a:stretch>
        </p:blipFill>
        <p:spPr>
          <a:xfrm>
            <a:off x="5580035" y="1770644"/>
            <a:ext cx="317480" cy="317480"/>
          </a:xfrm>
          <a:prstGeom prst="rect">
            <a:avLst/>
          </a:prstGeom>
        </p:spPr>
      </p:pic>
      <p:sp>
        <p:nvSpPr>
          <p:cNvPr id="18" name="krok nadpis 3"/>
          <p:cNvSpPr txBox="1"/>
          <p:nvPr/>
        </p:nvSpPr>
        <p:spPr>
          <a:xfrm>
            <a:off x="5455310" y="2304288"/>
            <a:ext cx="1703527" cy="365760"/>
          </a:xfrm>
          <a:prstGeom prst="rect">
            <a:avLst/>
          </a:prstGeom>
          <a:noFill/>
          <a:ln/>
        </p:spPr>
        <p:txBody>
          <a:bodyPr wrap="square" lIns="0" tIns="0" rIns="0" bIns="0" rtlCol="0" anchor="t"/>
          <a:lstStyle/>
          <a:p>
            <a:pPr indent="0" marL="0">
              <a:buNone/>
            </a:pPr>
            <a:r>
              <a:rPr lang="cs-CZ" sz="1700" b="1" dirty="0">
                <a:solidFill>
                  <a:schemeClr val="tx1"/>
                </a:solidFill>
              </a:rPr>
              <a:t>Hotovo</a:t>
            </a:r>
            <a:endParaRPr lang="cs-CZ" sz="1700" dirty="0"/>
          </a:p>
        </p:txBody>
      </p:sp>
      <p:sp>
        <p:nvSpPr>
          <p:cNvPr id="19" name="krok text 3"/>
          <p:cNvSpPr txBox="1"/>
          <p:nvPr/>
        </p:nvSpPr>
        <p:spPr>
          <a:xfrm>
            <a:off x="5455310" y="2697480"/>
            <a:ext cx="1749247" cy="685800"/>
          </a:xfrm>
          <a:prstGeom prst="rect">
            <a:avLst/>
          </a:prstGeom>
          <a:noFill/>
          <a:ln/>
        </p:spPr>
        <p:txBody>
          <a:bodyPr wrap="square" lIns="0" tIns="0" rIns="0" bIns="0" rtlCol="0" anchor="t"/>
          <a:lstStyle/>
          <a:p>
            <a:pPr indent="0" marL="0">
              <a:buNone/>
            </a:pPr>
            <a:r>
              <a:rPr lang="cs-CZ" sz="1400" dirty="0">
                <a:solidFill>
                  <a:schemeClr val="tx2"/>
                </a:solidFill>
              </a:rPr>
              <a:t>Jedno upnutí, bez přenášení</a:t>
            </a:r>
            <a:endParaRPr lang="cs-CZ" sz="1400" dirty="0"/>
          </a:p>
        </p:txBody>
      </p:sp>
      <p:sp>
        <p:nvSpPr>
          <p:cNvPr id="20" name="výhody nadpis"/>
          <p:cNvSpPr txBox="1"/>
          <p:nvPr/>
        </p:nvSpPr>
        <p:spPr>
          <a:xfrm>
            <a:off x="548640" y="3657600"/>
            <a:ext cx="6793992" cy="384048"/>
          </a:xfrm>
          <a:prstGeom prst="rect">
            <a:avLst/>
          </a:prstGeom>
          <a:noFill/>
          <a:ln/>
        </p:spPr>
        <p:txBody>
          <a:bodyPr wrap="square" lIns="0" tIns="0" rIns="0" bIns="0" rtlCol="0" anchor="t"/>
          <a:lstStyle/>
          <a:p>
            <a:pPr indent="0" marL="0">
              <a:buNone/>
            </a:pPr>
            <a:r>
              <a:rPr lang="cs-CZ" sz="1800" b="1" dirty="0">
                <a:solidFill>
                  <a:schemeClr val="tx1"/>
                </a:solidFill>
              </a:rPr>
              <a:t>Proč je to užitečné</a:t>
            </a:r>
            <a:endParaRPr lang="cs-CZ" sz="1800" dirty="0"/>
          </a:p>
        </p:txBody>
      </p:sp>
      <p:sp>
        <p:nvSpPr>
          <p:cNvPr id="21" name="výhody seznam"/>
          <p:cNvSpPr txBox="1"/>
          <p:nvPr/>
        </p:nvSpPr>
        <p:spPr>
          <a:xfrm>
            <a:off x="548640" y="4087368"/>
            <a:ext cx="6793992" cy="1143000"/>
          </a:xfrm>
          <a:prstGeom prst="rect">
            <a:avLst/>
          </a:prstGeom>
          <a:noFill/>
          <a:ln/>
        </p:spPr>
        <p:txBody>
          <a:bodyPr wrap="square" lIns="0" tIns="0" rIns="0" bIns="0" rtlCol="0" anchor="t"/>
          <a:lstStyle/>
          <a:p>
            <a:pPr marL="228600" indent="-228600">
              <a:spcAft>
                <a:spcPts val="600"/>
              </a:spcAft>
              <a:buSzPct val="100000"/>
              <a:buChar char="•"/>
            </a:pPr>
            <a:r>
              <a:rPr lang="cs-CZ" sz="1500" dirty="0">
                <a:solidFill>
                  <a:schemeClr val="tx2"/>
                </a:solidFill>
              </a:rPr>
              <a:t>Vyšší přesnost: díl se mezi kroky nepřepíná</a:t>
            </a:r>
            <a:endParaRPr lang="cs-CZ" sz="1500" dirty="0"/>
          </a:p>
          <a:p>
            <a:pPr marL="228600" indent="-228600">
              <a:spcAft>
                <a:spcPts val="600"/>
              </a:spcAft>
              <a:buSzPct val="100000"/>
              <a:buChar char="•"/>
            </a:pPr>
            <a:r>
              <a:rPr lang="cs-CZ" sz="1500" dirty="0">
                <a:solidFill>
                  <a:schemeClr val="tx2"/>
                </a:solidFill>
              </a:rPr>
              <a:t>Méně odpadu: kov se přidává jen tam, kde je potřeba</a:t>
            </a:r>
            <a:endParaRPr lang="cs-CZ" sz="1500" dirty="0"/>
          </a:p>
          <a:p>
            <a:pPr marL="228600" indent="-228600">
              <a:spcAft>
                <a:spcPts val="600"/>
              </a:spcAft>
              <a:buSzPct val="100000"/>
              <a:buChar char="•"/>
            </a:pPr>
            <a:r>
              <a:rPr lang="cs-CZ" sz="1500" dirty="0">
                <a:solidFill>
                  <a:schemeClr val="tx2"/>
                </a:solidFill>
              </a:rPr>
              <a:t>Opravy drahých dílů, např. lopatek turbín</a:t>
            </a:r>
            <a:endParaRPr lang="cs-CZ" sz="1500" dirty="0"/>
          </a:p>
        </p:txBody>
      </p:sp>
      <p:sp>
        <p:nvSpPr>
          <p:cNvPr id="22" name="příklady karta"/>
          <p:cNvSpPr/>
          <p:nvPr/>
        </p:nvSpPr>
        <p:spPr>
          <a:xfrm>
            <a:off x="548640" y="5349240"/>
            <a:ext cx="6793992" cy="685800"/>
          </a:xfrm>
          <a:prstGeom prst="roundRect">
            <a:avLst>
              <a:gd name="adj" fmla="val 16000"/>
            </a:avLst>
          </a:prstGeom>
          <a:solidFill>
            <a:schemeClr val="bg2"/>
          </a:solidFill>
          <a:ln/>
        </p:spPr>
      </p:sp>
      <p:sp>
        <p:nvSpPr>
          <p:cNvPr id="23" name="příklady"/>
          <p:cNvSpPr txBox="1"/>
          <p:nvPr/>
        </p:nvSpPr>
        <p:spPr>
          <a:xfrm>
            <a:off x="777240" y="5349240"/>
            <a:ext cx="6336792" cy="685800"/>
          </a:xfrm>
          <a:prstGeom prst="rect">
            <a:avLst/>
          </a:prstGeom>
          <a:noFill/>
          <a:ln/>
        </p:spPr>
        <p:txBody>
          <a:bodyPr wrap="square" lIns="0" tIns="0" rIns="0" bIns="0" rtlCol="0" anchor="ctr"/>
          <a:lstStyle/>
          <a:p>
            <a:pPr indent="0" marL="0">
              <a:buNone/>
            </a:pPr>
            <a:r>
              <a:rPr lang="cs-CZ" sz="1400" b="1" dirty="0">
                <a:solidFill>
                  <a:schemeClr val="tx1"/>
                </a:solidFill>
              </a:rPr>
              <a:t>Příklady strojů: </a:t>
            </a:r>
            <a:pPr indent="0" marL="0">
              <a:buNone/>
            </a:pPr>
            <a:r>
              <a:rPr lang="cs-CZ" sz="1400" dirty="0">
                <a:solidFill>
                  <a:schemeClr val="tx2"/>
                </a:solidFill>
              </a:rPr>
              <a:t>Okuma LASER EX · DMG MORI LASERTEC DED hybrid · Mazak INTEGREX i-AM</a:t>
            </a:r>
            <a:endParaRPr lang="cs-CZ" sz="1400" dirty="0"/>
          </a:p>
        </p:txBody>
      </p:sp>
      <p:sp>
        <p:nvSpPr>
          <p:cNvPr id="24" name="Místo na obrázek – pozadí"/>
          <p:cNvSpPr/>
          <p:nvPr/>
        </p:nvSpPr>
        <p:spPr>
          <a:xfrm>
            <a:off x="7708392" y="1463040"/>
            <a:ext cx="3931920" cy="3611880"/>
          </a:xfrm>
          <a:prstGeom prst="rect">
            <a:avLst/>
          </a:prstGeom>
          <a:solidFill>
            <a:schemeClr val="bg2"/>
          </a:solidFill>
          <a:ln/>
        </p:spPr>
      </p:sp>
      <p:sp>
        <p:nvSpPr>
          <p:cNvPr id="25" name="Místo na obrázek – kruh"/>
          <p:cNvSpPr/>
          <p:nvPr/>
        </p:nvSpPr>
        <p:spPr>
          <a:xfrm>
            <a:off x="9132570" y="1932584"/>
            <a:ext cx="1083564" cy="1083564"/>
          </a:xfrm>
          <a:prstGeom prst="ellipse">
            <a:avLst/>
          </a:prstGeom>
          <a:solidFill>
            <a:schemeClr val="bg1"/>
          </a:solidFill>
          <a:ln/>
        </p:spPr>
      </p:sp>
      <p:pic>
        <p:nvPicPr>
          <p:cNvPr id="26" name="Místo na obrázek – ikona" descr="ilustrační ikona">    </p:cNvPr>
          <p:cNvPicPr>
            <a:picLocks noChangeAspect="1"/>
          </p:cNvPicPr>
          <p:nvPr/>
        </p:nvPicPr>
        <p:blipFill>
          <a:blip r:embed="rId6"/>
          <a:stretch>
            <a:fillRect/>
          </a:stretch>
        </p:blipFill>
        <p:spPr>
          <a:xfrm>
            <a:off x="9360118" y="2160133"/>
            <a:ext cx="628467" cy="628467"/>
          </a:xfrm>
          <a:prstGeom prst="rect">
            <a:avLst/>
          </a:prstGeom>
        </p:spPr>
      </p:pic>
      <p:sp>
        <p:nvSpPr>
          <p:cNvPr id="27" name="Text 0"/>
          <p:cNvSpPr/>
          <p:nvPr>
            <p:ph type="pic" idx="100" hasCustomPrompt="1"/>
          </p:nvPr>
        </p:nvSpPr>
        <p:spPr>
          <a:xfrm>
            <a:off x="7708392" y="1463040"/>
            <a:ext cx="3931920" cy="3611880"/>
          </a:xfrm>
          <a:prstGeom prst="rect">
            <a:avLst/>
          </a:prstGeom>
          <a:noFill/>
          <a:ln/>
        </p:spPr>
        <p:txBody>
          <a:bodyPr wrap="square" lIns="152400" tIns="152400" rIns="152400" bIns="152400" rtlCol="0" anchor="b"/>
          <a:lstStyle/>
          <a:p>
            <a:pPr algn="ctr" indent="0" marL="0">
              <a:buNone/>
            </a:pPr>
            <a:endParaRPr lang="cs-CZ" sz="1400" dirty="0"/>
          </a:p>
        </p:txBody>
      </p:sp>
      <p:sp>
        <p:nvSpPr>
          <p:cNvPr id="28" name="Text 0"/>
          <p:cNvSpPr/>
          <p:nvPr>
            <p:ph idx="101" type="body" hasCustomPrompt="1"/>
          </p:nvPr>
        </p:nvSpPr>
        <p:spPr>
          <a:xfrm>
            <a:off x="7708392" y="5138928"/>
            <a:ext cx="3931920" cy="256032"/>
          </a:xfrm>
          <a:prstGeom prst="rect">
            <a:avLst/>
          </a:prstGeom>
          <a:noFill/>
          <a:ln/>
        </p:spPr>
        <p:txBody>
          <a:bodyPr wrap="square" lIns="0" tIns="0" rIns="0" bIns="0" rtlCol="0" anchor="t"/>
          <a:lstStyle/>
          <a:p>
            <a:pPr indent="0" marL="0">
              <a:buNone/>
            </a:pPr>
            <a:endParaRPr lang="cs-CZ" sz="1000" dirty="0"/>
          </a:p>
        </p:txBody>
      </p:sp>
      <p:sp>
        <p:nvSpPr>
          <p:cNvPr id="29" name="Tlačítko videa">
            <a:hlinkClick r:id="rId7" tooltip="Otevřít video"/>
          </p:cNvPr>
          <p:cNvSpPr/>
          <p:nvPr/>
        </p:nvSpPr>
        <p:spPr>
          <a:xfrm>
            <a:off x="7708392" y="5532120"/>
            <a:ext cx="3931920" cy="502920"/>
          </a:xfrm>
          <a:prstGeom prst="roundRect">
            <a:avLst>
              <a:gd name="adj" fmla="val 50000"/>
            </a:avLst>
          </a:prstGeom>
          <a:solidFill>
            <a:schemeClr val="tx1"/>
          </a:solidFill>
          <a:ln/>
        </p:spPr>
      </p:sp>
      <p:pic>
        <p:nvPicPr>
          <p:cNvPr id="30" name="Tlačítko videa – play" descr="Přehrát video">
            <a:hlinkClick r:id="rId9" tooltip="Otevřít video"/>
          </p:cNvPr>
          <p:cNvPicPr>
            <a:picLocks noChangeAspect="1"/>
          </p:cNvPicPr>
          <p:nvPr/>
        </p:nvPicPr>
        <p:blipFill>
          <a:blip r:embed="rId8"/>
          <a:stretch>
            <a:fillRect/>
          </a:stretch>
        </p:blipFill>
        <p:spPr>
          <a:xfrm>
            <a:off x="7790688" y="5600700"/>
            <a:ext cx="365760" cy="365760"/>
          </a:xfrm>
          <a:prstGeom prst="rect">
            <a:avLst/>
          </a:prstGeom>
        </p:spPr>
      </p:pic>
      <p:sp>
        <p:nvSpPr>
          <p:cNvPr id="31" name="Tlačítko videa – text"/>
          <p:cNvSpPr txBox="1"/>
          <p:nvPr/>
        </p:nvSpPr>
        <p:spPr>
          <a:xfrm>
            <a:off x="8275320" y="5532120"/>
            <a:ext cx="3200400" cy="502920"/>
          </a:xfrm>
          <a:prstGeom prst="rect">
            <a:avLst/>
          </a:prstGeom>
          <a:noFill/>
          <a:ln/>
        </p:spPr>
        <p:txBody>
          <a:bodyPr wrap="square" lIns="0" tIns="0" rIns="0" bIns="0" rtlCol="0" anchor="ctr"/>
          <a:lstStyle/>
          <a:p>
            <a:pPr indent="0" marL="0">
              <a:buNone/>
            </a:pPr>
            <a:r>
              <a:rPr lang="cs-CZ" sz="1400" u="sng" dirty="0">
                <a:solidFill>
                  <a:schemeClr val="bg1"/>
                </a:solidFill>
                <a:hlinkClick r:id="rId10" invalidUrl="" action="" tgtFrame="" tooltip="Otevřít video" history="1" highlightClick="0" endSnd="0">
                  <a:extLst>
                    <a:ext uri="{A12FA001-AC4F-418D-AE19-62706E023703}">
                      <ahyp:hlinkClr xmlns:ahyp="http://schemas.microsoft.com/office/drawing/2018/hyperlinkcolor" val="tx"/>
                    </a:ext>
                  </a:extLst>
                </a:hlinkClick>
              </a:rPr>
              <a:t>Video: hybridní stroj DMG MORI</a:t>
            </a:r>
            <a:endParaRPr lang="cs-CZ"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3</a:t>
            </a:fld>
            <a:endParaRPr lang="cs-CZ"/>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2 · Kryogenní obrábění: chlazení tekutým dusíkem</a:t>
            </a:r>
            <a:endParaRPr lang="cs-CZ" sz="3400" dirty="0"/>
          </a:p>
        </p:txBody>
      </p:sp>
      <p:sp>
        <p:nvSpPr>
          <p:cNvPr id="3" name="údaj 1"/>
          <p:cNvSpPr/>
          <p:nvPr/>
        </p:nvSpPr>
        <p:spPr>
          <a:xfrm>
            <a:off x="548640" y="1463040"/>
            <a:ext cx="2112264" cy="1600200"/>
          </a:xfrm>
          <a:prstGeom prst="roundRect">
            <a:avLst>
              <a:gd name="adj" fmla="val 6857"/>
            </a:avLst>
          </a:prstGeom>
          <a:solidFill>
            <a:schemeClr val="bg2"/>
          </a:solidFill>
          <a:ln/>
        </p:spPr>
      </p:sp>
      <p:sp>
        <p:nvSpPr>
          <p:cNvPr id="4" name="údaj hodnota 1"/>
          <p:cNvSpPr txBox="1"/>
          <p:nvPr/>
        </p:nvSpPr>
        <p:spPr>
          <a:xfrm>
            <a:off x="731520" y="1572768"/>
            <a:ext cx="1783080" cy="548640"/>
          </a:xfrm>
          <a:prstGeom prst="rect">
            <a:avLst/>
          </a:prstGeom>
          <a:noFill/>
          <a:ln/>
        </p:spPr>
        <p:txBody>
          <a:bodyPr wrap="square" lIns="0" tIns="0" rIns="0" bIns="0" rtlCol="0" anchor="t"/>
          <a:lstStyle/>
          <a:p>
            <a:pPr indent="0" marL="0">
              <a:buNone/>
            </a:pPr>
            <a:r>
              <a:rPr lang="cs-CZ" sz="3200" b="1" dirty="0">
                <a:solidFill>
                  <a:schemeClr val="accent2"/>
                </a:solidFill>
                <a:latin typeface="Arial" pitchFamily="34" charset="0"/>
                <a:ea typeface="Arial" pitchFamily="34" charset="-122"/>
                <a:cs typeface="Arial" pitchFamily="34" charset="-120"/>
              </a:rPr>
              <a:t>−196 °C</a:t>
            </a:r>
            <a:endParaRPr lang="cs-CZ" sz="3200" dirty="0"/>
          </a:p>
        </p:txBody>
      </p:sp>
      <p:sp>
        <p:nvSpPr>
          <p:cNvPr id="5" name="údaj popis 1"/>
          <p:cNvSpPr txBox="1"/>
          <p:nvPr/>
        </p:nvSpPr>
        <p:spPr>
          <a:xfrm>
            <a:off x="731520" y="2176272"/>
            <a:ext cx="1783080" cy="822960"/>
          </a:xfrm>
          <a:prstGeom prst="rect">
            <a:avLst/>
          </a:prstGeom>
          <a:noFill/>
          <a:ln/>
        </p:spPr>
        <p:txBody>
          <a:bodyPr wrap="square" lIns="0" tIns="0" rIns="0" bIns="0" rtlCol="0" anchor="t"/>
          <a:lstStyle/>
          <a:p>
            <a:pPr indent="0" marL="0">
              <a:buNone/>
            </a:pPr>
            <a:r>
              <a:rPr lang="cs-CZ" sz="1400" dirty="0">
                <a:solidFill>
                  <a:schemeClr val="tx2"/>
                </a:solidFill>
              </a:rPr>
              <a:t>tekutý dusík (LN₂) stříkaný na břit nože</a:t>
            </a:r>
            <a:endParaRPr lang="cs-CZ" sz="1400" dirty="0"/>
          </a:p>
        </p:txBody>
      </p:sp>
      <p:sp>
        <p:nvSpPr>
          <p:cNvPr id="6" name="údaj 2"/>
          <p:cNvSpPr/>
          <p:nvPr/>
        </p:nvSpPr>
        <p:spPr>
          <a:xfrm>
            <a:off x="2889504" y="1463040"/>
            <a:ext cx="2112264" cy="1600200"/>
          </a:xfrm>
          <a:prstGeom prst="roundRect">
            <a:avLst>
              <a:gd name="adj" fmla="val 6857"/>
            </a:avLst>
          </a:prstGeom>
          <a:solidFill>
            <a:schemeClr val="bg2"/>
          </a:solidFill>
          <a:ln/>
        </p:spPr>
      </p:sp>
      <p:sp>
        <p:nvSpPr>
          <p:cNvPr id="7" name="údaj hodnota 2"/>
          <p:cNvSpPr txBox="1"/>
          <p:nvPr/>
        </p:nvSpPr>
        <p:spPr>
          <a:xfrm>
            <a:off x="3072384" y="1572768"/>
            <a:ext cx="1783080" cy="548640"/>
          </a:xfrm>
          <a:prstGeom prst="rect">
            <a:avLst/>
          </a:prstGeom>
          <a:noFill/>
          <a:ln/>
        </p:spPr>
        <p:txBody>
          <a:bodyPr wrap="square" lIns="0" tIns="0" rIns="0" bIns="0" rtlCol="0" anchor="t"/>
          <a:lstStyle/>
          <a:p>
            <a:pPr indent="0" marL="0">
              <a:buNone/>
            </a:pPr>
            <a:r>
              <a:rPr lang="cs-CZ" sz="3200" b="1" dirty="0">
                <a:solidFill>
                  <a:schemeClr val="accent2"/>
                </a:solidFill>
                <a:latin typeface="Arial" pitchFamily="34" charset="0"/>
                <a:ea typeface="Arial" pitchFamily="34" charset="-122"/>
                <a:cs typeface="Arial" pitchFamily="34" charset="-120"/>
              </a:rPr>
              <a:t>−78 °C</a:t>
            </a:r>
            <a:endParaRPr lang="cs-CZ" sz="3200" dirty="0"/>
          </a:p>
        </p:txBody>
      </p:sp>
      <p:sp>
        <p:nvSpPr>
          <p:cNvPr id="8" name="údaj popis 2"/>
          <p:cNvSpPr txBox="1"/>
          <p:nvPr/>
        </p:nvSpPr>
        <p:spPr>
          <a:xfrm>
            <a:off x="3072384" y="2176272"/>
            <a:ext cx="1783080" cy="822960"/>
          </a:xfrm>
          <a:prstGeom prst="rect">
            <a:avLst/>
          </a:prstGeom>
          <a:noFill/>
          <a:ln/>
        </p:spPr>
        <p:txBody>
          <a:bodyPr wrap="square" lIns="0" tIns="0" rIns="0" bIns="0" rtlCol="0" anchor="t"/>
          <a:lstStyle/>
          <a:p>
            <a:pPr indent="0" marL="0">
              <a:buNone/>
            </a:pPr>
            <a:r>
              <a:rPr lang="cs-CZ" sz="1400" dirty="0">
                <a:solidFill>
                  <a:schemeClr val="tx2"/>
                </a:solidFill>
              </a:rPr>
              <a:t>oxid uhličitý: po vystříknutí jako „sníh“</a:t>
            </a:r>
            <a:endParaRPr lang="cs-CZ" sz="1400" dirty="0"/>
          </a:p>
        </p:txBody>
      </p:sp>
      <p:sp>
        <p:nvSpPr>
          <p:cNvPr id="9" name="údaj 3"/>
          <p:cNvSpPr/>
          <p:nvPr/>
        </p:nvSpPr>
        <p:spPr>
          <a:xfrm>
            <a:off x="5230368" y="1463040"/>
            <a:ext cx="2112264" cy="1600200"/>
          </a:xfrm>
          <a:prstGeom prst="roundRect">
            <a:avLst>
              <a:gd name="adj" fmla="val 6857"/>
            </a:avLst>
          </a:prstGeom>
          <a:solidFill>
            <a:schemeClr val="bg2"/>
          </a:solidFill>
          <a:ln/>
        </p:spPr>
      </p:sp>
      <p:sp>
        <p:nvSpPr>
          <p:cNvPr id="10" name="údaj hodnota 3"/>
          <p:cNvSpPr txBox="1"/>
          <p:nvPr/>
        </p:nvSpPr>
        <p:spPr>
          <a:xfrm>
            <a:off x="5413248" y="1572768"/>
            <a:ext cx="1783080" cy="548640"/>
          </a:xfrm>
          <a:prstGeom prst="rect">
            <a:avLst/>
          </a:prstGeom>
          <a:noFill/>
          <a:ln/>
        </p:spPr>
        <p:txBody>
          <a:bodyPr wrap="square" lIns="0" tIns="0" rIns="0" bIns="0" rtlCol="0" anchor="t"/>
          <a:lstStyle/>
          <a:p>
            <a:pPr indent="0" marL="0">
              <a:buNone/>
            </a:pPr>
            <a:r>
              <a:rPr lang="cs-CZ" sz="3200" b="1" dirty="0">
                <a:solidFill>
                  <a:schemeClr val="accent1"/>
                </a:solidFill>
                <a:latin typeface="Arial" pitchFamily="34" charset="0"/>
                <a:ea typeface="Arial" pitchFamily="34" charset="-122"/>
                <a:cs typeface="Arial" pitchFamily="34" charset="-120"/>
              </a:rPr>
              <a:t>až 2–3×</a:t>
            </a:r>
            <a:endParaRPr lang="cs-CZ" sz="3200" dirty="0"/>
          </a:p>
        </p:txBody>
      </p:sp>
      <p:sp>
        <p:nvSpPr>
          <p:cNvPr id="11" name="údaj popis 3"/>
          <p:cNvSpPr txBox="1"/>
          <p:nvPr/>
        </p:nvSpPr>
        <p:spPr>
          <a:xfrm>
            <a:off x="5413248" y="2176272"/>
            <a:ext cx="1783080" cy="822960"/>
          </a:xfrm>
          <a:prstGeom prst="rect">
            <a:avLst/>
          </a:prstGeom>
          <a:noFill/>
          <a:ln/>
        </p:spPr>
        <p:txBody>
          <a:bodyPr wrap="square" lIns="0" tIns="0" rIns="0" bIns="0" rtlCol="0" anchor="t"/>
          <a:lstStyle/>
          <a:p>
            <a:pPr indent="0" marL="0">
              <a:buNone/>
            </a:pPr>
            <a:r>
              <a:rPr lang="cs-CZ" sz="1400" dirty="0">
                <a:solidFill>
                  <a:schemeClr val="tx2"/>
                </a:solidFill>
              </a:rPr>
              <a:t>delší životnost nástroje (nejlepší studie)</a:t>
            </a:r>
            <a:endParaRPr lang="cs-CZ" sz="1400" dirty="0"/>
          </a:p>
        </p:txBody>
      </p:sp>
      <p:sp>
        <p:nvSpPr>
          <p:cNvPr id="12" name="Výhody ikona – kruh"/>
          <p:cNvSpPr/>
          <p:nvPr/>
        </p:nvSpPr>
        <p:spPr>
          <a:xfrm>
            <a:off x="548640" y="3337560"/>
            <a:ext cx="457200" cy="457200"/>
          </a:xfrm>
          <a:prstGeom prst="ellipse">
            <a:avLst/>
          </a:prstGeom>
          <a:solidFill>
            <a:schemeClr val="accent2"/>
          </a:solidFill>
          <a:ln/>
        </p:spPr>
      </p:sp>
      <p:pic>
        <p:nvPicPr>
          <p:cNvPr id="13" name="Výhody ikona" descr="Výhody ikona">    </p:cNvPr>
          <p:cNvPicPr>
            <a:picLocks noChangeAspect="1"/>
          </p:cNvPicPr>
          <p:nvPr/>
        </p:nvPicPr>
        <p:blipFill>
          <a:blip r:embed="rId1"/>
          <a:stretch>
            <a:fillRect/>
          </a:stretch>
        </p:blipFill>
        <p:spPr>
          <a:xfrm>
            <a:off x="649224" y="3438144"/>
            <a:ext cx="256032" cy="256032"/>
          </a:xfrm>
          <a:prstGeom prst="rect">
            <a:avLst/>
          </a:prstGeom>
        </p:spPr>
      </p:pic>
      <p:sp>
        <p:nvSpPr>
          <p:cNvPr id="14" name="Výhody nadpis"/>
          <p:cNvSpPr txBox="1"/>
          <p:nvPr/>
        </p:nvSpPr>
        <p:spPr>
          <a:xfrm>
            <a:off x="1143000" y="3337560"/>
            <a:ext cx="2651760" cy="457200"/>
          </a:xfrm>
          <a:prstGeom prst="rect">
            <a:avLst/>
          </a:prstGeom>
          <a:noFill/>
          <a:ln/>
        </p:spPr>
        <p:txBody>
          <a:bodyPr wrap="square" lIns="0" tIns="0" rIns="0" bIns="0" rtlCol="0" anchor="ctr"/>
          <a:lstStyle/>
          <a:p>
            <a:pPr indent="0" marL="0">
              <a:buNone/>
            </a:pPr>
            <a:r>
              <a:rPr lang="cs-CZ" sz="1800" b="1" dirty="0">
                <a:solidFill>
                  <a:schemeClr val="tx1"/>
                </a:solidFill>
              </a:rPr>
              <a:t>Výhody</a:t>
            </a:r>
            <a:endParaRPr lang="cs-CZ" sz="1800" dirty="0"/>
          </a:p>
        </p:txBody>
      </p:sp>
      <p:sp>
        <p:nvSpPr>
          <p:cNvPr id="15" name="Výhody seznam"/>
          <p:cNvSpPr txBox="1"/>
          <p:nvPr/>
        </p:nvSpPr>
        <p:spPr>
          <a:xfrm>
            <a:off x="548640" y="3931920"/>
            <a:ext cx="3259836" cy="2103120"/>
          </a:xfrm>
          <a:prstGeom prst="rect">
            <a:avLst/>
          </a:prstGeom>
          <a:noFill/>
          <a:ln/>
        </p:spPr>
        <p:txBody>
          <a:bodyPr wrap="square" lIns="0" tIns="0" rIns="0" bIns="0" rtlCol="0" anchor="t"/>
          <a:lstStyle/>
          <a:p>
            <a:pPr marL="228600" indent="-228600">
              <a:spcAft>
                <a:spcPts val="600"/>
              </a:spcAft>
              <a:buSzPct val="100000"/>
              <a:buChar char="•"/>
            </a:pPr>
            <a:r>
              <a:rPr lang="cs-CZ" sz="1400" dirty="0">
                <a:solidFill>
                  <a:schemeClr val="tx2"/>
                </a:solidFill>
              </a:rPr>
              <a:t>Odvádí teplo přímo z místa řezu</a:t>
            </a:r>
            <a:endParaRPr lang="cs-CZ" sz="1400" dirty="0"/>
          </a:p>
          <a:p>
            <a:pPr marL="228600" indent="-228600">
              <a:spcAft>
                <a:spcPts val="600"/>
              </a:spcAft>
              <a:buSzPct val="100000"/>
              <a:buChar char="•"/>
            </a:pPr>
            <a:r>
              <a:rPr lang="cs-CZ" sz="1400" dirty="0">
                <a:solidFill>
                  <a:schemeClr val="tx2"/>
                </a:solidFill>
              </a:rPr>
              <a:t>Žádná odpadní emulze, čisté třísky</a:t>
            </a:r>
            <a:endParaRPr lang="cs-CZ" sz="1400" dirty="0"/>
          </a:p>
          <a:p>
            <a:pPr marL="228600" indent="-228600">
              <a:spcAft>
                <a:spcPts val="600"/>
              </a:spcAft>
              <a:buSzPct val="100000"/>
              <a:buChar char="•"/>
            </a:pPr>
            <a:r>
              <a:rPr lang="cs-CZ" sz="1400" dirty="0">
                <a:solidFill>
                  <a:schemeClr val="tx2"/>
                </a:solidFill>
              </a:rPr>
              <a:t>Ideální pro titan a Inconel</a:t>
            </a:r>
            <a:endParaRPr lang="cs-CZ" sz="1400" dirty="0"/>
          </a:p>
        </p:txBody>
      </p:sp>
      <p:sp>
        <p:nvSpPr>
          <p:cNvPr id="16" name="Nevýhody ikona – kruh"/>
          <p:cNvSpPr/>
          <p:nvPr/>
        </p:nvSpPr>
        <p:spPr>
          <a:xfrm>
            <a:off x="4082796" y="3337560"/>
            <a:ext cx="457200" cy="457200"/>
          </a:xfrm>
          <a:prstGeom prst="ellipse">
            <a:avLst/>
          </a:prstGeom>
          <a:solidFill>
            <a:schemeClr val="accent5"/>
          </a:solidFill>
          <a:ln/>
        </p:spPr>
      </p:sp>
      <p:pic>
        <p:nvPicPr>
          <p:cNvPr id="17" name="Nevýhody ikona" descr="Nevýhody ikona">    </p:cNvPr>
          <p:cNvPicPr>
            <a:picLocks noChangeAspect="1"/>
          </p:cNvPicPr>
          <p:nvPr/>
        </p:nvPicPr>
        <p:blipFill>
          <a:blip r:embed="rId2"/>
          <a:stretch>
            <a:fillRect/>
          </a:stretch>
        </p:blipFill>
        <p:spPr>
          <a:xfrm>
            <a:off x="4183380" y="3438144"/>
            <a:ext cx="256032" cy="256032"/>
          </a:xfrm>
          <a:prstGeom prst="rect">
            <a:avLst/>
          </a:prstGeom>
        </p:spPr>
      </p:pic>
      <p:sp>
        <p:nvSpPr>
          <p:cNvPr id="18" name="Nevýhody nadpis"/>
          <p:cNvSpPr txBox="1"/>
          <p:nvPr/>
        </p:nvSpPr>
        <p:spPr>
          <a:xfrm>
            <a:off x="4677156" y="3337560"/>
            <a:ext cx="2651760" cy="457200"/>
          </a:xfrm>
          <a:prstGeom prst="rect">
            <a:avLst/>
          </a:prstGeom>
          <a:noFill/>
          <a:ln/>
        </p:spPr>
        <p:txBody>
          <a:bodyPr wrap="square" lIns="0" tIns="0" rIns="0" bIns="0" rtlCol="0" anchor="ctr"/>
          <a:lstStyle/>
          <a:p>
            <a:pPr indent="0" marL="0">
              <a:buNone/>
            </a:pPr>
            <a:r>
              <a:rPr lang="cs-CZ" sz="1800" b="1" dirty="0">
                <a:solidFill>
                  <a:schemeClr val="tx1"/>
                </a:solidFill>
              </a:rPr>
              <a:t>Nevýhody</a:t>
            </a:r>
            <a:endParaRPr lang="cs-CZ" sz="1800" dirty="0"/>
          </a:p>
        </p:txBody>
      </p:sp>
      <p:sp>
        <p:nvSpPr>
          <p:cNvPr id="19" name="Nevýhody seznam"/>
          <p:cNvSpPr txBox="1"/>
          <p:nvPr/>
        </p:nvSpPr>
        <p:spPr>
          <a:xfrm>
            <a:off x="4082796" y="3931920"/>
            <a:ext cx="3259836" cy="2103120"/>
          </a:xfrm>
          <a:prstGeom prst="rect">
            <a:avLst/>
          </a:prstGeom>
          <a:noFill/>
          <a:ln/>
        </p:spPr>
        <p:txBody>
          <a:bodyPr wrap="square" lIns="0" tIns="0" rIns="0" bIns="0" rtlCol="0" anchor="t"/>
          <a:lstStyle/>
          <a:p>
            <a:pPr marL="228600" indent="-228600">
              <a:spcAft>
                <a:spcPts val="600"/>
              </a:spcAft>
              <a:buSzPct val="100000"/>
              <a:buChar char="•"/>
            </a:pPr>
            <a:r>
              <a:rPr lang="cs-CZ" sz="1400" dirty="0">
                <a:solidFill>
                  <a:schemeClr val="tx2"/>
                </a:solidFill>
              </a:rPr>
              <a:t>Výroba LN₂ spotřebuje hodně energie</a:t>
            </a:r>
            <a:endParaRPr lang="cs-CZ" sz="1400" dirty="0"/>
          </a:p>
          <a:p>
            <a:pPr marL="228600" indent="-228600">
              <a:spcAft>
                <a:spcPts val="600"/>
              </a:spcAft>
              <a:buSzPct val="100000"/>
              <a:buChar char="•"/>
            </a:pPr>
            <a:r>
              <a:rPr lang="cs-CZ" sz="1400" dirty="0">
                <a:solidFill>
                  <a:schemeClr val="tx2"/>
                </a:solidFill>
              </a:rPr>
              <a:t>Drahé zařízení a izolované rozvody</a:t>
            </a:r>
            <a:endParaRPr lang="cs-CZ" sz="1400" dirty="0"/>
          </a:p>
          <a:p>
            <a:pPr marL="228600" indent="-228600">
              <a:spcAft>
                <a:spcPts val="600"/>
              </a:spcAft>
              <a:buSzPct val="100000"/>
              <a:buChar char="•"/>
            </a:pPr>
            <a:r>
              <a:rPr lang="cs-CZ" sz="1400" dirty="0">
                <a:solidFill>
                  <a:schemeClr val="tx2"/>
                </a:solidFill>
              </a:rPr>
              <a:t>Dusík nemaže, přidává se mikromazání (MQL)</a:t>
            </a:r>
            <a:endParaRPr lang="cs-CZ" sz="1400" dirty="0"/>
          </a:p>
        </p:txBody>
      </p:sp>
      <p:sp>
        <p:nvSpPr>
          <p:cNvPr id="20" name="Místo na obrázek – pozadí"/>
          <p:cNvSpPr/>
          <p:nvPr/>
        </p:nvSpPr>
        <p:spPr>
          <a:xfrm>
            <a:off x="7708392" y="1463040"/>
            <a:ext cx="3931920" cy="3611880"/>
          </a:xfrm>
          <a:prstGeom prst="rect">
            <a:avLst/>
          </a:prstGeom>
          <a:solidFill>
            <a:schemeClr val="bg2"/>
          </a:solidFill>
          <a:ln/>
        </p:spPr>
      </p:sp>
      <p:sp>
        <p:nvSpPr>
          <p:cNvPr id="21" name="Místo na obrázek – kruh"/>
          <p:cNvSpPr/>
          <p:nvPr/>
        </p:nvSpPr>
        <p:spPr>
          <a:xfrm>
            <a:off x="9132570" y="1932584"/>
            <a:ext cx="1083564" cy="1083564"/>
          </a:xfrm>
          <a:prstGeom prst="ellipse">
            <a:avLst/>
          </a:prstGeom>
          <a:solidFill>
            <a:schemeClr val="bg1"/>
          </a:solidFill>
          <a:ln/>
        </p:spPr>
      </p:sp>
      <p:pic>
        <p:nvPicPr>
          <p:cNvPr id="22" name="Místo na obrázek – ikona" descr="ilustrační ikona">    </p:cNvPr>
          <p:cNvPicPr>
            <a:picLocks noChangeAspect="1"/>
          </p:cNvPicPr>
          <p:nvPr/>
        </p:nvPicPr>
        <p:blipFill>
          <a:blip r:embed="rId3"/>
          <a:stretch>
            <a:fillRect/>
          </a:stretch>
        </p:blipFill>
        <p:spPr>
          <a:xfrm>
            <a:off x="9360118" y="2160133"/>
            <a:ext cx="628467" cy="628467"/>
          </a:xfrm>
          <a:prstGeom prst="rect">
            <a:avLst/>
          </a:prstGeom>
        </p:spPr>
      </p:pic>
      <p:sp>
        <p:nvSpPr>
          <p:cNvPr id="23" name="Text 0"/>
          <p:cNvSpPr/>
          <p:nvPr>
            <p:ph type="pic" idx="100" hasCustomPrompt="1"/>
          </p:nvPr>
        </p:nvSpPr>
        <p:spPr>
          <a:xfrm>
            <a:off x="7708392" y="1463040"/>
            <a:ext cx="3931920" cy="3611880"/>
          </a:xfrm>
          <a:prstGeom prst="rect">
            <a:avLst/>
          </a:prstGeom>
          <a:noFill/>
          <a:ln/>
        </p:spPr>
        <p:txBody>
          <a:bodyPr wrap="square" lIns="152400" tIns="152400" rIns="152400" bIns="152400" rtlCol="0" anchor="b"/>
          <a:lstStyle/>
          <a:p>
            <a:pPr algn="ctr" indent="0" marL="0">
              <a:buNone/>
            </a:pPr>
            <a:endParaRPr lang="cs-CZ" sz="1400" dirty="0"/>
          </a:p>
        </p:txBody>
      </p:sp>
      <p:sp>
        <p:nvSpPr>
          <p:cNvPr id="24" name="Text 0"/>
          <p:cNvSpPr/>
          <p:nvPr>
            <p:ph idx="101" type="body" hasCustomPrompt="1"/>
          </p:nvPr>
        </p:nvSpPr>
        <p:spPr>
          <a:xfrm>
            <a:off x="7708392" y="5138928"/>
            <a:ext cx="3931920" cy="256032"/>
          </a:xfrm>
          <a:prstGeom prst="rect">
            <a:avLst/>
          </a:prstGeom>
          <a:noFill/>
          <a:ln/>
        </p:spPr>
        <p:txBody>
          <a:bodyPr wrap="square" lIns="0" tIns="0" rIns="0" bIns="0" rtlCol="0" anchor="t"/>
          <a:lstStyle/>
          <a:p>
            <a:pPr indent="0" marL="0">
              <a:buNone/>
            </a:pPr>
            <a:endParaRPr lang="cs-CZ" sz="1000" dirty="0"/>
          </a:p>
        </p:txBody>
      </p:sp>
      <p:sp>
        <p:nvSpPr>
          <p:cNvPr id="25" name="Tlačítko videa">
            <a:hlinkClick r:id="rId4" tooltip="Otevřít video"/>
          </p:cNvPr>
          <p:cNvSpPr/>
          <p:nvPr/>
        </p:nvSpPr>
        <p:spPr>
          <a:xfrm>
            <a:off x="7708392" y="5532120"/>
            <a:ext cx="3931920" cy="502920"/>
          </a:xfrm>
          <a:prstGeom prst="roundRect">
            <a:avLst>
              <a:gd name="adj" fmla="val 50000"/>
            </a:avLst>
          </a:prstGeom>
          <a:solidFill>
            <a:schemeClr val="tx1"/>
          </a:solidFill>
          <a:ln/>
        </p:spPr>
      </p:sp>
      <p:pic>
        <p:nvPicPr>
          <p:cNvPr id="26" name="Tlačítko videa – play" descr="Přehrát video">
            <a:hlinkClick r:id="rId6" tooltip="Otevřít video"/>
          </p:cNvPr>
          <p:cNvPicPr>
            <a:picLocks noChangeAspect="1"/>
          </p:cNvPicPr>
          <p:nvPr/>
        </p:nvPicPr>
        <p:blipFill>
          <a:blip r:embed="rId5"/>
          <a:stretch>
            <a:fillRect/>
          </a:stretch>
        </p:blipFill>
        <p:spPr>
          <a:xfrm>
            <a:off x="7790688" y="5600700"/>
            <a:ext cx="365760" cy="365760"/>
          </a:xfrm>
          <a:prstGeom prst="rect">
            <a:avLst/>
          </a:prstGeom>
        </p:spPr>
      </p:pic>
      <p:sp>
        <p:nvSpPr>
          <p:cNvPr id="27" name="Tlačítko videa – text"/>
          <p:cNvSpPr txBox="1"/>
          <p:nvPr/>
        </p:nvSpPr>
        <p:spPr>
          <a:xfrm>
            <a:off x="8275320" y="5532120"/>
            <a:ext cx="3200400" cy="502920"/>
          </a:xfrm>
          <a:prstGeom prst="rect">
            <a:avLst/>
          </a:prstGeom>
          <a:noFill/>
          <a:ln/>
        </p:spPr>
        <p:txBody>
          <a:bodyPr wrap="square" lIns="0" tIns="0" rIns="0" bIns="0" rtlCol="0" anchor="ctr"/>
          <a:lstStyle/>
          <a:p>
            <a:pPr indent="0" marL="0">
              <a:buNone/>
            </a:pPr>
            <a:r>
              <a:rPr lang="cs-CZ" sz="1400" u="sng" dirty="0">
                <a:solidFill>
                  <a:schemeClr val="bg1"/>
                </a:solidFill>
                <a:hlinkClick r:id="rId7" invalidUrl="" action="" tgtFrame="" tooltip="Otevřít video" history="1" highlightClick="0" endSnd="0">
                  <a:extLst>
                    <a:ext uri="{A12FA001-AC4F-418D-AE19-62706E023703}">
                      <ahyp:hlinkClr xmlns:ahyp="http://schemas.microsoft.com/office/drawing/2018/hyperlinkcolor" val="tx"/>
                    </a:ext>
                  </a:extLst>
                </a:hlinkClick>
              </a:rPr>
              <a:t>Video: kryogenní obrábění (5ME)</a:t>
            </a:r>
            <a:endParaRPr lang="cs-CZ"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4</a:t>
            </a:fld>
            <a:endParaRPr lang="cs-CZ"/>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3 · Laserem asistované soustružení</a:t>
            </a:r>
            <a:endParaRPr lang="cs-CZ" sz="3400" dirty="0"/>
          </a:p>
        </p:txBody>
      </p:sp>
      <p:sp>
        <p:nvSpPr>
          <p:cNvPr id="3" name="laser krok 1 – kruh"/>
          <p:cNvSpPr/>
          <p:nvPr/>
        </p:nvSpPr>
        <p:spPr>
          <a:xfrm>
            <a:off x="1223772" y="1463040"/>
            <a:ext cx="914400" cy="914400"/>
          </a:xfrm>
          <a:prstGeom prst="ellipse">
            <a:avLst/>
          </a:prstGeom>
          <a:solidFill>
            <a:schemeClr val="accent1"/>
          </a:solidFill>
          <a:ln/>
        </p:spPr>
      </p:sp>
      <p:pic>
        <p:nvPicPr>
          <p:cNvPr id="4" name="laser krok 1" descr="laser krok 1">    </p:cNvPr>
          <p:cNvPicPr>
            <a:picLocks noChangeAspect="1"/>
          </p:cNvPicPr>
          <p:nvPr/>
        </p:nvPicPr>
        <p:blipFill>
          <a:blip r:embed="rId1"/>
          <a:stretch>
            <a:fillRect/>
          </a:stretch>
        </p:blipFill>
        <p:spPr>
          <a:xfrm>
            <a:off x="1424940" y="1664208"/>
            <a:ext cx="512064" cy="512064"/>
          </a:xfrm>
          <a:prstGeom prst="rect">
            <a:avLst/>
          </a:prstGeom>
        </p:spPr>
      </p:pic>
      <p:sp>
        <p:nvSpPr>
          <p:cNvPr id="5" name="laser nadpis 1"/>
          <p:cNvSpPr txBox="1"/>
          <p:nvPr/>
        </p:nvSpPr>
        <p:spPr>
          <a:xfrm>
            <a:off x="629412" y="2487168"/>
            <a:ext cx="2103120" cy="365760"/>
          </a:xfrm>
          <a:prstGeom prst="rect">
            <a:avLst/>
          </a:prstGeom>
          <a:noFill/>
          <a:ln/>
        </p:spPr>
        <p:txBody>
          <a:bodyPr wrap="square" lIns="0" tIns="0" rIns="0" bIns="0" rtlCol="0" anchor="t"/>
          <a:lstStyle/>
          <a:p>
            <a:pPr algn="ctr" indent="0" marL="0">
              <a:buNone/>
            </a:pPr>
            <a:r>
              <a:rPr lang="cs-CZ" sz="1700" b="1" dirty="0">
                <a:solidFill>
                  <a:schemeClr val="tx1"/>
                </a:solidFill>
              </a:rPr>
              <a:t>Laser ohřeje</a:t>
            </a:r>
            <a:endParaRPr lang="cs-CZ" sz="1700" dirty="0"/>
          </a:p>
        </p:txBody>
      </p:sp>
      <p:sp>
        <p:nvSpPr>
          <p:cNvPr id="6" name="laser text 1"/>
          <p:cNvSpPr txBox="1"/>
          <p:nvPr/>
        </p:nvSpPr>
        <p:spPr>
          <a:xfrm>
            <a:off x="629412" y="2852928"/>
            <a:ext cx="2103120" cy="685800"/>
          </a:xfrm>
          <a:prstGeom prst="rect">
            <a:avLst/>
          </a:prstGeom>
          <a:noFill/>
          <a:ln/>
        </p:spPr>
        <p:txBody>
          <a:bodyPr wrap="square" lIns="0" tIns="0" rIns="0" bIns="0" rtlCol="0" anchor="t"/>
          <a:lstStyle/>
          <a:p>
            <a:pPr algn="ctr" indent="0" marL="0">
              <a:buNone/>
            </a:pPr>
            <a:r>
              <a:rPr lang="cs-CZ" sz="1400" dirty="0">
                <a:solidFill>
                  <a:schemeClr val="tx2"/>
                </a:solidFill>
              </a:rPr>
              <a:t>Paprsek míří těsně před nůž</a:t>
            </a:r>
            <a:endParaRPr lang="cs-CZ" sz="1400" dirty="0"/>
          </a:p>
        </p:txBody>
      </p:sp>
      <p:pic>
        <p:nvPicPr>
          <p:cNvPr id="7" name="laser šipka 1" descr="šipka">    </p:cNvPr>
          <p:cNvPicPr>
            <a:picLocks noChangeAspect="1"/>
          </p:cNvPicPr>
          <p:nvPr/>
        </p:nvPicPr>
        <p:blipFill>
          <a:blip r:embed="rId2"/>
          <a:stretch>
            <a:fillRect/>
          </a:stretch>
        </p:blipFill>
        <p:spPr>
          <a:xfrm>
            <a:off x="2657856" y="1764792"/>
            <a:ext cx="310896" cy="310896"/>
          </a:xfrm>
          <a:prstGeom prst="rect">
            <a:avLst/>
          </a:prstGeom>
        </p:spPr>
      </p:pic>
      <p:sp>
        <p:nvSpPr>
          <p:cNvPr id="8" name="laser krok 2 – kruh"/>
          <p:cNvSpPr/>
          <p:nvPr/>
        </p:nvSpPr>
        <p:spPr>
          <a:xfrm>
            <a:off x="3488436" y="1463040"/>
            <a:ext cx="914400" cy="914400"/>
          </a:xfrm>
          <a:prstGeom prst="ellipse">
            <a:avLst/>
          </a:prstGeom>
          <a:solidFill>
            <a:schemeClr val="accent6"/>
          </a:solidFill>
          <a:ln/>
        </p:spPr>
      </p:sp>
      <p:pic>
        <p:nvPicPr>
          <p:cNvPr id="9" name="laser krok 2" descr="laser krok 2">    </p:cNvPr>
          <p:cNvPicPr>
            <a:picLocks noChangeAspect="1"/>
          </p:cNvPicPr>
          <p:nvPr/>
        </p:nvPicPr>
        <p:blipFill>
          <a:blip r:embed="rId3"/>
          <a:stretch>
            <a:fillRect/>
          </a:stretch>
        </p:blipFill>
        <p:spPr>
          <a:xfrm>
            <a:off x="3689604" y="1664208"/>
            <a:ext cx="512064" cy="512064"/>
          </a:xfrm>
          <a:prstGeom prst="rect">
            <a:avLst/>
          </a:prstGeom>
        </p:spPr>
      </p:pic>
      <p:sp>
        <p:nvSpPr>
          <p:cNvPr id="10" name="laser nadpis 2"/>
          <p:cNvSpPr txBox="1"/>
          <p:nvPr/>
        </p:nvSpPr>
        <p:spPr>
          <a:xfrm>
            <a:off x="2894076" y="2487168"/>
            <a:ext cx="2103120" cy="365760"/>
          </a:xfrm>
          <a:prstGeom prst="rect">
            <a:avLst/>
          </a:prstGeom>
          <a:noFill/>
          <a:ln/>
        </p:spPr>
        <p:txBody>
          <a:bodyPr wrap="square" lIns="0" tIns="0" rIns="0" bIns="0" rtlCol="0" anchor="t"/>
          <a:lstStyle/>
          <a:p>
            <a:pPr algn="ctr" indent="0" marL="0">
              <a:buNone/>
            </a:pPr>
            <a:r>
              <a:rPr lang="cs-CZ" sz="1700" b="1" dirty="0">
                <a:solidFill>
                  <a:schemeClr val="tx1"/>
                </a:solidFill>
              </a:rPr>
              <a:t>Materiál změkne</a:t>
            </a:r>
            <a:endParaRPr lang="cs-CZ" sz="1700" dirty="0"/>
          </a:p>
        </p:txBody>
      </p:sp>
      <p:sp>
        <p:nvSpPr>
          <p:cNvPr id="11" name="laser text 2"/>
          <p:cNvSpPr txBox="1"/>
          <p:nvPr/>
        </p:nvSpPr>
        <p:spPr>
          <a:xfrm>
            <a:off x="2894076" y="2852928"/>
            <a:ext cx="2103120" cy="685800"/>
          </a:xfrm>
          <a:prstGeom prst="rect">
            <a:avLst/>
          </a:prstGeom>
          <a:noFill/>
          <a:ln/>
        </p:spPr>
        <p:txBody>
          <a:bodyPr wrap="square" lIns="0" tIns="0" rIns="0" bIns="0" rtlCol="0" anchor="t"/>
          <a:lstStyle/>
          <a:p>
            <a:pPr algn="ctr" indent="0" marL="0">
              <a:buNone/>
            </a:pPr>
            <a:r>
              <a:rPr lang="cs-CZ" sz="1400" dirty="0">
                <a:solidFill>
                  <a:schemeClr val="tx2"/>
                </a:solidFill>
              </a:rPr>
              <a:t>Stovky °C, keramika i přes 1 000 °C</a:t>
            </a:r>
            <a:endParaRPr lang="cs-CZ" sz="1400" dirty="0"/>
          </a:p>
        </p:txBody>
      </p:sp>
      <p:pic>
        <p:nvPicPr>
          <p:cNvPr id="12" name="laser šipka 2" descr="šipka">    </p:cNvPr>
          <p:cNvPicPr>
            <a:picLocks noChangeAspect="1"/>
          </p:cNvPicPr>
          <p:nvPr/>
        </p:nvPicPr>
        <p:blipFill>
          <a:blip r:embed="rId4"/>
          <a:stretch>
            <a:fillRect/>
          </a:stretch>
        </p:blipFill>
        <p:spPr>
          <a:xfrm>
            <a:off x="4922520" y="1764792"/>
            <a:ext cx="310896" cy="310896"/>
          </a:xfrm>
          <a:prstGeom prst="rect">
            <a:avLst/>
          </a:prstGeom>
        </p:spPr>
      </p:pic>
      <p:sp>
        <p:nvSpPr>
          <p:cNvPr id="13" name="laser krok 3 – kruh"/>
          <p:cNvSpPr/>
          <p:nvPr/>
        </p:nvSpPr>
        <p:spPr>
          <a:xfrm>
            <a:off x="5753100" y="1463040"/>
            <a:ext cx="914400" cy="914400"/>
          </a:xfrm>
          <a:prstGeom prst="ellipse">
            <a:avLst/>
          </a:prstGeom>
          <a:solidFill>
            <a:schemeClr val="accent1"/>
          </a:solidFill>
          <a:ln/>
        </p:spPr>
      </p:sp>
      <p:pic>
        <p:nvPicPr>
          <p:cNvPr id="14" name="laser krok 3" descr="laser krok 3">    </p:cNvPr>
          <p:cNvPicPr>
            <a:picLocks noChangeAspect="1"/>
          </p:cNvPicPr>
          <p:nvPr/>
        </p:nvPicPr>
        <p:blipFill>
          <a:blip r:embed="rId5"/>
          <a:stretch>
            <a:fillRect/>
          </a:stretch>
        </p:blipFill>
        <p:spPr>
          <a:xfrm>
            <a:off x="5954268" y="1664208"/>
            <a:ext cx="512064" cy="512064"/>
          </a:xfrm>
          <a:prstGeom prst="rect">
            <a:avLst/>
          </a:prstGeom>
        </p:spPr>
      </p:pic>
      <p:sp>
        <p:nvSpPr>
          <p:cNvPr id="15" name="laser nadpis 3"/>
          <p:cNvSpPr txBox="1"/>
          <p:nvPr/>
        </p:nvSpPr>
        <p:spPr>
          <a:xfrm>
            <a:off x="5158740" y="2487168"/>
            <a:ext cx="2103120" cy="365760"/>
          </a:xfrm>
          <a:prstGeom prst="rect">
            <a:avLst/>
          </a:prstGeom>
          <a:noFill/>
          <a:ln/>
        </p:spPr>
        <p:txBody>
          <a:bodyPr wrap="square" lIns="0" tIns="0" rIns="0" bIns="0" rtlCol="0" anchor="t"/>
          <a:lstStyle/>
          <a:p>
            <a:pPr algn="ctr" indent="0" marL="0">
              <a:buNone/>
            </a:pPr>
            <a:r>
              <a:rPr lang="cs-CZ" sz="1700" b="1" dirty="0">
                <a:solidFill>
                  <a:schemeClr val="tx1"/>
                </a:solidFill>
              </a:rPr>
              <a:t>Nůž řeže snadno</a:t>
            </a:r>
            <a:endParaRPr lang="cs-CZ" sz="1700" dirty="0"/>
          </a:p>
        </p:txBody>
      </p:sp>
      <p:sp>
        <p:nvSpPr>
          <p:cNvPr id="16" name="laser text 3"/>
          <p:cNvSpPr txBox="1"/>
          <p:nvPr/>
        </p:nvSpPr>
        <p:spPr>
          <a:xfrm>
            <a:off x="5158740" y="2852928"/>
            <a:ext cx="2103120" cy="685800"/>
          </a:xfrm>
          <a:prstGeom prst="rect">
            <a:avLst/>
          </a:prstGeom>
          <a:noFill/>
          <a:ln/>
        </p:spPr>
        <p:txBody>
          <a:bodyPr wrap="square" lIns="0" tIns="0" rIns="0" bIns="0" rtlCol="0" anchor="t"/>
          <a:lstStyle/>
          <a:p>
            <a:pPr algn="ctr" indent="0" marL="0">
              <a:buNone/>
            </a:pPr>
            <a:r>
              <a:rPr lang="cs-CZ" sz="1400" dirty="0">
                <a:solidFill>
                  <a:schemeClr val="tx2"/>
                </a:solidFill>
              </a:rPr>
              <a:t>Menší síly a opotřebení, bez prasklin</a:t>
            </a:r>
            <a:endParaRPr lang="cs-CZ" sz="1400" dirty="0"/>
          </a:p>
        </p:txBody>
      </p:sp>
      <p:sp>
        <p:nvSpPr>
          <p:cNvPr id="17" name="kde pomáhá karta"/>
          <p:cNvSpPr/>
          <p:nvPr/>
        </p:nvSpPr>
        <p:spPr>
          <a:xfrm>
            <a:off x="548640" y="3749040"/>
            <a:ext cx="3259836" cy="2286000"/>
          </a:xfrm>
          <a:prstGeom prst="roundRect">
            <a:avLst>
              <a:gd name="adj" fmla="val 4800"/>
            </a:avLst>
          </a:prstGeom>
          <a:solidFill>
            <a:schemeClr val="bg2"/>
          </a:solidFill>
          <a:ln/>
        </p:spPr>
      </p:sp>
      <p:sp>
        <p:nvSpPr>
          <p:cNvPr id="18" name="kde pomáhá nadpis"/>
          <p:cNvSpPr txBox="1"/>
          <p:nvPr/>
        </p:nvSpPr>
        <p:spPr>
          <a:xfrm>
            <a:off x="777240" y="3913632"/>
            <a:ext cx="2834640" cy="411480"/>
          </a:xfrm>
          <a:prstGeom prst="rect">
            <a:avLst/>
          </a:prstGeom>
          <a:noFill/>
          <a:ln/>
        </p:spPr>
        <p:txBody>
          <a:bodyPr wrap="square" lIns="0" tIns="0" rIns="0" bIns="0" rtlCol="0" anchor="t"/>
          <a:lstStyle/>
          <a:p>
            <a:pPr indent="0" marL="0">
              <a:buNone/>
            </a:pPr>
            <a:r>
              <a:rPr lang="cs-CZ" sz="1800" b="1" dirty="0">
                <a:solidFill>
                  <a:schemeClr val="tx1"/>
                </a:solidFill>
              </a:rPr>
              <a:t>Kde to pomáhá</a:t>
            </a:r>
            <a:endParaRPr lang="cs-CZ" sz="1800" dirty="0"/>
          </a:p>
        </p:txBody>
      </p:sp>
      <p:sp>
        <p:nvSpPr>
          <p:cNvPr id="19" name="kde pomáhá seznam"/>
          <p:cNvSpPr txBox="1"/>
          <p:nvPr/>
        </p:nvSpPr>
        <p:spPr>
          <a:xfrm>
            <a:off x="777240" y="4389120"/>
            <a:ext cx="2880360" cy="1554480"/>
          </a:xfrm>
          <a:prstGeom prst="rect">
            <a:avLst/>
          </a:prstGeom>
          <a:noFill/>
          <a:ln/>
        </p:spPr>
        <p:txBody>
          <a:bodyPr wrap="square" lIns="0" tIns="0" rIns="0" bIns="0" rtlCol="0" anchor="t"/>
          <a:lstStyle/>
          <a:p>
            <a:pPr marL="228600" indent="-228600">
              <a:spcAft>
                <a:spcPts val="600"/>
              </a:spcAft>
              <a:buSzPct val="100000"/>
              <a:buChar char="•"/>
            </a:pPr>
            <a:r>
              <a:rPr lang="cs-CZ" sz="1400" dirty="0">
                <a:solidFill>
                  <a:schemeClr val="tx2"/>
                </a:solidFill>
              </a:rPr>
              <a:t>Keramika (nitrid křemíku)</a:t>
            </a:r>
            <a:endParaRPr lang="cs-CZ" sz="1400" dirty="0"/>
          </a:p>
          <a:p>
            <a:pPr marL="228600" indent="-228600">
              <a:spcAft>
                <a:spcPts val="600"/>
              </a:spcAft>
              <a:buSzPct val="100000"/>
              <a:buChar char="•"/>
            </a:pPr>
            <a:r>
              <a:rPr lang="cs-CZ" sz="1400" dirty="0">
                <a:solidFill>
                  <a:schemeClr val="tx2"/>
                </a:solidFill>
              </a:rPr>
              <a:t>Inconel a titan</a:t>
            </a:r>
            <a:endParaRPr lang="cs-CZ" sz="1400" dirty="0"/>
          </a:p>
          <a:p>
            <a:pPr marL="228600" indent="-228600">
              <a:spcAft>
                <a:spcPts val="600"/>
              </a:spcAft>
              <a:buSzPct val="100000"/>
              <a:buChar char="•"/>
            </a:pPr>
            <a:r>
              <a:rPr lang="cs-CZ" sz="1400" dirty="0">
                <a:solidFill>
                  <a:schemeClr val="tx2"/>
                </a:solidFill>
              </a:rPr>
              <a:t>Kalené oceli</a:t>
            </a:r>
            <a:endParaRPr lang="cs-CZ" sz="1400" dirty="0"/>
          </a:p>
          <a:p>
            <a:pPr marL="228600" indent="-228600">
              <a:spcAft>
                <a:spcPts val="600"/>
              </a:spcAft>
              <a:buSzPct val="100000"/>
              <a:buChar char="•"/>
            </a:pPr>
            <a:r>
              <a:rPr lang="cs-CZ" sz="1400" dirty="0">
                <a:solidFill>
                  <a:schemeClr val="tx2"/>
                </a:solidFill>
              </a:rPr>
              <a:t>Micro-LAM: laser svítí skrz diamantový nůž</a:t>
            </a:r>
            <a:endParaRPr lang="cs-CZ" sz="1400" dirty="0"/>
          </a:p>
        </p:txBody>
      </p:sp>
      <p:sp>
        <p:nvSpPr>
          <p:cNvPr id="20" name="opak kryogenu karta"/>
          <p:cNvSpPr/>
          <p:nvPr/>
        </p:nvSpPr>
        <p:spPr>
          <a:xfrm>
            <a:off x="4082796" y="3749040"/>
            <a:ext cx="3259836" cy="2286000"/>
          </a:xfrm>
          <a:prstGeom prst="roundRect">
            <a:avLst>
              <a:gd name="adj" fmla="val 4800"/>
            </a:avLst>
          </a:prstGeom>
          <a:solidFill>
            <a:schemeClr val="tx1"/>
          </a:solidFill>
          <a:ln/>
        </p:spPr>
      </p:sp>
      <p:sp>
        <p:nvSpPr>
          <p:cNvPr id="21" name="opak kryogenu ikona – kruh"/>
          <p:cNvSpPr/>
          <p:nvPr/>
        </p:nvSpPr>
        <p:spPr>
          <a:xfrm>
            <a:off x="4343400" y="3931920"/>
            <a:ext cx="502920" cy="502920"/>
          </a:xfrm>
          <a:prstGeom prst="ellipse">
            <a:avLst/>
          </a:prstGeom>
          <a:solidFill>
            <a:schemeClr val="accent2"/>
          </a:solidFill>
          <a:ln/>
        </p:spPr>
      </p:sp>
      <p:pic>
        <p:nvPicPr>
          <p:cNvPr id="22" name="opak kryogenu ikona" descr="opak kryogenu ikona">    </p:cNvPr>
          <p:cNvPicPr>
            <a:picLocks noChangeAspect="1"/>
          </p:cNvPicPr>
          <p:nvPr/>
        </p:nvPicPr>
        <p:blipFill>
          <a:blip r:embed="rId6"/>
          <a:stretch>
            <a:fillRect/>
          </a:stretch>
        </p:blipFill>
        <p:spPr>
          <a:xfrm>
            <a:off x="4454042" y="4042562"/>
            <a:ext cx="281635" cy="281635"/>
          </a:xfrm>
          <a:prstGeom prst="rect">
            <a:avLst/>
          </a:prstGeom>
        </p:spPr>
      </p:pic>
      <p:sp>
        <p:nvSpPr>
          <p:cNvPr id="23" name="opak kryogenu nadpis"/>
          <p:cNvSpPr txBox="1"/>
          <p:nvPr/>
        </p:nvSpPr>
        <p:spPr>
          <a:xfrm>
            <a:off x="4983480" y="3931920"/>
            <a:ext cx="2240280" cy="502920"/>
          </a:xfrm>
          <a:prstGeom prst="rect">
            <a:avLst/>
          </a:prstGeom>
          <a:noFill/>
          <a:ln/>
        </p:spPr>
        <p:txBody>
          <a:bodyPr wrap="square" lIns="0" tIns="0" rIns="0" bIns="0" rtlCol="0" anchor="ctr"/>
          <a:lstStyle/>
          <a:p>
            <a:pPr indent="0" marL="0">
              <a:buNone/>
            </a:pPr>
            <a:r>
              <a:rPr lang="cs-CZ" sz="1800" b="1" dirty="0">
                <a:solidFill>
                  <a:schemeClr val="bg1"/>
                </a:solidFill>
              </a:rPr>
              <a:t>Opak kryogenu</a:t>
            </a:r>
            <a:endParaRPr lang="cs-CZ" sz="1800" dirty="0"/>
          </a:p>
        </p:txBody>
      </p:sp>
      <p:sp>
        <p:nvSpPr>
          <p:cNvPr id="24" name="opak kryogenu text"/>
          <p:cNvSpPr txBox="1"/>
          <p:nvPr/>
        </p:nvSpPr>
        <p:spPr>
          <a:xfrm>
            <a:off x="4343400" y="4617720"/>
            <a:ext cx="2743200" cy="1280160"/>
          </a:xfrm>
          <a:prstGeom prst="rect">
            <a:avLst/>
          </a:prstGeom>
          <a:noFill/>
          <a:ln/>
        </p:spPr>
        <p:txBody>
          <a:bodyPr wrap="square" lIns="0" tIns="0" rIns="0" bIns="0" rtlCol="0" anchor="t"/>
          <a:lstStyle/>
          <a:p>
            <a:pPr indent="0" marL="0">
              <a:buNone/>
            </a:pPr>
            <a:r>
              <a:rPr lang="cs-CZ" sz="1400" dirty="0">
                <a:solidFill>
                  <a:schemeClr val="bg1"/>
                </a:solidFill>
              </a:rPr>
              <a:t>Kryo chladí nástroj, laser naopak ohřívá obrobek. Obojí bojuje s tvrdostí a teplem.</a:t>
            </a:r>
            <a:endParaRPr lang="cs-CZ" sz="1400" dirty="0"/>
          </a:p>
        </p:txBody>
      </p:sp>
      <p:sp>
        <p:nvSpPr>
          <p:cNvPr id="25" name="Místo na obrázek – pozadí"/>
          <p:cNvSpPr/>
          <p:nvPr/>
        </p:nvSpPr>
        <p:spPr>
          <a:xfrm>
            <a:off x="7708392" y="1463040"/>
            <a:ext cx="3931920" cy="3611880"/>
          </a:xfrm>
          <a:prstGeom prst="rect">
            <a:avLst/>
          </a:prstGeom>
          <a:solidFill>
            <a:schemeClr val="bg2"/>
          </a:solidFill>
          <a:ln/>
        </p:spPr>
      </p:sp>
      <p:sp>
        <p:nvSpPr>
          <p:cNvPr id="26" name="Místo na obrázek – kruh"/>
          <p:cNvSpPr/>
          <p:nvPr/>
        </p:nvSpPr>
        <p:spPr>
          <a:xfrm>
            <a:off x="9132570" y="1932584"/>
            <a:ext cx="1083564" cy="1083564"/>
          </a:xfrm>
          <a:prstGeom prst="ellipse">
            <a:avLst/>
          </a:prstGeom>
          <a:solidFill>
            <a:schemeClr val="bg1"/>
          </a:solidFill>
          <a:ln/>
        </p:spPr>
      </p:sp>
      <p:pic>
        <p:nvPicPr>
          <p:cNvPr id="27" name="Místo na obrázek – ikona" descr="ilustrační ikona">    </p:cNvPr>
          <p:cNvPicPr>
            <a:picLocks noChangeAspect="1"/>
          </p:cNvPicPr>
          <p:nvPr/>
        </p:nvPicPr>
        <p:blipFill>
          <a:blip r:embed="rId7"/>
          <a:stretch>
            <a:fillRect/>
          </a:stretch>
        </p:blipFill>
        <p:spPr>
          <a:xfrm>
            <a:off x="9360118" y="2160133"/>
            <a:ext cx="628467" cy="628467"/>
          </a:xfrm>
          <a:prstGeom prst="rect">
            <a:avLst/>
          </a:prstGeom>
        </p:spPr>
      </p:pic>
      <p:sp>
        <p:nvSpPr>
          <p:cNvPr id="28" name="Text 0"/>
          <p:cNvSpPr/>
          <p:nvPr>
            <p:ph type="pic" idx="100" hasCustomPrompt="1"/>
          </p:nvPr>
        </p:nvSpPr>
        <p:spPr>
          <a:xfrm>
            <a:off x="7708392" y="1463040"/>
            <a:ext cx="3931920" cy="3611880"/>
          </a:xfrm>
          <a:prstGeom prst="rect">
            <a:avLst/>
          </a:prstGeom>
          <a:noFill/>
          <a:ln/>
        </p:spPr>
        <p:txBody>
          <a:bodyPr wrap="square" lIns="152400" tIns="152400" rIns="152400" bIns="152400" rtlCol="0" anchor="b"/>
          <a:lstStyle/>
          <a:p>
            <a:pPr algn="ctr" indent="0" marL="0">
              <a:buNone/>
            </a:pPr>
            <a:endParaRPr lang="cs-CZ" sz="1400" dirty="0"/>
          </a:p>
        </p:txBody>
      </p:sp>
      <p:sp>
        <p:nvSpPr>
          <p:cNvPr id="29" name="Text 0"/>
          <p:cNvSpPr/>
          <p:nvPr>
            <p:ph idx="101" type="body" hasCustomPrompt="1"/>
          </p:nvPr>
        </p:nvSpPr>
        <p:spPr>
          <a:xfrm>
            <a:off x="7708392" y="5138928"/>
            <a:ext cx="3931920" cy="256032"/>
          </a:xfrm>
          <a:prstGeom prst="rect">
            <a:avLst/>
          </a:prstGeom>
          <a:noFill/>
          <a:ln/>
        </p:spPr>
        <p:txBody>
          <a:bodyPr wrap="square" lIns="0" tIns="0" rIns="0" bIns="0" rtlCol="0" anchor="t"/>
          <a:lstStyle/>
          <a:p>
            <a:pPr indent="0" marL="0">
              <a:buNone/>
            </a:pPr>
            <a:endParaRPr lang="cs-CZ" sz="1000" dirty="0"/>
          </a:p>
        </p:txBody>
      </p:sp>
      <p:sp>
        <p:nvSpPr>
          <p:cNvPr id="30" name="Tlačítko videa">
            <a:hlinkClick r:id="rId8" tooltip="Otevřít video"/>
          </p:cNvPr>
          <p:cNvSpPr/>
          <p:nvPr/>
        </p:nvSpPr>
        <p:spPr>
          <a:xfrm>
            <a:off x="7708392" y="5532120"/>
            <a:ext cx="3931920" cy="502920"/>
          </a:xfrm>
          <a:prstGeom prst="roundRect">
            <a:avLst>
              <a:gd name="adj" fmla="val 50000"/>
            </a:avLst>
          </a:prstGeom>
          <a:solidFill>
            <a:schemeClr val="tx1"/>
          </a:solidFill>
          <a:ln/>
        </p:spPr>
      </p:sp>
      <p:pic>
        <p:nvPicPr>
          <p:cNvPr id="31" name="Tlačítko videa – play" descr="Přehrát video">
            <a:hlinkClick r:id="rId10" tooltip="Otevřít video"/>
          </p:cNvPr>
          <p:cNvPicPr>
            <a:picLocks noChangeAspect="1"/>
          </p:cNvPicPr>
          <p:nvPr/>
        </p:nvPicPr>
        <p:blipFill>
          <a:blip r:embed="rId9"/>
          <a:stretch>
            <a:fillRect/>
          </a:stretch>
        </p:blipFill>
        <p:spPr>
          <a:xfrm>
            <a:off x="7790688" y="5600700"/>
            <a:ext cx="365760" cy="365760"/>
          </a:xfrm>
          <a:prstGeom prst="rect">
            <a:avLst/>
          </a:prstGeom>
        </p:spPr>
      </p:pic>
      <p:sp>
        <p:nvSpPr>
          <p:cNvPr id="32" name="Tlačítko videa – text"/>
          <p:cNvSpPr txBox="1"/>
          <p:nvPr/>
        </p:nvSpPr>
        <p:spPr>
          <a:xfrm>
            <a:off x="8275320" y="5532120"/>
            <a:ext cx="3200400" cy="502920"/>
          </a:xfrm>
          <a:prstGeom prst="rect">
            <a:avLst/>
          </a:prstGeom>
          <a:noFill/>
          <a:ln/>
        </p:spPr>
        <p:txBody>
          <a:bodyPr wrap="square" lIns="0" tIns="0" rIns="0" bIns="0" rtlCol="0" anchor="ctr"/>
          <a:lstStyle/>
          <a:p>
            <a:pPr indent="0" marL="0">
              <a:buNone/>
            </a:pPr>
            <a:r>
              <a:rPr lang="cs-CZ" sz="1400" u="sng" dirty="0">
                <a:solidFill>
                  <a:schemeClr val="bg1"/>
                </a:solidFill>
                <a:hlinkClick r:id="rId11" invalidUrl="" action="" tgtFrame="" tooltip="Otevřít video" history="1" highlightClick="0" endSnd="0">
                  <a:extLst>
                    <a:ext uri="{A12FA001-AC4F-418D-AE19-62706E023703}">
                      <ahyp:hlinkClr xmlns:ahyp="http://schemas.microsoft.com/office/drawing/2018/hyperlinkcolor" val="tx"/>
                    </a:ext>
                  </a:extLst>
                </a:hlinkClick>
              </a:rPr>
              <a:t>Video: laser + diamant (Micro-LAM)</a:t>
            </a:r>
            <a:endParaRPr lang="cs-CZ"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5</a:t>
            </a:fld>
            <a:endParaRPr lang="cs-CZ"/>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4 · Chytré nástroje a umělá inteligence</a:t>
            </a:r>
            <a:endParaRPr lang="cs-CZ" sz="3400" dirty="0"/>
          </a:p>
        </p:txBody>
      </p:sp>
      <p:sp>
        <p:nvSpPr>
          <p:cNvPr id="3" name="chytré ikona 1 – kruh"/>
          <p:cNvSpPr/>
          <p:nvPr/>
        </p:nvSpPr>
        <p:spPr>
          <a:xfrm>
            <a:off x="548640" y="1463040"/>
            <a:ext cx="731520" cy="731520"/>
          </a:xfrm>
          <a:prstGeom prst="ellipse">
            <a:avLst/>
          </a:prstGeom>
          <a:solidFill>
            <a:schemeClr val="accent1"/>
          </a:solidFill>
          <a:ln/>
        </p:spPr>
      </p:sp>
      <p:pic>
        <p:nvPicPr>
          <p:cNvPr id="4" name="chytré ikona 1" descr="chytré ikona 1">    </p:cNvPr>
          <p:cNvPicPr>
            <a:picLocks noChangeAspect="1"/>
          </p:cNvPicPr>
          <p:nvPr/>
        </p:nvPicPr>
        <p:blipFill>
          <a:blip r:embed="rId1"/>
          <a:stretch>
            <a:fillRect/>
          </a:stretch>
        </p:blipFill>
        <p:spPr>
          <a:xfrm>
            <a:off x="709574" y="1623974"/>
            <a:ext cx="409651" cy="409651"/>
          </a:xfrm>
          <a:prstGeom prst="rect">
            <a:avLst/>
          </a:prstGeom>
        </p:spPr>
      </p:pic>
      <p:sp>
        <p:nvSpPr>
          <p:cNvPr id="5" name="chytré nadpis 1"/>
          <p:cNvSpPr txBox="1"/>
          <p:nvPr/>
        </p:nvSpPr>
        <p:spPr>
          <a:xfrm>
            <a:off x="1508760" y="1444752"/>
            <a:ext cx="5806440" cy="384048"/>
          </a:xfrm>
          <a:prstGeom prst="rect">
            <a:avLst/>
          </a:prstGeom>
          <a:noFill/>
          <a:ln/>
        </p:spPr>
        <p:txBody>
          <a:bodyPr wrap="square" lIns="0" tIns="0" rIns="0" bIns="0" rtlCol="0" anchor="t"/>
          <a:lstStyle/>
          <a:p>
            <a:pPr indent="0" marL="0">
              <a:buNone/>
            </a:pPr>
            <a:r>
              <a:rPr lang="cs-CZ" sz="1800" b="1" dirty="0">
                <a:solidFill>
                  <a:schemeClr val="tx1"/>
                </a:solidFill>
              </a:rPr>
              <a:t>Senzory v držáku nože</a:t>
            </a:r>
            <a:endParaRPr lang="cs-CZ" sz="1800" dirty="0"/>
          </a:p>
        </p:txBody>
      </p:sp>
      <p:sp>
        <p:nvSpPr>
          <p:cNvPr id="6" name="chytré text 1"/>
          <p:cNvSpPr txBox="1"/>
          <p:nvPr/>
        </p:nvSpPr>
        <p:spPr>
          <a:xfrm>
            <a:off x="1508760" y="1847088"/>
            <a:ext cx="5806440" cy="548640"/>
          </a:xfrm>
          <a:prstGeom prst="rect">
            <a:avLst/>
          </a:prstGeom>
          <a:noFill/>
          <a:ln/>
        </p:spPr>
        <p:txBody>
          <a:bodyPr wrap="square" lIns="0" tIns="0" rIns="0" bIns="0" rtlCol="0" anchor="t"/>
          <a:lstStyle/>
          <a:p>
            <a:pPr indent="0" marL="0">
              <a:buNone/>
            </a:pPr>
            <a:r>
              <a:rPr lang="cs-CZ" sz="1400" dirty="0">
                <a:solidFill>
                  <a:schemeClr val="tx2"/>
                </a:solidFill>
              </a:rPr>
              <a:t>Měří vibrace, síly a teplotu přímo při řezu (např. Sandvik CoroTurn Plus)</a:t>
            </a:r>
            <a:endParaRPr lang="cs-CZ" sz="1400" dirty="0"/>
          </a:p>
        </p:txBody>
      </p:sp>
      <p:sp>
        <p:nvSpPr>
          <p:cNvPr id="7" name="chytré ikona 2 – kruh"/>
          <p:cNvSpPr/>
          <p:nvPr/>
        </p:nvSpPr>
        <p:spPr>
          <a:xfrm>
            <a:off x="548640" y="2514600"/>
            <a:ext cx="731520" cy="731520"/>
          </a:xfrm>
          <a:prstGeom prst="ellipse">
            <a:avLst/>
          </a:prstGeom>
          <a:solidFill>
            <a:schemeClr val="accent1"/>
          </a:solidFill>
          <a:ln/>
        </p:spPr>
      </p:sp>
      <p:pic>
        <p:nvPicPr>
          <p:cNvPr id="8" name="chytré ikona 2" descr="chytré ikona 2">    </p:cNvPr>
          <p:cNvPicPr>
            <a:picLocks noChangeAspect="1"/>
          </p:cNvPicPr>
          <p:nvPr/>
        </p:nvPicPr>
        <p:blipFill>
          <a:blip r:embed="rId2"/>
          <a:stretch>
            <a:fillRect/>
          </a:stretch>
        </p:blipFill>
        <p:spPr>
          <a:xfrm>
            <a:off x="709574" y="2675534"/>
            <a:ext cx="409651" cy="409651"/>
          </a:xfrm>
          <a:prstGeom prst="rect">
            <a:avLst/>
          </a:prstGeom>
        </p:spPr>
      </p:pic>
      <p:sp>
        <p:nvSpPr>
          <p:cNvPr id="9" name="chytré nadpis 2"/>
          <p:cNvSpPr txBox="1"/>
          <p:nvPr/>
        </p:nvSpPr>
        <p:spPr>
          <a:xfrm>
            <a:off x="1508760" y="2496312"/>
            <a:ext cx="5806440" cy="384048"/>
          </a:xfrm>
          <a:prstGeom prst="rect">
            <a:avLst/>
          </a:prstGeom>
          <a:noFill/>
          <a:ln/>
        </p:spPr>
        <p:txBody>
          <a:bodyPr wrap="square" lIns="0" tIns="0" rIns="0" bIns="0" rtlCol="0" anchor="t"/>
          <a:lstStyle/>
          <a:p>
            <a:pPr indent="0" marL="0">
              <a:buNone/>
            </a:pPr>
            <a:r>
              <a:rPr lang="cs-CZ" sz="1800" b="1" dirty="0">
                <a:solidFill>
                  <a:schemeClr val="tx1"/>
                </a:solidFill>
              </a:rPr>
              <a:t>Adaptivní řízení a AI</a:t>
            </a:r>
            <a:endParaRPr lang="cs-CZ" sz="1800" dirty="0"/>
          </a:p>
        </p:txBody>
      </p:sp>
      <p:sp>
        <p:nvSpPr>
          <p:cNvPr id="10" name="chytré text 2"/>
          <p:cNvSpPr txBox="1"/>
          <p:nvPr/>
        </p:nvSpPr>
        <p:spPr>
          <a:xfrm>
            <a:off x="1508760" y="2898648"/>
            <a:ext cx="5806440" cy="548640"/>
          </a:xfrm>
          <a:prstGeom prst="rect">
            <a:avLst/>
          </a:prstGeom>
          <a:noFill/>
          <a:ln/>
        </p:spPr>
        <p:txBody>
          <a:bodyPr wrap="square" lIns="0" tIns="0" rIns="0" bIns="0" rtlCol="0" anchor="t"/>
          <a:lstStyle/>
          <a:p>
            <a:pPr indent="0" marL="0">
              <a:buNone/>
            </a:pPr>
            <a:r>
              <a:rPr lang="cs-CZ" sz="1400" dirty="0">
                <a:solidFill>
                  <a:schemeClr val="tx2"/>
                </a:solidFill>
              </a:rPr>
              <a:t>Sleduje opotřebení, upraví posuv a při zlomu stroj během milisekund zastaví</a:t>
            </a:r>
            <a:endParaRPr lang="cs-CZ" sz="1400" dirty="0"/>
          </a:p>
        </p:txBody>
      </p:sp>
      <p:sp>
        <p:nvSpPr>
          <p:cNvPr id="11" name="chytré ikona 3 – kruh"/>
          <p:cNvSpPr/>
          <p:nvPr/>
        </p:nvSpPr>
        <p:spPr>
          <a:xfrm>
            <a:off x="548640" y="3566160"/>
            <a:ext cx="731520" cy="731520"/>
          </a:xfrm>
          <a:prstGeom prst="ellipse">
            <a:avLst/>
          </a:prstGeom>
          <a:solidFill>
            <a:schemeClr val="accent1"/>
          </a:solidFill>
          <a:ln/>
        </p:spPr>
      </p:sp>
      <p:pic>
        <p:nvPicPr>
          <p:cNvPr id="12" name="chytré ikona 3" descr="chytré ikona 3">    </p:cNvPr>
          <p:cNvPicPr>
            <a:picLocks noChangeAspect="1"/>
          </p:cNvPicPr>
          <p:nvPr/>
        </p:nvPicPr>
        <p:blipFill>
          <a:blip r:embed="rId3"/>
          <a:stretch>
            <a:fillRect/>
          </a:stretch>
        </p:blipFill>
        <p:spPr>
          <a:xfrm>
            <a:off x="709574" y="3727094"/>
            <a:ext cx="409651" cy="409651"/>
          </a:xfrm>
          <a:prstGeom prst="rect">
            <a:avLst/>
          </a:prstGeom>
        </p:spPr>
      </p:pic>
      <p:sp>
        <p:nvSpPr>
          <p:cNvPr id="13" name="chytré nadpis 3"/>
          <p:cNvSpPr txBox="1"/>
          <p:nvPr/>
        </p:nvSpPr>
        <p:spPr>
          <a:xfrm>
            <a:off x="1508760" y="3547872"/>
            <a:ext cx="5806440" cy="384048"/>
          </a:xfrm>
          <a:prstGeom prst="rect">
            <a:avLst/>
          </a:prstGeom>
          <a:noFill/>
          <a:ln/>
        </p:spPr>
        <p:txBody>
          <a:bodyPr wrap="square" lIns="0" tIns="0" rIns="0" bIns="0" rtlCol="0" anchor="t"/>
          <a:lstStyle/>
          <a:p>
            <a:pPr indent="0" marL="0">
              <a:buNone/>
            </a:pPr>
            <a:r>
              <a:rPr lang="cs-CZ" sz="1800" b="1" dirty="0">
                <a:solidFill>
                  <a:schemeClr val="tx1"/>
                </a:solidFill>
              </a:rPr>
              <a:t>Digitální dvojče</a:t>
            </a:r>
            <a:endParaRPr lang="cs-CZ" sz="1800" dirty="0"/>
          </a:p>
        </p:txBody>
      </p:sp>
      <p:sp>
        <p:nvSpPr>
          <p:cNvPr id="14" name="chytré text 3"/>
          <p:cNvSpPr txBox="1"/>
          <p:nvPr/>
        </p:nvSpPr>
        <p:spPr>
          <a:xfrm>
            <a:off x="1508760" y="3950208"/>
            <a:ext cx="5806440" cy="548640"/>
          </a:xfrm>
          <a:prstGeom prst="rect">
            <a:avLst/>
          </a:prstGeom>
          <a:noFill/>
          <a:ln/>
        </p:spPr>
        <p:txBody>
          <a:bodyPr wrap="square" lIns="0" tIns="0" rIns="0" bIns="0" rtlCol="0" anchor="t"/>
          <a:lstStyle/>
          <a:p>
            <a:pPr indent="0" marL="0">
              <a:buNone/>
            </a:pPr>
            <a:r>
              <a:rPr lang="cs-CZ" sz="1400" dirty="0">
                <a:solidFill>
                  <a:schemeClr val="tx2"/>
                </a:solidFill>
              </a:rPr>
              <a:t>Celý proces se nejdřív nasimuluje v počítači, takže nedojde ke kolizi</a:t>
            </a:r>
            <a:endParaRPr lang="cs-CZ" sz="1400" dirty="0"/>
          </a:p>
        </p:txBody>
      </p:sp>
      <p:sp>
        <p:nvSpPr>
          <p:cNvPr id="15" name="mýtus karta"/>
          <p:cNvSpPr/>
          <p:nvPr/>
        </p:nvSpPr>
        <p:spPr>
          <a:xfrm>
            <a:off x="548640" y="4709160"/>
            <a:ext cx="6793992" cy="1325880"/>
          </a:xfrm>
          <a:prstGeom prst="roundRect">
            <a:avLst>
              <a:gd name="adj" fmla="val 8276"/>
            </a:avLst>
          </a:prstGeom>
          <a:solidFill>
            <a:schemeClr val="tx1"/>
          </a:solidFill>
          <a:ln/>
        </p:spPr>
      </p:sp>
      <p:sp>
        <p:nvSpPr>
          <p:cNvPr id="16" name="mýtus štítek"/>
          <p:cNvSpPr txBox="1"/>
          <p:nvPr/>
        </p:nvSpPr>
        <p:spPr>
          <a:xfrm>
            <a:off x="822960" y="4846320"/>
            <a:ext cx="2926080" cy="274320"/>
          </a:xfrm>
          <a:prstGeom prst="rect">
            <a:avLst/>
          </a:prstGeom>
          <a:noFill/>
          <a:ln/>
        </p:spPr>
        <p:txBody>
          <a:bodyPr wrap="square" lIns="0" tIns="0" rIns="0" bIns="0" rtlCol="0" anchor="t"/>
          <a:lstStyle/>
          <a:p>
            <a:pPr indent="0" marL="0">
              <a:buNone/>
            </a:pPr>
            <a:r>
              <a:rPr lang="cs-CZ" sz="1200" b="1" spc="200" kern="0" dirty="0">
                <a:solidFill>
                  <a:schemeClr val="accent3"/>
                </a:solidFill>
              </a:rPr>
              <a:t>MÝTUS</a:t>
            </a:r>
            <a:endParaRPr lang="cs-CZ" sz="1200" dirty="0"/>
          </a:p>
        </p:txBody>
      </p:sp>
      <p:sp>
        <p:nvSpPr>
          <p:cNvPr id="17" name="mýtus text"/>
          <p:cNvSpPr txBox="1"/>
          <p:nvPr/>
        </p:nvSpPr>
        <p:spPr>
          <a:xfrm>
            <a:off x="822960" y="5138928"/>
            <a:ext cx="3017520" cy="822960"/>
          </a:xfrm>
          <a:prstGeom prst="rect">
            <a:avLst/>
          </a:prstGeom>
          <a:noFill/>
          <a:ln/>
        </p:spPr>
        <p:txBody>
          <a:bodyPr wrap="square" lIns="0" tIns="0" rIns="0" bIns="0" rtlCol="0" anchor="t"/>
          <a:lstStyle/>
          <a:p>
            <a:pPr indent="0" marL="0">
              <a:buNone/>
            </a:pPr>
            <a:r>
              <a:rPr lang="cs-CZ" sz="1400" i="1" dirty="0">
                <a:solidFill>
                  <a:schemeClr val="bg1"/>
                </a:solidFill>
              </a:rPr>
              <a:t>„AI pozná zlomek sekundy předem, že se nůž zlomí.“</a:t>
            </a:r>
            <a:endParaRPr lang="cs-CZ" sz="1400" dirty="0"/>
          </a:p>
        </p:txBody>
      </p:sp>
      <p:sp>
        <p:nvSpPr>
          <p:cNvPr id="18" name="realita štítek"/>
          <p:cNvSpPr txBox="1"/>
          <p:nvPr/>
        </p:nvSpPr>
        <p:spPr>
          <a:xfrm>
            <a:off x="4069080" y="4846320"/>
            <a:ext cx="3017520" cy="274320"/>
          </a:xfrm>
          <a:prstGeom prst="rect">
            <a:avLst/>
          </a:prstGeom>
          <a:noFill/>
          <a:ln/>
        </p:spPr>
        <p:txBody>
          <a:bodyPr wrap="square" lIns="0" tIns="0" rIns="0" bIns="0" rtlCol="0" anchor="t"/>
          <a:lstStyle/>
          <a:p>
            <a:pPr indent="0" marL="0">
              <a:buNone/>
            </a:pPr>
            <a:r>
              <a:rPr lang="cs-CZ" sz="1200" b="1" spc="200" kern="0" dirty="0">
                <a:solidFill>
                  <a:schemeClr val="accent1"/>
                </a:solidFill>
              </a:rPr>
              <a:t>REALITA</a:t>
            </a:r>
            <a:endParaRPr lang="cs-CZ" sz="1200" dirty="0"/>
          </a:p>
        </p:txBody>
      </p:sp>
      <p:sp>
        <p:nvSpPr>
          <p:cNvPr id="19" name="realita text"/>
          <p:cNvSpPr txBox="1"/>
          <p:nvPr/>
        </p:nvSpPr>
        <p:spPr>
          <a:xfrm>
            <a:off x="4069080" y="5138928"/>
            <a:ext cx="3063240" cy="822960"/>
          </a:xfrm>
          <a:prstGeom prst="rect">
            <a:avLst/>
          </a:prstGeom>
          <a:noFill/>
          <a:ln/>
        </p:spPr>
        <p:txBody>
          <a:bodyPr wrap="square" lIns="0" tIns="0" rIns="0" bIns="0" rtlCol="0" anchor="t"/>
          <a:lstStyle/>
          <a:p>
            <a:pPr indent="0" marL="0">
              <a:buNone/>
            </a:pPr>
            <a:r>
              <a:rPr lang="cs-CZ" sz="1400" dirty="0">
                <a:solidFill>
                  <a:schemeClr val="bg1"/>
                </a:solidFill>
              </a:rPr>
              <a:t>Hlavně se sleduje opotřebení a zlom se rychle detekuje.</a:t>
            </a:r>
            <a:endParaRPr lang="cs-CZ" sz="1400" dirty="0"/>
          </a:p>
        </p:txBody>
      </p:sp>
      <p:sp>
        <p:nvSpPr>
          <p:cNvPr id="20" name="Místo na obrázek – pozadí"/>
          <p:cNvSpPr/>
          <p:nvPr/>
        </p:nvSpPr>
        <p:spPr>
          <a:xfrm>
            <a:off x="7708392" y="1463040"/>
            <a:ext cx="3931920" cy="3611880"/>
          </a:xfrm>
          <a:prstGeom prst="rect">
            <a:avLst/>
          </a:prstGeom>
          <a:solidFill>
            <a:schemeClr val="bg2"/>
          </a:solidFill>
          <a:ln/>
        </p:spPr>
      </p:sp>
      <p:sp>
        <p:nvSpPr>
          <p:cNvPr id="21" name="Místo na obrázek – kruh"/>
          <p:cNvSpPr/>
          <p:nvPr/>
        </p:nvSpPr>
        <p:spPr>
          <a:xfrm>
            <a:off x="9132570" y="1932584"/>
            <a:ext cx="1083564" cy="1083564"/>
          </a:xfrm>
          <a:prstGeom prst="ellipse">
            <a:avLst/>
          </a:prstGeom>
          <a:solidFill>
            <a:schemeClr val="bg1"/>
          </a:solidFill>
          <a:ln/>
        </p:spPr>
      </p:sp>
      <p:pic>
        <p:nvPicPr>
          <p:cNvPr id="22" name="Místo na obrázek – ikona" descr="ilustrační ikona">    </p:cNvPr>
          <p:cNvPicPr>
            <a:picLocks noChangeAspect="1"/>
          </p:cNvPicPr>
          <p:nvPr/>
        </p:nvPicPr>
        <p:blipFill>
          <a:blip r:embed="rId4"/>
          <a:stretch>
            <a:fillRect/>
          </a:stretch>
        </p:blipFill>
        <p:spPr>
          <a:xfrm>
            <a:off x="9360118" y="2160133"/>
            <a:ext cx="628467" cy="628467"/>
          </a:xfrm>
          <a:prstGeom prst="rect">
            <a:avLst/>
          </a:prstGeom>
        </p:spPr>
      </p:pic>
      <p:sp>
        <p:nvSpPr>
          <p:cNvPr id="23" name="Text 0"/>
          <p:cNvSpPr/>
          <p:nvPr>
            <p:ph type="pic" idx="100" hasCustomPrompt="1"/>
          </p:nvPr>
        </p:nvSpPr>
        <p:spPr>
          <a:xfrm>
            <a:off x="7708392" y="1463040"/>
            <a:ext cx="3931920" cy="3611880"/>
          </a:xfrm>
          <a:prstGeom prst="rect">
            <a:avLst/>
          </a:prstGeom>
          <a:noFill/>
          <a:ln/>
        </p:spPr>
        <p:txBody>
          <a:bodyPr wrap="square" lIns="152400" tIns="152400" rIns="152400" bIns="152400" rtlCol="0" anchor="b"/>
          <a:lstStyle/>
          <a:p>
            <a:pPr algn="ctr" indent="0" marL="0">
              <a:buNone/>
            </a:pPr>
            <a:endParaRPr lang="cs-CZ" sz="1400" dirty="0"/>
          </a:p>
        </p:txBody>
      </p:sp>
      <p:sp>
        <p:nvSpPr>
          <p:cNvPr id="24" name="Text 0"/>
          <p:cNvSpPr/>
          <p:nvPr>
            <p:ph idx="101" type="body" hasCustomPrompt="1"/>
          </p:nvPr>
        </p:nvSpPr>
        <p:spPr>
          <a:xfrm>
            <a:off x="7708392" y="5138928"/>
            <a:ext cx="3931920" cy="256032"/>
          </a:xfrm>
          <a:prstGeom prst="rect">
            <a:avLst/>
          </a:prstGeom>
          <a:noFill/>
          <a:ln/>
        </p:spPr>
        <p:txBody>
          <a:bodyPr wrap="square" lIns="0" tIns="0" rIns="0" bIns="0" rtlCol="0" anchor="t"/>
          <a:lstStyle/>
          <a:p>
            <a:pPr indent="0" marL="0">
              <a:buNone/>
            </a:pPr>
            <a:endParaRPr lang="cs-CZ" sz="1000" dirty="0"/>
          </a:p>
        </p:txBody>
      </p:sp>
      <p:sp>
        <p:nvSpPr>
          <p:cNvPr id="25" name="Tlačítko videa">
            <a:hlinkClick r:id="rId5" tooltip="Otevřít video"/>
          </p:cNvPr>
          <p:cNvSpPr/>
          <p:nvPr/>
        </p:nvSpPr>
        <p:spPr>
          <a:xfrm>
            <a:off x="7708392" y="5532120"/>
            <a:ext cx="3931920" cy="502920"/>
          </a:xfrm>
          <a:prstGeom prst="roundRect">
            <a:avLst>
              <a:gd name="adj" fmla="val 50000"/>
            </a:avLst>
          </a:prstGeom>
          <a:solidFill>
            <a:schemeClr val="tx1"/>
          </a:solidFill>
          <a:ln/>
        </p:spPr>
      </p:sp>
      <p:pic>
        <p:nvPicPr>
          <p:cNvPr id="26" name="Tlačítko videa – play" descr="Přehrát video">
            <a:hlinkClick r:id="rId7" tooltip="Otevřít video"/>
          </p:cNvPr>
          <p:cNvPicPr>
            <a:picLocks noChangeAspect="1"/>
          </p:cNvPicPr>
          <p:nvPr/>
        </p:nvPicPr>
        <p:blipFill>
          <a:blip r:embed="rId6"/>
          <a:stretch>
            <a:fillRect/>
          </a:stretch>
        </p:blipFill>
        <p:spPr>
          <a:xfrm>
            <a:off x="7790688" y="5600700"/>
            <a:ext cx="365760" cy="365760"/>
          </a:xfrm>
          <a:prstGeom prst="rect">
            <a:avLst/>
          </a:prstGeom>
        </p:spPr>
      </p:pic>
      <p:sp>
        <p:nvSpPr>
          <p:cNvPr id="27" name="Tlačítko videa – text"/>
          <p:cNvSpPr txBox="1"/>
          <p:nvPr/>
        </p:nvSpPr>
        <p:spPr>
          <a:xfrm>
            <a:off x="8275320" y="5532120"/>
            <a:ext cx="3200400" cy="502920"/>
          </a:xfrm>
          <a:prstGeom prst="rect">
            <a:avLst/>
          </a:prstGeom>
          <a:noFill/>
          <a:ln/>
        </p:spPr>
        <p:txBody>
          <a:bodyPr wrap="square" lIns="0" tIns="0" rIns="0" bIns="0" rtlCol="0" anchor="ctr"/>
          <a:lstStyle/>
          <a:p>
            <a:pPr indent="0" marL="0">
              <a:buNone/>
            </a:pPr>
            <a:r>
              <a:rPr lang="cs-CZ" sz="1400" u="sng" dirty="0">
                <a:solidFill>
                  <a:schemeClr val="bg1"/>
                </a:solidFill>
                <a:hlinkClick r:id="rId8" invalidUrl="" action="" tgtFrame="" tooltip="Otevřít video" history="1" highlightClick="0" endSnd="0">
                  <a:extLst>
                    <a:ext uri="{A12FA001-AC4F-418D-AE19-62706E023703}">
                      <ahyp:hlinkClr xmlns:ahyp="http://schemas.microsoft.com/office/drawing/2018/hyperlinkcolor" val="tx"/>
                    </a:ext>
                  </a:extLst>
                </a:hlinkClick>
              </a:rPr>
              <a:t>Video: chytrý nůž CoroTurn Plus</a:t>
            </a:r>
            <a:endParaRPr lang="cs-CZ"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6</a:t>
            </a:fld>
            <a:endParaRPr lang="cs-CZ"/>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5 · Ultrazvukem asistované soustružení</a:t>
            </a:r>
            <a:endParaRPr lang="cs-CZ" sz="3400" dirty="0"/>
          </a:p>
        </p:txBody>
      </p:sp>
      <p:sp>
        <p:nvSpPr>
          <p:cNvPr id="3" name="údaje karta"/>
          <p:cNvSpPr/>
          <p:nvPr/>
        </p:nvSpPr>
        <p:spPr>
          <a:xfrm>
            <a:off x="548640" y="1463040"/>
            <a:ext cx="6793992" cy="1325880"/>
          </a:xfrm>
          <a:prstGeom prst="roundRect">
            <a:avLst>
              <a:gd name="adj" fmla="val 8276"/>
            </a:avLst>
          </a:prstGeom>
          <a:solidFill>
            <a:schemeClr val="tx1"/>
          </a:solidFill>
          <a:ln/>
        </p:spPr>
      </p:sp>
      <p:sp>
        <p:nvSpPr>
          <p:cNvPr id="4" name="vlnění ikona – kruh"/>
          <p:cNvSpPr/>
          <p:nvPr/>
        </p:nvSpPr>
        <p:spPr>
          <a:xfrm>
            <a:off x="777240" y="1783080"/>
            <a:ext cx="685800" cy="685800"/>
          </a:xfrm>
          <a:prstGeom prst="ellipse">
            <a:avLst/>
          </a:prstGeom>
          <a:solidFill>
            <a:schemeClr val="accent1"/>
          </a:solidFill>
          <a:ln/>
        </p:spPr>
      </p:sp>
      <p:pic>
        <p:nvPicPr>
          <p:cNvPr id="5" name="vlnění ikona" descr="vlnění ikona">    </p:cNvPr>
          <p:cNvPicPr>
            <a:picLocks noChangeAspect="1"/>
          </p:cNvPicPr>
          <p:nvPr/>
        </p:nvPicPr>
        <p:blipFill>
          <a:blip r:embed="rId1"/>
          <a:stretch>
            <a:fillRect/>
          </a:stretch>
        </p:blipFill>
        <p:spPr>
          <a:xfrm>
            <a:off x="928116" y="1933956"/>
            <a:ext cx="384048" cy="384048"/>
          </a:xfrm>
          <a:prstGeom prst="rect">
            <a:avLst/>
          </a:prstGeom>
        </p:spPr>
      </p:pic>
      <p:sp>
        <p:nvSpPr>
          <p:cNvPr id="6" name="frekvence hodnota"/>
          <p:cNvSpPr txBox="1"/>
          <p:nvPr/>
        </p:nvSpPr>
        <p:spPr>
          <a:xfrm>
            <a:off x="1737360" y="1554480"/>
            <a:ext cx="2651760" cy="548640"/>
          </a:xfrm>
          <a:prstGeom prst="rect">
            <a:avLst/>
          </a:prstGeom>
          <a:noFill/>
          <a:ln/>
        </p:spPr>
        <p:txBody>
          <a:bodyPr wrap="square" lIns="0" tIns="0" rIns="0" bIns="0" rtlCol="0" anchor="t"/>
          <a:lstStyle/>
          <a:p>
            <a:pPr indent="0" marL="0">
              <a:buNone/>
            </a:pPr>
            <a:r>
              <a:rPr lang="cs-CZ" sz="3000" b="1" dirty="0">
                <a:solidFill>
                  <a:schemeClr val="accent1"/>
                </a:solidFill>
                <a:latin typeface="Arial" pitchFamily="34" charset="0"/>
                <a:ea typeface="Arial" pitchFamily="34" charset="-122"/>
                <a:cs typeface="Arial" pitchFamily="34" charset="-120"/>
              </a:rPr>
              <a:t>20–40 kHz</a:t>
            </a:r>
            <a:endParaRPr lang="cs-CZ" sz="3000" dirty="0"/>
          </a:p>
        </p:txBody>
      </p:sp>
      <p:sp>
        <p:nvSpPr>
          <p:cNvPr id="7" name="frekvence popis"/>
          <p:cNvSpPr txBox="1"/>
          <p:nvPr/>
        </p:nvSpPr>
        <p:spPr>
          <a:xfrm>
            <a:off x="1737360" y="2121408"/>
            <a:ext cx="2651760" cy="548640"/>
          </a:xfrm>
          <a:prstGeom prst="rect">
            <a:avLst/>
          </a:prstGeom>
          <a:noFill/>
          <a:ln/>
        </p:spPr>
        <p:txBody>
          <a:bodyPr wrap="square" lIns="0" tIns="0" rIns="0" bIns="0" rtlCol="0" anchor="t"/>
          <a:lstStyle/>
          <a:p>
            <a:pPr indent="0" marL="0">
              <a:buNone/>
            </a:pPr>
            <a:r>
              <a:rPr lang="cs-CZ" sz="1400" dirty="0">
                <a:solidFill>
                  <a:schemeClr val="bg1"/>
                </a:solidFill>
              </a:rPr>
              <a:t>20 000–40 000 kmitů za sekundu</a:t>
            </a:r>
            <a:endParaRPr lang="cs-CZ" sz="1400" dirty="0"/>
          </a:p>
        </p:txBody>
      </p:sp>
      <p:sp>
        <p:nvSpPr>
          <p:cNvPr id="8" name="amplituda hodnota"/>
          <p:cNvSpPr txBox="1"/>
          <p:nvPr/>
        </p:nvSpPr>
        <p:spPr>
          <a:xfrm>
            <a:off x="4572000" y="1554480"/>
            <a:ext cx="2606040" cy="548640"/>
          </a:xfrm>
          <a:prstGeom prst="rect">
            <a:avLst/>
          </a:prstGeom>
          <a:noFill/>
          <a:ln/>
        </p:spPr>
        <p:txBody>
          <a:bodyPr wrap="square" lIns="0" tIns="0" rIns="0" bIns="0" rtlCol="0" anchor="t"/>
          <a:lstStyle/>
          <a:p>
            <a:pPr indent="0" marL="0">
              <a:buNone/>
            </a:pPr>
            <a:r>
              <a:rPr lang="cs-CZ" sz="3000" b="1" dirty="0">
                <a:solidFill>
                  <a:schemeClr val="accent1"/>
                </a:solidFill>
                <a:latin typeface="Arial" pitchFamily="34" charset="0"/>
                <a:ea typeface="Arial" pitchFamily="34" charset="-122"/>
                <a:cs typeface="Arial" pitchFamily="34" charset="-120"/>
              </a:rPr>
              <a:t>pár µm</a:t>
            </a:r>
            <a:endParaRPr lang="cs-CZ" sz="3000" dirty="0"/>
          </a:p>
        </p:txBody>
      </p:sp>
      <p:sp>
        <p:nvSpPr>
          <p:cNvPr id="9" name="amplituda popis"/>
          <p:cNvSpPr txBox="1"/>
          <p:nvPr/>
        </p:nvSpPr>
        <p:spPr>
          <a:xfrm>
            <a:off x="4572000" y="2121408"/>
            <a:ext cx="2606040" cy="548640"/>
          </a:xfrm>
          <a:prstGeom prst="rect">
            <a:avLst/>
          </a:prstGeom>
          <a:noFill/>
          <a:ln/>
        </p:spPr>
        <p:txBody>
          <a:bodyPr wrap="square" lIns="0" tIns="0" rIns="0" bIns="0" rtlCol="0" anchor="t"/>
          <a:lstStyle/>
          <a:p>
            <a:pPr indent="0" marL="0">
              <a:buNone/>
            </a:pPr>
            <a:r>
              <a:rPr lang="cs-CZ" sz="1400" dirty="0">
                <a:solidFill>
                  <a:schemeClr val="bg1"/>
                </a:solidFill>
              </a:rPr>
              <a:t>amplituda kmitu – tenčí než vlas</a:t>
            </a:r>
            <a:endParaRPr lang="cs-CZ" sz="1400" dirty="0"/>
          </a:p>
        </p:txBody>
      </p:sp>
      <p:sp>
        <p:nvSpPr>
          <p:cNvPr id="10" name="princip nadpis"/>
          <p:cNvSpPr txBox="1"/>
          <p:nvPr/>
        </p:nvSpPr>
        <p:spPr>
          <a:xfrm>
            <a:off x="548640" y="3017520"/>
            <a:ext cx="6793992" cy="384048"/>
          </a:xfrm>
          <a:prstGeom prst="rect">
            <a:avLst/>
          </a:prstGeom>
          <a:noFill/>
          <a:ln/>
        </p:spPr>
        <p:txBody>
          <a:bodyPr wrap="square" lIns="0" tIns="0" rIns="0" bIns="0" rtlCol="0" anchor="t"/>
          <a:lstStyle/>
          <a:p>
            <a:pPr indent="0" marL="0">
              <a:buNone/>
            </a:pPr>
            <a:r>
              <a:rPr lang="cs-CZ" sz="1800" b="1" dirty="0">
                <a:solidFill>
                  <a:schemeClr val="tx1"/>
                </a:solidFill>
              </a:rPr>
              <a:t>Jak to funguje</a:t>
            </a:r>
            <a:endParaRPr lang="cs-CZ" sz="1800" dirty="0"/>
          </a:p>
        </p:txBody>
      </p:sp>
      <p:sp>
        <p:nvSpPr>
          <p:cNvPr id="11" name="číslo kruh 1"/>
          <p:cNvSpPr/>
          <p:nvPr/>
        </p:nvSpPr>
        <p:spPr>
          <a:xfrm>
            <a:off x="548640" y="3474720"/>
            <a:ext cx="384048" cy="384048"/>
          </a:xfrm>
          <a:prstGeom prst="ellipse">
            <a:avLst/>
          </a:prstGeom>
          <a:solidFill>
            <a:schemeClr val="bg2"/>
          </a:solidFill>
          <a:ln/>
        </p:spPr>
      </p:sp>
      <p:sp>
        <p:nvSpPr>
          <p:cNvPr id="12" name="číslo 1"/>
          <p:cNvSpPr txBox="1"/>
          <p:nvPr/>
        </p:nvSpPr>
        <p:spPr>
          <a:xfrm>
            <a:off x="548640" y="3474720"/>
            <a:ext cx="384048" cy="384048"/>
          </a:xfrm>
          <a:prstGeom prst="rect">
            <a:avLst/>
          </a:prstGeom>
          <a:noFill/>
          <a:ln/>
        </p:spPr>
        <p:txBody>
          <a:bodyPr wrap="square" lIns="0" tIns="0" rIns="0" bIns="0" rtlCol="0" anchor="ctr"/>
          <a:lstStyle/>
          <a:p>
            <a:pPr algn="ctr" indent="0" marL="0">
              <a:buNone/>
            </a:pPr>
            <a:r>
              <a:rPr lang="cs-CZ" sz="1400" b="1" dirty="0">
                <a:solidFill>
                  <a:schemeClr val="accent1"/>
                </a:solidFill>
              </a:rPr>
              <a:t>1</a:t>
            </a:r>
            <a:endParaRPr lang="cs-CZ" sz="1400" dirty="0"/>
          </a:p>
        </p:txBody>
      </p:sp>
      <p:sp>
        <p:nvSpPr>
          <p:cNvPr id="13" name="princip 1"/>
          <p:cNvSpPr txBox="1"/>
          <p:nvPr/>
        </p:nvSpPr>
        <p:spPr>
          <a:xfrm>
            <a:off x="1097280" y="3474720"/>
            <a:ext cx="6217920" cy="384048"/>
          </a:xfrm>
          <a:prstGeom prst="rect">
            <a:avLst/>
          </a:prstGeom>
          <a:noFill/>
          <a:ln/>
        </p:spPr>
        <p:txBody>
          <a:bodyPr wrap="square" lIns="0" tIns="0" rIns="0" bIns="0" rtlCol="0" anchor="ctr"/>
          <a:lstStyle/>
          <a:p>
            <a:pPr indent="0" marL="0">
              <a:buNone/>
            </a:pPr>
            <a:r>
              <a:rPr lang="cs-CZ" sz="1400" dirty="0">
                <a:solidFill>
                  <a:schemeClr val="tx2"/>
                </a:solidFill>
              </a:rPr>
              <a:t>Piezo měnič rozkmitá nůž na ultrazvukové frekvenci</a:t>
            </a:r>
            <a:endParaRPr lang="cs-CZ" sz="1400" dirty="0"/>
          </a:p>
        </p:txBody>
      </p:sp>
      <p:sp>
        <p:nvSpPr>
          <p:cNvPr id="14" name="číslo kruh 2"/>
          <p:cNvSpPr/>
          <p:nvPr/>
        </p:nvSpPr>
        <p:spPr>
          <a:xfrm>
            <a:off x="548640" y="3977640"/>
            <a:ext cx="384048" cy="384048"/>
          </a:xfrm>
          <a:prstGeom prst="ellipse">
            <a:avLst/>
          </a:prstGeom>
          <a:solidFill>
            <a:schemeClr val="bg2"/>
          </a:solidFill>
          <a:ln/>
        </p:spPr>
      </p:sp>
      <p:sp>
        <p:nvSpPr>
          <p:cNvPr id="15" name="číslo 2"/>
          <p:cNvSpPr txBox="1"/>
          <p:nvPr/>
        </p:nvSpPr>
        <p:spPr>
          <a:xfrm>
            <a:off x="548640" y="3977640"/>
            <a:ext cx="384048" cy="384048"/>
          </a:xfrm>
          <a:prstGeom prst="rect">
            <a:avLst/>
          </a:prstGeom>
          <a:noFill/>
          <a:ln/>
        </p:spPr>
        <p:txBody>
          <a:bodyPr wrap="square" lIns="0" tIns="0" rIns="0" bIns="0" rtlCol="0" anchor="ctr"/>
          <a:lstStyle/>
          <a:p>
            <a:pPr algn="ctr" indent="0" marL="0">
              <a:buNone/>
            </a:pPr>
            <a:r>
              <a:rPr lang="cs-CZ" sz="1400" b="1" dirty="0">
                <a:solidFill>
                  <a:schemeClr val="accent1"/>
                </a:solidFill>
              </a:rPr>
              <a:t>2</a:t>
            </a:r>
            <a:endParaRPr lang="cs-CZ" sz="1400" dirty="0"/>
          </a:p>
        </p:txBody>
      </p:sp>
      <p:sp>
        <p:nvSpPr>
          <p:cNvPr id="16" name="princip 2"/>
          <p:cNvSpPr txBox="1"/>
          <p:nvPr/>
        </p:nvSpPr>
        <p:spPr>
          <a:xfrm>
            <a:off x="1097280" y="3977640"/>
            <a:ext cx="6217920" cy="384048"/>
          </a:xfrm>
          <a:prstGeom prst="rect">
            <a:avLst/>
          </a:prstGeom>
          <a:noFill/>
          <a:ln/>
        </p:spPr>
        <p:txBody>
          <a:bodyPr wrap="square" lIns="0" tIns="0" rIns="0" bIns="0" rtlCol="0" anchor="ctr"/>
          <a:lstStyle/>
          <a:p>
            <a:pPr indent="0" marL="0">
              <a:buNone/>
            </a:pPr>
            <a:r>
              <a:rPr lang="cs-CZ" sz="1400" dirty="0">
                <a:solidFill>
                  <a:schemeClr val="tx2"/>
                </a:solidFill>
              </a:rPr>
              <a:t>Nůž se nepatrně odtahuje → menší tření a teplo</a:t>
            </a:r>
            <a:endParaRPr lang="cs-CZ" sz="1400" dirty="0"/>
          </a:p>
        </p:txBody>
      </p:sp>
      <p:sp>
        <p:nvSpPr>
          <p:cNvPr id="17" name="číslo kruh 3"/>
          <p:cNvSpPr/>
          <p:nvPr/>
        </p:nvSpPr>
        <p:spPr>
          <a:xfrm>
            <a:off x="548640" y="4480560"/>
            <a:ext cx="384048" cy="384048"/>
          </a:xfrm>
          <a:prstGeom prst="ellipse">
            <a:avLst/>
          </a:prstGeom>
          <a:solidFill>
            <a:schemeClr val="bg2"/>
          </a:solidFill>
          <a:ln/>
        </p:spPr>
      </p:sp>
      <p:sp>
        <p:nvSpPr>
          <p:cNvPr id="18" name="číslo 3"/>
          <p:cNvSpPr txBox="1"/>
          <p:nvPr/>
        </p:nvSpPr>
        <p:spPr>
          <a:xfrm>
            <a:off x="548640" y="4480560"/>
            <a:ext cx="384048" cy="384048"/>
          </a:xfrm>
          <a:prstGeom prst="rect">
            <a:avLst/>
          </a:prstGeom>
          <a:noFill/>
          <a:ln/>
        </p:spPr>
        <p:txBody>
          <a:bodyPr wrap="square" lIns="0" tIns="0" rIns="0" bIns="0" rtlCol="0" anchor="ctr"/>
          <a:lstStyle/>
          <a:p>
            <a:pPr algn="ctr" indent="0" marL="0">
              <a:buNone/>
            </a:pPr>
            <a:r>
              <a:rPr lang="cs-CZ" sz="1400" b="1" dirty="0">
                <a:solidFill>
                  <a:schemeClr val="accent1"/>
                </a:solidFill>
              </a:rPr>
              <a:t>3</a:t>
            </a:r>
            <a:endParaRPr lang="cs-CZ" sz="1400" dirty="0"/>
          </a:p>
        </p:txBody>
      </p:sp>
      <p:sp>
        <p:nvSpPr>
          <p:cNvPr id="19" name="princip 3"/>
          <p:cNvSpPr txBox="1"/>
          <p:nvPr/>
        </p:nvSpPr>
        <p:spPr>
          <a:xfrm>
            <a:off x="1097280" y="4480560"/>
            <a:ext cx="6217920" cy="384048"/>
          </a:xfrm>
          <a:prstGeom prst="rect">
            <a:avLst/>
          </a:prstGeom>
          <a:noFill/>
          <a:ln/>
        </p:spPr>
        <p:txBody>
          <a:bodyPr wrap="square" lIns="0" tIns="0" rIns="0" bIns="0" rtlCol="0" anchor="ctr"/>
          <a:lstStyle/>
          <a:p>
            <a:pPr indent="0" marL="0">
              <a:buNone/>
            </a:pPr>
            <a:r>
              <a:rPr lang="cs-CZ" sz="1400" dirty="0">
                <a:solidFill>
                  <a:schemeClr val="tx2"/>
                </a:solidFill>
              </a:rPr>
              <a:t>Řezné síly klesnou a křehký materiál nepraská</a:t>
            </a:r>
            <a:endParaRPr lang="cs-CZ" sz="1400" dirty="0"/>
          </a:p>
        </p:txBody>
      </p:sp>
      <p:sp>
        <p:nvSpPr>
          <p:cNvPr id="20" name="materiály nadpis"/>
          <p:cNvSpPr txBox="1"/>
          <p:nvPr/>
        </p:nvSpPr>
        <p:spPr>
          <a:xfrm>
            <a:off x="548640" y="5029200"/>
            <a:ext cx="6793992" cy="384048"/>
          </a:xfrm>
          <a:prstGeom prst="rect">
            <a:avLst/>
          </a:prstGeom>
          <a:noFill/>
          <a:ln/>
        </p:spPr>
        <p:txBody>
          <a:bodyPr wrap="square" lIns="0" tIns="0" rIns="0" bIns="0" rtlCol="0" anchor="t"/>
          <a:lstStyle/>
          <a:p>
            <a:pPr indent="0" marL="0">
              <a:buNone/>
            </a:pPr>
            <a:r>
              <a:rPr lang="cs-CZ" sz="1800" b="1" dirty="0">
                <a:solidFill>
                  <a:schemeClr val="tx1"/>
                </a:solidFill>
              </a:rPr>
              <a:t>Co jde obrábět</a:t>
            </a:r>
            <a:endParaRPr lang="cs-CZ" sz="1800" dirty="0"/>
          </a:p>
        </p:txBody>
      </p:sp>
      <p:sp>
        <p:nvSpPr>
          <p:cNvPr id="21" name="štítek Keramika"/>
          <p:cNvSpPr/>
          <p:nvPr/>
        </p:nvSpPr>
        <p:spPr>
          <a:xfrm>
            <a:off x="548640" y="5504688"/>
            <a:ext cx="1188720" cy="438912"/>
          </a:xfrm>
          <a:prstGeom prst="roundRect">
            <a:avLst>
              <a:gd name="adj" fmla="val 50000"/>
            </a:avLst>
          </a:prstGeom>
          <a:solidFill>
            <a:schemeClr val="bg2"/>
          </a:solidFill>
          <a:ln/>
        </p:spPr>
      </p:sp>
      <p:sp>
        <p:nvSpPr>
          <p:cNvPr id="22" name="štítek text Keramika"/>
          <p:cNvSpPr txBox="1"/>
          <p:nvPr/>
        </p:nvSpPr>
        <p:spPr>
          <a:xfrm>
            <a:off x="548640" y="5504688"/>
            <a:ext cx="1188720" cy="438912"/>
          </a:xfrm>
          <a:prstGeom prst="rect">
            <a:avLst/>
          </a:prstGeom>
          <a:noFill/>
          <a:ln/>
        </p:spPr>
        <p:txBody>
          <a:bodyPr wrap="square" lIns="0" tIns="0" rIns="0" bIns="0" rtlCol="0" anchor="ctr"/>
          <a:lstStyle/>
          <a:p>
            <a:pPr algn="ctr" indent="0" marL="0">
              <a:buNone/>
            </a:pPr>
            <a:r>
              <a:rPr lang="cs-CZ" sz="1400" dirty="0">
                <a:solidFill>
                  <a:schemeClr val="tx1"/>
                </a:solidFill>
              </a:rPr>
              <a:t>Keramika</a:t>
            </a:r>
            <a:endParaRPr lang="cs-CZ" sz="1400" dirty="0"/>
          </a:p>
        </p:txBody>
      </p:sp>
      <p:sp>
        <p:nvSpPr>
          <p:cNvPr id="23" name="štítek Sklo"/>
          <p:cNvSpPr/>
          <p:nvPr/>
        </p:nvSpPr>
        <p:spPr>
          <a:xfrm>
            <a:off x="1847088" y="5504688"/>
            <a:ext cx="731520" cy="438912"/>
          </a:xfrm>
          <a:prstGeom prst="roundRect">
            <a:avLst>
              <a:gd name="adj" fmla="val 50000"/>
            </a:avLst>
          </a:prstGeom>
          <a:solidFill>
            <a:schemeClr val="bg2"/>
          </a:solidFill>
          <a:ln/>
        </p:spPr>
      </p:sp>
      <p:sp>
        <p:nvSpPr>
          <p:cNvPr id="24" name="štítek text Sklo"/>
          <p:cNvSpPr txBox="1"/>
          <p:nvPr/>
        </p:nvSpPr>
        <p:spPr>
          <a:xfrm>
            <a:off x="1847088" y="5504688"/>
            <a:ext cx="731520" cy="438912"/>
          </a:xfrm>
          <a:prstGeom prst="rect">
            <a:avLst/>
          </a:prstGeom>
          <a:noFill/>
          <a:ln/>
        </p:spPr>
        <p:txBody>
          <a:bodyPr wrap="square" lIns="0" tIns="0" rIns="0" bIns="0" rtlCol="0" anchor="ctr"/>
          <a:lstStyle/>
          <a:p>
            <a:pPr algn="ctr" indent="0" marL="0">
              <a:buNone/>
            </a:pPr>
            <a:r>
              <a:rPr lang="cs-CZ" sz="1400" dirty="0">
                <a:solidFill>
                  <a:schemeClr val="tx1"/>
                </a:solidFill>
              </a:rPr>
              <a:t>Sklo</a:t>
            </a:r>
            <a:endParaRPr lang="cs-CZ" sz="1400" dirty="0"/>
          </a:p>
        </p:txBody>
      </p:sp>
      <p:sp>
        <p:nvSpPr>
          <p:cNvPr id="25" name="štítek Karbid wolframu"/>
          <p:cNvSpPr/>
          <p:nvPr/>
        </p:nvSpPr>
        <p:spPr>
          <a:xfrm>
            <a:off x="2688336" y="5504688"/>
            <a:ext cx="1737360" cy="438912"/>
          </a:xfrm>
          <a:prstGeom prst="roundRect">
            <a:avLst>
              <a:gd name="adj" fmla="val 50000"/>
            </a:avLst>
          </a:prstGeom>
          <a:solidFill>
            <a:schemeClr val="bg2"/>
          </a:solidFill>
          <a:ln/>
        </p:spPr>
      </p:sp>
      <p:sp>
        <p:nvSpPr>
          <p:cNvPr id="26" name="štítek text Karbid wolframu"/>
          <p:cNvSpPr txBox="1"/>
          <p:nvPr/>
        </p:nvSpPr>
        <p:spPr>
          <a:xfrm>
            <a:off x="2688336" y="5504688"/>
            <a:ext cx="1737360" cy="438912"/>
          </a:xfrm>
          <a:prstGeom prst="rect">
            <a:avLst/>
          </a:prstGeom>
          <a:noFill/>
          <a:ln/>
        </p:spPr>
        <p:txBody>
          <a:bodyPr wrap="square" lIns="0" tIns="0" rIns="0" bIns="0" rtlCol="0" anchor="ctr"/>
          <a:lstStyle/>
          <a:p>
            <a:pPr algn="ctr" indent="0" marL="0">
              <a:buNone/>
            </a:pPr>
            <a:r>
              <a:rPr lang="cs-CZ" sz="1400" dirty="0">
                <a:solidFill>
                  <a:schemeClr val="tx1"/>
                </a:solidFill>
              </a:rPr>
              <a:t>Karbid wolframu</a:t>
            </a:r>
            <a:endParaRPr lang="cs-CZ" sz="1400" dirty="0"/>
          </a:p>
        </p:txBody>
      </p:sp>
      <p:sp>
        <p:nvSpPr>
          <p:cNvPr id="27" name="štítek Titan"/>
          <p:cNvSpPr/>
          <p:nvPr/>
        </p:nvSpPr>
        <p:spPr>
          <a:xfrm>
            <a:off x="4535424" y="5504688"/>
            <a:ext cx="822960" cy="438912"/>
          </a:xfrm>
          <a:prstGeom prst="roundRect">
            <a:avLst>
              <a:gd name="adj" fmla="val 50000"/>
            </a:avLst>
          </a:prstGeom>
          <a:solidFill>
            <a:schemeClr val="bg2"/>
          </a:solidFill>
          <a:ln/>
        </p:spPr>
      </p:sp>
      <p:sp>
        <p:nvSpPr>
          <p:cNvPr id="28" name="štítek text Titan"/>
          <p:cNvSpPr txBox="1"/>
          <p:nvPr/>
        </p:nvSpPr>
        <p:spPr>
          <a:xfrm>
            <a:off x="4535424" y="5504688"/>
            <a:ext cx="822960" cy="438912"/>
          </a:xfrm>
          <a:prstGeom prst="rect">
            <a:avLst/>
          </a:prstGeom>
          <a:noFill/>
          <a:ln/>
        </p:spPr>
        <p:txBody>
          <a:bodyPr wrap="square" lIns="0" tIns="0" rIns="0" bIns="0" rtlCol="0" anchor="ctr"/>
          <a:lstStyle/>
          <a:p>
            <a:pPr algn="ctr" indent="0" marL="0">
              <a:buNone/>
            </a:pPr>
            <a:r>
              <a:rPr lang="cs-CZ" sz="1400" dirty="0">
                <a:solidFill>
                  <a:schemeClr val="tx1"/>
                </a:solidFill>
              </a:rPr>
              <a:t>Titan</a:t>
            </a:r>
            <a:endParaRPr lang="cs-CZ" sz="1400" dirty="0"/>
          </a:p>
        </p:txBody>
      </p:sp>
      <p:sp>
        <p:nvSpPr>
          <p:cNvPr id="29" name="štítek Inconel"/>
          <p:cNvSpPr/>
          <p:nvPr/>
        </p:nvSpPr>
        <p:spPr>
          <a:xfrm>
            <a:off x="5468112" y="5504688"/>
            <a:ext cx="1005840" cy="438912"/>
          </a:xfrm>
          <a:prstGeom prst="roundRect">
            <a:avLst>
              <a:gd name="adj" fmla="val 50000"/>
            </a:avLst>
          </a:prstGeom>
          <a:solidFill>
            <a:schemeClr val="bg2"/>
          </a:solidFill>
          <a:ln/>
        </p:spPr>
      </p:sp>
      <p:sp>
        <p:nvSpPr>
          <p:cNvPr id="30" name="štítek text Inconel"/>
          <p:cNvSpPr txBox="1"/>
          <p:nvPr/>
        </p:nvSpPr>
        <p:spPr>
          <a:xfrm>
            <a:off x="5468112" y="5504688"/>
            <a:ext cx="1005840" cy="438912"/>
          </a:xfrm>
          <a:prstGeom prst="rect">
            <a:avLst/>
          </a:prstGeom>
          <a:noFill/>
          <a:ln/>
        </p:spPr>
        <p:txBody>
          <a:bodyPr wrap="square" lIns="0" tIns="0" rIns="0" bIns="0" rtlCol="0" anchor="ctr"/>
          <a:lstStyle/>
          <a:p>
            <a:pPr algn="ctr" indent="0" marL="0">
              <a:buNone/>
            </a:pPr>
            <a:r>
              <a:rPr lang="cs-CZ" sz="1400" dirty="0">
                <a:solidFill>
                  <a:schemeClr val="tx1"/>
                </a:solidFill>
              </a:rPr>
              <a:t>Inconel</a:t>
            </a:r>
            <a:endParaRPr lang="cs-CZ" sz="1400" dirty="0"/>
          </a:p>
        </p:txBody>
      </p:sp>
      <p:sp>
        <p:nvSpPr>
          <p:cNvPr id="31" name="Místo na obrázek – pozadí"/>
          <p:cNvSpPr/>
          <p:nvPr/>
        </p:nvSpPr>
        <p:spPr>
          <a:xfrm>
            <a:off x="7708392" y="1463040"/>
            <a:ext cx="3931920" cy="3611880"/>
          </a:xfrm>
          <a:prstGeom prst="rect">
            <a:avLst/>
          </a:prstGeom>
          <a:solidFill>
            <a:schemeClr val="bg2"/>
          </a:solidFill>
          <a:ln/>
        </p:spPr>
      </p:sp>
      <p:sp>
        <p:nvSpPr>
          <p:cNvPr id="32" name="Místo na obrázek – kruh"/>
          <p:cNvSpPr/>
          <p:nvPr/>
        </p:nvSpPr>
        <p:spPr>
          <a:xfrm>
            <a:off x="9132570" y="1932584"/>
            <a:ext cx="1083564" cy="1083564"/>
          </a:xfrm>
          <a:prstGeom prst="ellipse">
            <a:avLst/>
          </a:prstGeom>
          <a:solidFill>
            <a:schemeClr val="bg1"/>
          </a:solidFill>
          <a:ln/>
        </p:spPr>
      </p:sp>
      <p:pic>
        <p:nvPicPr>
          <p:cNvPr id="33" name="Místo na obrázek – ikona" descr="ilustrační ikona">    </p:cNvPr>
          <p:cNvPicPr>
            <a:picLocks noChangeAspect="1"/>
          </p:cNvPicPr>
          <p:nvPr/>
        </p:nvPicPr>
        <p:blipFill>
          <a:blip r:embed="rId2"/>
          <a:stretch>
            <a:fillRect/>
          </a:stretch>
        </p:blipFill>
        <p:spPr>
          <a:xfrm>
            <a:off x="9360118" y="2160133"/>
            <a:ext cx="628467" cy="628467"/>
          </a:xfrm>
          <a:prstGeom prst="rect">
            <a:avLst/>
          </a:prstGeom>
        </p:spPr>
      </p:pic>
      <p:sp>
        <p:nvSpPr>
          <p:cNvPr id="34" name="Text 0"/>
          <p:cNvSpPr/>
          <p:nvPr>
            <p:ph type="pic" idx="100" hasCustomPrompt="1"/>
          </p:nvPr>
        </p:nvSpPr>
        <p:spPr>
          <a:xfrm>
            <a:off x="7708392" y="1463040"/>
            <a:ext cx="3931920" cy="3611880"/>
          </a:xfrm>
          <a:prstGeom prst="rect">
            <a:avLst/>
          </a:prstGeom>
          <a:noFill/>
          <a:ln/>
        </p:spPr>
        <p:txBody>
          <a:bodyPr wrap="square" lIns="152400" tIns="152400" rIns="152400" bIns="152400" rtlCol="0" anchor="b"/>
          <a:lstStyle/>
          <a:p>
            <a:pPr algn="ctr" indent="0" marL="0">
              <a:buNone/>
            </a:pPr>
            <a:endParaRPr lang="cs-CZ" sz="1400" dirty="0"/>
          </a:p>
        </p:txBody>
      </p:sp>
      <p:sp>
        <p:nvSpPr>
          <p:cNvPr id="35" name="Text 0"/>
          <p:cNvSpPr/>
          <p:nvPr>
            <p:ph idx="101" type="body" hasCustomPrompt="1"/>
          </p:nvPr>
        </p:nvSpPr>
        <p:spPr>
          <a:xfrm>
            <a:off x="7708392" y="5138928"/>
            <a:ext cx="3931920" cy="256032"/>
          </a:xfrm>
          <a:prstGeom prst="rect">
            <a:avLst/>
          </a:prstGeom>
          <a:noFill/>
          <a:ln/>
        </p:spPr>
        <p:txBody>
          <a:bodyPr wrap="square" lIns="0" tIns="0" rIns="0" bIns="0" rtlCol="0" anchor="t"/>
          <a:lstStyle/>
          <a:p>
            <a:pPr indent="0" marL="0">
              <a:buNone/>
            </a:pPr>
            <a:endParaRPr lang="cs-CZ" sz="1000" dirty="0"/>
          </a:p>
        </p:txBody>
      </p:sp>
      <p:sp>
        <p:nvSpPr>
          <p:cNvPr id="36" name="Tlačítko videa">
            <a:hlinkClick r:id="rId3" tooltip="Otevřít video"/>
          </p:cNvPr>
          <p:cNvSpPr/>
          <p:nvPr/>
        </p:nvSpPr>
        <p:spPr>
          <a:xfrm>
            <a:off x="7708392" y="5532120"/>
            <a:ext cx="3931920" cy="502920"/>
          </a:xfrm>
          <a:prstGeom prst="roundRect">
            <a:avLst>
              <a:gd name="adj" fmla="val 50000"/>
            </a:avLst>
          </a:prstGeom>
          <a:solidFill>
            <a:schemeClr val="tx1"/>
          </a:solidFill>
          <a:ln/>
        </p:spPr>
      </p:sp>
      <p:pic>
        <p:nvPicPr>
          <p:cNvPr id="37" name="Tlačítko videa – play" descr="Přehrát video">
            <a:hlinkClick r:id="rId5" tooltip="Otevřít video"/>
          </p:cNvPr>
          <p:cNvPicPr>
            <a:picLocks noChangeAspect="1"/>
          </p:cNvPicPr>
          <p:nvPr/>
        </p:nvPicPr>
        <p:blipFill>
          <a:blip r:embed="rId4"/>
          <a:stretch>
            <a:fillRect/>
          </a:stretch>
        </p:blipFill>
        <p:spPr>
          <a:xfrm>
            <a:off x="7790688" y="5600700"/>
            <a:ext cx="365760" cy="365760"/>
          </a:xfrm>
          <a:prstGeom prst="rect">
            <a:avLst/>
          </a:prstGeom>
        </p:spPr>
      </p:pic>
      <p:sp>
        <p:nvSpPr>
          <p:cNvPr id="38" name="Tlačítko videa – text"/>
          <p:cNvSpPr txBox="1"/>
          <p:nvPr/>
        </p:nvSpPr>
        <p:spPr>
          <a:xfrm>
            <a:off x="8275320" y="5532120"/>
            <a:ext cx="3200400" cy="502920"/>
          </a:xfrm>
          <a:prstGeom prst="rect">
            <a:avLst/>
          </a:prstGeom>
          <a:noFill/>
          <a:ln/>
        </p:spPr>
        <p:txBody>
          <a:bodyPr wrap="square" lIns="0" tIns="0" rIns="0" bIns="0" rtlCol="0" anchor="ctr"/>
          <a:lstStyle/>
          <a:p>
            <a:pPr indent="0" marL="0">
              <a:buNone/>
            </a:pPr>
            <a:r>
              <a:rPr lang="cs-CZ" sz="1400" u="sng" dirty="0">
                <a:solidFill>
                  <a:schemeClr val="bg1"/>
                </a:solidFill>
                <a:hlinkClick r:id="rId6" invalidUrl="" action="" tgtFrame="" tooltip="Otevřít video" history="1" highlightClick="0" endSnd="0">
                  <a:extLst>
                    <a:ext uri="{A12FA001-AC4F-418D-AE19-62706E023703}">
                      <ahyp:hlinkClr xmlns:ahyp="http://schemas.microsoft.com/office/drawing/2018/hyperlinkcolor" val="tx"/>
                    </a:ext>
                  </a:extLst>
                </a:hlinkClick>
              </a:rPr>
              <a:t>Video: ultrazvuk v akci (LT Ultra)</a:t>
            </a:r>
            <a:endParaRPr lang="cs-CZ"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7</a:t>
            </a:fld>
            <a:endParaRPr lang="cs-CZ"/>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6 · Diamantové soustružení na nanometry</a:t>
            </a:r>
            <a:endParaRPr lang="cs-CZ" sz="3400" dirty="0"/>
          </a:p>
        </p:txBody>
      </p:sp>
      <p:sp>
        <p:nvSpPr>
          <p:cNvPr id="3" name="údaj 1"/>
          <p:cNvSpPr/>
          <p:nvPr/>
        </p:nvSpPr>
        <p:spPr>
          <a:xfrm>
            <a:off x="548640" y="1463040"/>
            <a:ext cx="2112264" cy="1600200"/>
          </a:xfrm>
          <a:prstGeom prst="roundRect">
            <a:avLst>
              <a:gd name="adj" fmla="val 6857"/>
            </a:avLst>
          </a:prstGeom>
          <a:solidFill>
            <a:schemeClr val="bg2"/>
          </a:solidFill>
          <a:ln/>
        </p:spPr>
      </p:sp>
      <p:sp>
        <p:nvSpPr>
          <p:cNvPr id="4" name="údaj hodnota 1"/>
          <p:cNvSpPr txBox="1"/>
          <p:nvPr/>
        </p:nvSpPr>
        <p:spPr>
          <a:xfrm>
            <a:off x="731520" y="1572768"/>
            <a:ext cx="1783080" cy="548640"/>
          </a:xfrm>
          <a:prstGeom prst="rect">
            <a:avLst/>
          </a:prstGeom>
          <a:noFill/>
          <a:ln/>
        </p:spPr>
        <p:txBody>
          <a:bodyPr wrap="square" lIns="0" tIns="0" rIns="0" bIns="0" rtlCol="0" anchor="t"/>
          <a:lstStyle/>
          <a:p>
            <a:pPr indent="0" marL="0">
              <a:buNone/>
            </a:pPr>
            <a:r>
              <a:rPr lang="cs-CZ" sz="3200" b="1" dirty="0">
                <a:solidFill>
                  <a:schemeClr val="accent1"/>
                </a:solidFill>
                <a:latin typeface="Arial" pitchFamily="34" charset="0"/>
                <a:ea typeface="Arial" pitchFamily="34" charset="-122"/>
                <a:cs typeface="Arial" pitchFamily="34" charset="-120"/>
              </a:rPr>
              <a:t>1–5 nm</a:t>
            </a:r>
            <a:endParaRPr lang="cs-CZ" sz="3200" dirty="0"/>
          </a:p>
        </p:txBody>
      </p:sp>
      <p:sp>
        <p:nvSpPr>
          <p:cNvPr id="5" name="údaj popis 1"/>
          <p:cNvSpPr txBox="1"/>
          <p:nvPr/>
        </p:nvSpPr>
        <p:spPr>
          <a:xfrm>
            <a:off x="731520" y="2176272"/>
            <a:ext cx="1783080" cy="822960"/>
          </a:xfrm>
          <a:prstGeom prst="rect">
            <a:avLst/>
          </a:prstGeom>
          <a:noFill/>
          <a:ln/>
        </p:spPr>
        <p:txBody>
          <a:bodyPr wrap="square" lIns="0" tIns="0" rIns="0" bIns="0" rtlCol="0" anchor="t"/>
          <a:lstStyle/>
          <a:p>
            <a:pPr indent="0" marL="0">
              <a:buNone/>
            </a:pPr>
            <a:r>
              <a:rPr lang="cs-CZ" sz="1400" dirty="0">
                <a:solidFill>
                  <a:schemeClr val="tx2"/>
                </a:solidFill>
              </a:rPr>
              <a:t>drsnost povrchu – 10 000× méně než vlas</a:t>
            </a:r>
            <a:endParaRPr lang="cs-CZ" sz="1400" dirty="0"/>
          </a:p>
        </p:txBody>
      </p:sp>
      <p:sp>
        <p:nvSpPr>
          <p:cNvPr id="6" name="údaj 2"/>
          <p:cNvSpPr/>
          <p:nvPr/>
        </p:nvSpPr>
        <p:spPr>
          <a:xfrm>
            <a:off x="2889504" y="1463040"/>
            <a:ext cx="2112264" cy="1600200"/>
          </a:xfrm>
          <a:prstGeom prst="roundRect">
            <a:avLst>
              <a:gd name="adj" fmla="val 6857"/>
            </a:avLst>
          </a:prstGeom>
          <a:solidFill>
            <a:schemeClr val="bg2"/>
          </a:solidFill>
          <a:ln/>
        </p:spPr>
      </p:sp>
      <p:sp>
        <p:nvSpPr>
          <p:cNvPr id="7" name="údaj hodnota 2"/>
          <p:cNvSpPr txBox="1"/>
          <p:nvPr/>
        </p:nvSpPr>
        <p:spPr>
          <a:xfrm>
            <a:off x="3072384" y="1572768"/>
            <a:ext cx="1783080" cy="548640"/>
          </a:xfrm>
          <a:prstGeom prst="rect">
            <a:avLst/>
          </a:prstGeom>
          <a:noFill/>
          <a:ln/>
        </p:spPr>
        <p:txBody>
          <a:bodyPr wrap="square" lIns="0" tIns="0" rIns="0" bIns="0" rtlCol="0" anchor="t"/>
          <a:lstStyle/>
          <a:p>
            <a:pPr indent="0" marL="0">
              <a:buNone/>
            </a:pPr>
            <a:r>
              <a:rPr lang="cs-CZ" sz="3200" b="1" dirty="0">
                <a:solidFill>
                  <a:schemeClr val="accent1"/>
                </a:solidFill>
                <a:latin typeface="Arial" pitchFamily="34" charset="0"/>
                <a:ea typeface="Arial" pitchFamily="34" charset="-122"/>
                <a:cs typeface="Arial" pitchFamily="34" charset="-120"/>
              </a:rPr>
              <a:t>~0,1 µm</a:t>
            </a:r>
            <a:endParaRPr lang="cs-CZ" sz="3200" dirty="0"/>
          </a:p>
        </p:txBody>
      </p:sp>
      <p:sp>
        <p:nvSpPr>
          <p:cNvPr id="8" name="údaj popis 2"/>
          <p:cNvSpPr txBox="1"/>
          <p:nvPr/>
        </p:nvSpPr>
        <p:spPr>
          <a:xfrm>
            <a:off x="3072384" y="2176272"/>
            <a:ext cx="1783080" cy="822960"/>
          </a:xfrm>
          <a:prstGeom prst="rect">
            <a:avLst/>
          </a:prstGeom>
          <a:noFill/>
          <a:ln/>
        </p:spPr>
        <p:txBody>
          <a:bodyPr wrap="square" lIns="0" tIns="0" rIns="0" bIns="0" rtlCol="0" anchor="t"/>
          <a:lstStyle/>
          <a:p>
            <a:pPr indent="0" marL="0">
              <a:buNone/>
            </a:pPr>
            <a:r>
              <a:rPr lang="cs-CZ" sz="1400" dirty="0">
                <a:solidFill>
                  <a:schemeClr val="tx2"/>
                </a:solidFill>
              </a:rPr>
              <a:t>přesnost tvaru celé plochy</a:t>
            </a:r>
            <a:endParaRPr lang="cs-CZ" sz="1400" dirty="0"/>
          </a:p>
        </p:txBody>
      </p:sp>
      <p:sp>
        <p:nvSpPr>
          <p:cNvPr id="9" name="údaj 3"/>
          <p:cNvSpPr/>
          <p:nvPr/>
        </p:nvSpPr>
        <p:spPr>
          <a:xfrm>
            <a:off x="5230368" y="1463040"/>
            <a:ext cx="2112264" cy="1600200"/>
          </a:xfrm>
          <a:prstGeom prst="roundRect">
            <a:avLst>
              <a:gd name="adj" fmla="val 6857"/>
            </a:avLst>
          </a:prstGeom>
          <a:solidFill>
            <a:schemeClr val="bg2"/>
          </a:solidFill>
          <a:ln/>
        </p:spPr>
      </p:sp>
      <p:sp>
        <p:nvSpPr>
          <p:cNvPr id="10" name="údaj hodnota 3"/>
          <p:cNvSpPr txBox="1"/>
          <p:nvPr/>
        </p:nvSpPr>
        <p:spPr>
          <a:xfrm>
            <a:off x="5413248" y="1572768"/>
            <a:ext cx="1783080" cy="548640"/>
          </a:xfrm>
          <a:prstGeom prst="rect">
            <a:avLst/>
          </a:prstGeom>
          <a:noFill/>
          <a:ln/>
        </p:spPr>
        <p:txBody>
          <a:bodyPr wrap="square" lIns="0" tIns="0" rIns="0" bIns="0" rtlCol="0" anchor="t"/>
          <a:lstStyle/>
          <a:p>
            <a:pPr indent="0" marL="0">
              <a:buNone/>
            </a:pPr>
            <a:r>
              <a:rPr lang="cs-CZ" sz="3200" b="1" dirty="0">
                <a:solidFill>
                  <a:schemeClr val="accent1"/>
                </a:solidFill>
                <a:latin typeface="Arial" pitchFamily="34" charset="0"/>
                <a:ea typeface="Arial" pitchFamily="34" charset="-122"/>
                <a:cs typeface="Arial" pitchFamily="34" charset="-120"/>
              </a:rPr>
              <a:t>1 krystal</a:t>
            </a:r>
            <a:endParaRPr lang="cs-CZ" sz="3200" dirty="0"/>
          </a:p>
        </p:txBody>
      </p:sp>
      <p:sp>
        <p:nvSpPr>
          <p:cNvPr id="11" name="údaj popis 3"/>
          <p:cNvSpPr txBox="1"/>
          <p:nvPr/>
        </p:nvSpPr>
        <p:spPr>
          <a:xfrm>
            <a:off x="5413248" y="2176272"/>
            <a:ext cx="1783080" cy="822960"/>
          </a:xfrm>
          <a:prstGeom prst="rect">
            <a:avLst/>
          </a:prstGeom>
          <a:noFill/>
          <a:ln/>
        </p:spPr>
        <p:txBody>
          <a:bodyPr wrap="square" lIns="0" tIns="0" rIns="0" bIns="0" rtlCol="0" anchor="t"/>
          <a:lstStyle/>
          <a:p>
            <a:pPr indent="0" marL="0">
              <a:buNone/>
            </a:pPr>
            <a:r>
              <a:rPr lang="cs-CZ" sz="1400" dirty="0">
                <a:solidFill>
                  <a:schemeClr val="tx2"/>
                </a:solidFill>
              </a:rPr>
              <a:t>nůž z monokrystalického diamantu</a:t>
            </a:r>
            <a:endParaRPr lang="cs-CZ" sz="1400" dirty="0"/>
          </a:p>
        </p:txBody>
      </p:sp>
      <p:sp>
        <p:nvSpPr>
          <p:cNvPr id="12" name="použití nadpis"/>
          <p:cNvSpPr txBox="1"/>
          <p:nvPr/>
        </p:nvSpPr>
        <p:spPr>
          <a:xfrm>
            <a:off x="548640" y="3337560"/>
            <a:ext cx="3566160" cy="384048"/>
          </a:xfrm>
          <a:prstGeom prst="rect">
            <a:avLst/>
          </a:prstGeom>
          <a:noFill/>
          <a:ln/>
        </p:spPr>
        <p:txBody>
          <a:bodyPr wrap="square" lIns="0" tIns="0" rIns="0" bIns="0" rtlCol="0" anchor="t"/>
          <a:lstStyle/>
          <a:p>
            <a:pPr indent="0" marL="0">
              <a:buNone/>
            </a:pPr>
            <a:r>
              <a:rPr lang="cs-CZ" sz="1800" b="1" dirty="0">
                <a:solidFill>
                  <a:schemeClr val="tx1"/>
                </a:solidFill>
              </a:rPr>
              <a:t>Stroj a použití</a:t>
            </a:r>
            <a:endParaRPr lang="cs-CZ" sz="1800" dirty="0"/>
          </a:p>
        </p:txBody>
      </p:sp>
      <p:sp>
        <p:nvSpPr>
          <p:cNvPr id="13" name="použití seznam"/>
          <p:cNvSpPr txBox="1"/>
          <p:nvPr/>
        </p:nvSpPr>
        <p:spPr>
          <a:xfrm>
            <a:off x="548640" y="3794760"/>
            <a:ext cx="3566160" cy="2240280"/>
          </a:xfrm>
          <a:prstGeom prst="rect">
            <a:avLst/>
          </a:prstGeom>
          <a:noFill/>
          <a:ln/>
        </p:spPr>
        <p:txBody>
          <a:bodyPr wrap="square" lIns="0" tIns="0" rIns="0" bIns="0" rtlCol="0" anchor="t"/>
          <a:lstStyle/>
          <a:p>
            <a:pPr marL="228600" indent="-228600">
              <a:spcAft>
                <a:spcPts val="600"/>
              </a:spcAft>
              <a:buSzPct val="100000"/>
              <a:buChar char="•"/>
            </a:pPr>
            <a:r>
              <a:rPr lang="cs-CZ" sz="1400" dirty="0">
                <a:solidFill>
                  <a:schemeClr val="tx2"/>
                </a:solidFill>
              </a:rPr>
              <a:t>Žulové lože, vzduchové ložisko vřetena, izolace proti otřesům</a:t>
            </a:r>
            <a:endParaRPr lang="cs-CZ" sz="1400" dirty="0"/>
          </a:p>
          <a:p>
            <a:pPr marL="228600" indent="-228600">
              <a:spcAft>
                <a:spcPts val="600"/>
              </a:spcAft>
              <a:buSzPct val="100000"/>
              <a:buChar char="•"/>
            </a:pPr>
            <a:r>
              <a:rPr lang="cs-CZ" sz="1400" dirty="0">
                <a:solidFill>
                  <a:schemeClr val="tx2"/>
                </a:solidFill>
              </a:rPr>
              <a:t>Infračervená optika, laserová zrcadla, satelity</a:t>
            </a:r>
            <a:endParaRPr lang="cs-CZ" sz="1400" dirty="0"/>
          </a:p>
          <a:p>
            <a:pPr marL="228600" indent="-228600">
              <a:spcAft>
                <a:spcPts val="600"/>
              </a:spcAft>
              <a:buSzPct val="100000"/>
              <a:buChar char="•"/>
            </a:pPr>
            <a:r>
              <a:rPr lang="cs-CZ" sz="1400" dirty="0">
                <a:solidFill>
                  <a:schemeClr val="tx2"/>
                </a:solidFill>
              </a:rPr>
              <a:t>Formy na čočky i kontaktní čočky</a:t>
            </a:r>
            <a:endParaRPr lang="cs-CZ" sz="1400" dirty="0"/>
          </a:p>
        </p:txBody>
      </p:sp>
      <p:sp>
        <p:nvSpPr>
          <p:cNvPr id="14" name="proč ne ocel karta"/>
          <p:cNvSpPr/>
          <p:nvPr/>
        </p:nvSpPr>
        <p:spPr>
          <a:xfrm>
            <a:off x="4343400" y="3337560"/>
            <a:ext cx="2999232" cy="2697480"/>
          </a:xfrm>
          <a:prstGeom prst="roundRect">
            <a:avLst>
              <a:gd name="adj" fmla="val 4068"/>
            </a:avLst>
          </a:prstGeom>
          <a:solidFill>
            <a:schemeClr val="tx1"/>
          </a:solidFill>
          <a:ln/>
        </p:spPr>
      </p:sp>
      <p:sp>
        <p:nvSpPr>
          <p:cNvPr id="15" name="diamant ikona – kruh"/>
          <p:cNvSpPr/>
          <p:nvPr/>
        </p:nvSpPr>
        <p:spPr>
          <a:xfrm>
            <a:off x="4572000" y="3547872"/>
            <a:ext cx="548640" cy="548640"/>
          </a:xfrm>
          <a:prstGeom prst="ellipse">
            <a:avLst/>
          </a:prstGeom>
          <a:solidFill>
            <a:schemeClr val="accent1"/>
          </a:solidFill>
          <a:ln/>
        </p:spPr>
      </p:sp>
      <p:pic>
        <p:nvPicPr>
          <p:cNvPr id="16" name="diamant ikona" descr="diamant ikona">    </p:cNvPr>
          <p:cNvPicPr>
            <a:picLocks noChangeAspect="1"/>
          </p:cNvPicPr>
          <p:nvPr/>
        </p:nvPicPr>
        <p:blipFill>
          <a:blip r:embed="rId1"/>
          <a:stretch>
            <a:fillRect/>
          </a:stretch>
        </p:blipFill>
        <p:spPr>
          <a:xfrm>
            <a:off x="4692701" y="3668573"/>
            <a:ext cx="307238" cy="307238"/>
          </a:xfrm>
          <a:prstGeom prst="rect">
            <a:avLst/>
          </a:prstGeom>
        </p:spPr>
      </p:pic>
      <p:sp>
        <p:nvSpPr>
          <p:cNvPr id="17" name="proč ne ocel nadpis"/>
          <p:cNvSpPr txBox="1"/>
          <p:nvPr/>
        </p:nvSpPr>
        <p:spPr>
          <a:xfrm>
            <a:off x="5257800" y="3547872"/>
            <a:ext cx="1965960" cy="548640"/>
          </a:xfrm>
          <a:prstGeom prst="rect">
            <a:avLst/>
          </a:prstGeom>
          <a:noFill/>
          <a:ln/>
        </p:spPr>
        <p:txBody>
          <a:bodyPr wrap="square" lIns="0" tIns="0" rIns="0" bIns="0" rtlCol="0" anchor="ctr"/>
          <a:lstStyle/>
          <a:p>
            <a:pPr indent="0" marL="0">
              <a:buNone/>
            </a:pPr>
            <a:r>
              <a:rPr lang="cs-CZ" sz="1800" b="1" dirty="0">
                <a:solidFill>
                  <a:schemeClr val="bg1"/>
                </a:solidFill>
              </a:rPr>
              <a:t>Proč ne ocel?</a:t>
            </a:r>
            <a:endParaRPr lang="cs-CZ" sz="1800" dirty="0"/>
          </a:p>
        </p:txBody>
      </p:sp>
      <p:sp>
        <p:nvSpPr>
          <p:cNvPr id="18" name="proč ne ocel text"/>
          <p:cNvSpPr txBox="1"/>
          <p:nvPr/>
        </p:nvSpPr>
        <p:spPr>
          <a:xfrm>
            <a:off x="4572000" y="4251960"/>
            <a:ext cx="2606040" cy="1645920"/>
          </a:xfrm>
          <a:prstGeom prst="rect">
            <a:avLst/>
          </a:prstGeom>
          <a:noFill/>
          <a:ln/>
        </p:spPr>
        <p:txBody>
          <a:bodyPr wrap="square" lIns="0" tIns="0" rIns="0" bIns="0" rtlCol="0" anchor="t"/>
          <a:lstStyle/>
          <a:p>
            <a:pPr indent="0" marL="0">
              <a:buNone/>
            </a:pPr>
            <a:r>
              <a:rPr lang="cs-CZ" sz="1400" dirty="0">
                <a:solidFill>
                  <a:schemeClr val="bg1"/>
                </a:solidFill>
              </a:rPr>
              <a:t>Uhlík z diamantu se rozpouští v železe a nástroj se rychle zničí. Obrábí se proto hliník, měď, germanium nebo plasty.</a:t>
            </a:r>
            <a:endParaRPr lang="cs-CZ" sz="1400" dirty="0"/>
          </a:p>
        </p:txBody>
      </p:sp>
      <p:sp>
        <p:nvSpPr>
          <p:cNvPr id="19" name="Místo na obrázek – pozadí"/>
          <p:cNvSpPr/>
          <p:nvPr/>
        </p:nvSpPr>
        <p:spPr>
          <a:xfrm>
            <a:off x="7708392" y="1463040"/>
            <a:ext cx="3931920" cy="3611880"/>
          </a:xfrm>
          <a:prstGeom prst="rect">
            <a:avLst/>
          </a:prstGeom>
          <a:solidFill>
            <a:schemeClr val="bg2"/>
          </a:solidFill>
          <a:ln/>
        </p:spPr>
      </p:sp>
      <p:sp>
        <p:nvSpPr>
          <p:cNvPr id="20" name="Místo na obrázek – kruh"/>
          <p:cNvSpPr/>
          <p:nvPr/>
        </p:nvSpPr>
        <p:spPr>
          <a:xfrm>
            <a:off x="9132570" y="1932584"/>
            <a:ext cx="1083564" cy="1083564"/>
          </a:xfrm>
          <a:prstGeom prst="ellipse">
            <a:avLst/>
          </a:prstGeom>
          <a:solidFill>
            <a:schemeClr val="bg1"/>
          </a:solidFill>
          <a:ln/>
        </p:spPr>
      </p:sp>
      <p:pic>
        <p:nvPicPr>
          <p:cNvPr id="21" name="Místo na obrázek – ikona" descr="ilustrační ikona">    </p:cNvPr>
          <p:cNvPicPr>
            <a:picLocks noChangeAspect="1"/>
          </p:cNvPicPr>
          <p:nvPr/>
        </p:nvPicPr>
        <p:blipFill>
          <a:blip r:embed="rId2"/>
          <a:stretch>
            <a:fillRect/>
          </a:stretch>
        </p:blipFill>
        <p:spPr>
          <a:xfrm>
            <a:off x="9360118" y="2160133"/>
            <a:ext cx="628467" cy="628467"/>
          </a:xfrm>
          <a:prstGeom prst="rect">
            <a:avLst/>
          </a:prstGeom>
        </p:spPr>
      </p:pic>
      <p:sp>
        <p:nvSpPr>
          <p:cNvPr id="22" name="Text 0"/>
          <p:cNvSpPr/>
          <p:nvPr>
            <p:ph type="pic" idx="100" hasCustomPrompt="1"/>
          </p:nvPr>
        </p:nvSpPr>
        <p:spPr>
          <a:xfrm>
            <a:off x="7708392" y="1463040"/>
            <a:ext cx="3931920" cy="3611880"/>
          </a:xfrm>
          <a:prstGeom prst="rect">
            <a:avLst/>
          </a:prstGeom>
          <a:noFill/>
          <a:ln/>
        </p:spPr>
        <p:txBody>
          <a:bodyPr wrap="square" lIns="152400" tIns="152400" rIns="152400" bIns="152400" rtlCol="0" anchor="b"/>
          <a:lstStyle/>
          <a:p>
            <a:pPr algn="ctr" indent="0" marL="0">
              <a:buNone/>
            </a:pPr>
            <a:endParaRPr lang="cs-CZ" sz="1400" dirty="0"/>
          </a:p>
        </p:txBody>
      </p:sp>
      <p:sp>
        <p:nvSpPr>
          <p:cNvPr id="23" name="Text 0"/>
          <p:cNvSpPr/>
          <p:nvPr>
            <p:ph idx="101" type="body" hasCustomPrompt="1"/>
          </p:nvPr>
        </p:nvSpPr>
        <p:spPr>
          <a:xfrm>
            <a:off x="7708392" y="5138928"/>
            <a:ext cx="3931920" cy="256032"/>
          </a:xfrm>
          <a:prstGeom prst="rect">
            <a:avLst/>
          </a:prstGeom>
          <a:noFill/>
          <a:ln/>
        </p:spPr>
        <p:txBody>
          <a:bodyPr wrap="square" lIns="0" tIns="0" rIns="0" bIns="0" rtlCol="0" anchor="t"/>
          <a:lstStyle/>
          <a:p>
            <a:pPr indent="0" marL="0">
              <a:buNone/>
            </a:pPr>
            <a:endParaRPr lang="cs-CZ" sz="1000" dirty="0"/>
          </a:p>
        </p:txBody>
      </p:sp>
      <p:sp>
        <p:nvSpPr>
          <p:cNvPr id="24" name="Tlačítko videa">
            <a:hlinkClick r:id="rId3" tooltip="Otevřít video"/>
          </p:cNvPr>
          <p:cNvSpPr/>
          <p:nvPr/>
        </p:nvSpPr>
        <p:spPr>
          <a:xfrm>
            <a:off x="7708392" y="5532120"/>
            <a:ext cx="3931920" cy="502920"/>
          </a:xfrm>
          <a:prstGeom prst="roundRect">
            <a:avLst>
              <a:gd name="adj" fmla="val 50000"/>
            </a:avLst>
          </a:prstGeom>
          <a:solidFill>
            <a:schemeClr val="tx1"/>
          </a:solidFill>
          <a:ln/>
        </p:spPr>
      </p:sp>
      <p:pic>
        <p:nvPicPr>
          <p:cNvPr id="25" name="Tlačítko videa – play" descr="Přehrát video">
            <a:hlinkClick r:id="rId5" tooltip="Otevřít video"/>
          </p:cNvPr>
          <p:cNvPicPr>
            <a:picLocks noChangeAspect="1"/>
          </p:cNvPicPr>
          <p:nvPr/>
        </p:nvPicPr>
        <p:blipFill>
          <a:blip r:embed="rId4"/>
          <a:stretch>
            <a:fillRect/>
          </a:stretch>
        </p:blipFill>
        <p:spPr>
          <a:xfrm>
            <a:off x="7790688" y="5600700"/>
            <a:ext cx="365760" cy="365760"/>
          </a:xfrm>
          <a:prstGeom prst="rect">
            <a:avLst/>
          </a:prstGeom>
        </p:spPr>
      </p:pic>
      <p:sp>
        <p:nvSpPr>
          <p:cNvPr id="26" name="Tlačítko videa – text"/>
          <p:cNvSpPr txBox="1"/>
          <p:nvPr/>
        </p:nvSpPr>
        <p:spPr>
          <a:xfrm>
            <a:off x="8275320" y="5532120"/>
            <a:ext cx="3200400" cy="502920"/>
          </a:xfrm>
          <a:prstGeom prst="rect">
            <a:avLst/>
          </a:prstGeom>
          <a:noFill/>
          <a:ln/>
        </p:spPr>
        <p:txBody>
          <a:bodyPr wrap="square" lIns="0" tIns="0" rIns="0" bIns="0" rtlCol="0" anchor="ctr"/>
          <a:lstStyle/>
          <a:p>
            <a:pPr indent="0" marL="0">
              <a:buNone/>
            </a:pPr>
            <a:r>
              <a:rPr lang="cs-CZ" sz="1400" u="sng" dirty="0">
                <a:solidFill>
                  <a:schemeClr val="bg1"/>
                </a:solidFill>
                <a:hlinkClick r:id="rId6" invalidUrl="" action="" tgtFrame="" tooltip="Otevřít video" history="1" highlightClick="0" endSnd="0">
                  <a:extLst>
                    <a:ext uri="{A12FA001-AC4F-418D-AE19-62706E023703}">
                      <ahyp:hlinkClr xmlns:ahyp="http://schemas.microsoft.com/office/drawing/2018/hyperlinkcolor" val="tx"/>
                    </a:ext>
                  </a:extLst>
                </a:hlinkClick>
              </a:rPr>
              <a:t>Video: soustružení zrcadla</a:t>
            </a:r>
            <a:endParaRPr lang="cs-CZ"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8</a:t>
            </a:fld>
            <a:endParaRPr lang="cs-CZ"/>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tx1"/>
                </a:solidFill>
              </a:rPr>
              <a:t>Rychlé zajímavosti navíc</a:t>
            </a:r>
            <a:endParaRPr lang="cs-CZ" sz="3400" dirty="0"/>
          </a:p>
        </p:txBody>
      </p:sp>
      <p:sp>
        <p:nvSpPr>
          <p:cNvPr id="3" name="zajímavost 1"/>
          <p:cNvSpPr/>
          <p:nvPr/>
        </p:nvSpPr>
        <p:spPr>
          <a:xfrm>
            <a:off x="548640" y="1463040"/>
            <a:ext cx="6793992" cy="1371600"/>
          </a:xfrm>
          <a:prstGeom prst="roundRect">
            <a:avLst>
              <a:gd name="adj" fmla="val 8000"/>
            </a:avLst>
          </a:prstGeom>
          <a:solidFill>
            <a:schemeClr val="bg2"/>
          </a:solidFill>
          <a:ln/>
        </p:spPr>
      </p:sp>
      <p:sp>
        <p:nvSpPr>
          <p:cNvPr id="4" name="zajímavost hodnota 1"/>
          <p:cNvSpPr txBox="1"/>
          <p:nvPr/>
        </p:nvSpPr>
        <p:spPr>
          <a:xfrm>
            <a:off x="777240" y="1463040"/>
            <a:ext cx="2011680" cy="1371600"/>
          </a:xfrm>
          <a:prstGeom prst="rect">
            <a:avLst/>
          </a:prstGeom>
          <a:noFill/>
          <a:ln/>
        </p:spPr>
        <p:txBody>
          <a:bodyPr wrap="square" lIns="0" tIns="0" rIns="0" bIns="0" rtlCol="0" anchor="ctr"/>
          <a:lstStyle/>
          <a:p>
            <a:pPr indent="0" marL="0">
              <a:buNone/>
            </a:pPr>
            <a:r>
              <a:rPr lang="cs-CZ" sz="3000" b="1" dirty="0">
                <a:solidFill>
                  <a:schemeClr val="accent1"/>
                </a:solidFill>
                <a:latin typeface="Arial" pitchFamily="34" charset="0"/>
                <a:ea typeface="Arial" pitchFamily="34" charset="-122"/>
                <a:cs typeface="Arial" pitchFamily="34" charset="-120"/>
              </a:rPr>
              <a:t>&gt;60 HRC</a:t>
            </a:r>
            <a:endParaRPr lang="cs-CZ" sz="3000" dirty="0"/>
          </a:p>
        </p:txBody>
      </p:sp>
      <p:sp>
        <p:nvSpPr>
          <p:cNvPr id="5" name="zajímavost nadpis 1"/>
          <p:cNvSpPr txBox="1"/>
          <p:nvPr/>
        </p:nvSpPr>
        <p:spPr>
          <a:xfrm>
            <a:off x="2926080" y="1645920"/>
            <a:ext cx="4206240" cy="384048"/>
          </a:xfrm>
          <a:prstGeom prst="rect">
            <a:avLst/>
          </a:prstGeom>
          <a:noFill/>
          <a:ln/>
        </p:spPr>
        <p:txBody>
          <a:bodyPr wrap="square" lIns="0" tIns="0" rIns="0" bIns="0" rtlCol="0" anchor="t"/>
          <a:lstStyle/>
          <a:p>
            <a:pPr indent="0" marL="0">
              <a:buNone/>
            </a:pPr>
            <a:r>
              <a:rPr lang="cs-CZ" sz="1800" b="1" dirty="0">
                <a:solidFill>
                  <a:schemeClr val="tx1"/>
                </a:solidFill>
              </a:rPr>
              <a:t>Tvrdé soustružení</a:t>
            </a:r>
            <a:endParaRPr lang="cs-CZ" sz="1800" dirty="0"/>
          </a:p>
        </p:txBody>
      </p:sp>
      <p:sp>
        <p:nvSpPr>
          <p:cNvPr id="6" name="zajímavost text 1"/>
          <p:cNvSpPr txBox="1"/>
          <p:nvPr/>
        </p:nvSpPr>
        <p:spPr>
          <a:xfrm>
            <a:off x="2926080" y="2057400"/>
            <a:ext cx="4206240" cy="685800"/>
          </a:xfrm>
          <a:prstGeom prst="rect">
            <a:avLst/>
          </a:prstGeom>
          <a:noFill/>
          <a:ln/>
        </p:spPr>
        <p:txBody>
          <a:bodyPr wrap="square" lIns="0" tIns="0" rIns="0" bIns="0" rtlCol="0" anchor="t"/>
          <a:lstStyle/>
          <a:p>
            <a:pPr indent="0" marL="0">
              <a:buNone/>
            </a:pPr>
            <a:r>
              <a:rPr lang="cs-CZ" sz="1400" dirty="0">
                <a:solidFill>
                  <a:schemeClr val="tx2"/>
                </a:solidFill>
              </a:rPr>
              <a:t>Nástroje z CBN soustruží kalenou ocel a nahradí i broušení</a:t>
            </a:r>
            <a:endParaRPr lang="cs-CZ" sz="1400" dirty="0"/>
          </a:p>
        </p:txBody>
      </p:sp>
      <p:sp>
        <p:nvSpPr>
          <p:cNvPr id="7" name="zajímavost 2"/>
          <p:cNvSpPr/>
          <p:nvPr/>
        </p:nvSpPr>
        <p:spPr>
          <a:xfrm>
            <a:off x="548640" y="3017520"/>
            <a:ext cx="6793992" cy="1371600"/>
          </a:xfrm>
          <a:prstGeom prst="roundRect">
            <a:avLst>
              <a:gd name="adj" fmla="val 8000"/>
            </a:avLst>
          </a:prstGeom>
          <a:solidFill>
            <a:schemeClr val="tx1"/>
          </a:solidFill>
          <a:ln/>
        </p:spPr>
      </p:sp>
      <p:sp>
        <p:nvSpPr>
          <p:cNvPr id="8" name="zajímavost hodnota 2"/>
          <p:cNvSpPr txBox="1"/>
          <p:nvPr/>
        </p:nvSpPr>
        <p:spPr>
          <a:xfrm>
            <a:off x="777240" y="3017520"/>
            <a:ext cx="2011680" cy="1371600"/>
          </a:xfrm>
          <a:prstGeom prst="rect">
            <a:avLst/>
          </a:prstGeom>
          <a:noFill/>
          <a:ln/>
        </p:spPr>
        <p:txBody>
          <a:bodyPr wrap="square" lIns="0" tIns="0" rIns="0" bIns="0" rtlCol="0" anchor="ctr"/>
          <a:lstStyle/>
          <a:p>
            <a:pPr indent="0" marL="0">
              <a:buNone/>
            </a:pPr>
            <a:r>
              <a:rPr lang="cs-CZ" sz="3000" b="1" dirty="0">
                <a:solidFill>
                  <a:schemeClr val="accent1"/>
                </a:solidFill>
                <a:latin typeface="Arial" pitchFamily="34" charset="0"/>
                <a:ea typeface="Arial" pitchFamily="34" charset="-122"/>
                <a:cs typeface="Arial" pitchFamily="34" charset="-120"/>
              </a:rPr>
              <a:t>2 směry</a:t>
            </a:r>
            <a:endParaRPr lang="cs-CZ" sz="3000" dirty="0"/>
          </a:p>
        </p:txBody>
      </p:sp>
      <p:sp>
        <p:nvSpPr>
          <p:cNvPr id="9" name="zajímavost nadpis 2"/>
          <p:cNvSpPr txBox="1"/>
          <p:nvPr/>
        </p:nvSpPr>
        <p:spPr>
          <a:xfrm>
            <a:off x="2926080" y="3200400"/>
            <a:ext cx="4206240" cy="384048"/>
          </a:xfrm>
          <a:prstGeom prst="rect">
            <a:avLst/>
          </a:prstGeom>
          <a:noFill/>
          <a:ln/>
        </p:spPr>
        <p:txBody>
          <a:bodyPr wrap="square" lIns="0" tIns="0" rIns="0" bIns="0" rtlCol="0" anchor="t"/>
          <a:lstStyle/>
          <a:p>
            <a:pPr indent="0" marL="0">
              <a:buNone/>
            </a:pPr>
            <a:r>
              <a:rPr lang="cs-CZ" sz="1800" b="1" dirty="0">
                <a:solidFill>
                  <a:schemeClr val="bg1"/>
                </a:solidFill>
              </a:rPr>
              <a:t>PrimeTurning (Sandvik)</a:t>
            </a:r>
            <a:endParaRPr lang="cs-CZ" sz="1800" dirty="0"/>
          </a:p>
        </p:txBody>
      </p:sp>
      <p:sp>
        <p:nvSpPr>
          <p:cNvPr id="10" name="zajímavost text 2"/>
          <p:cNvSpPr txBox="1"/>
          <p:nvPr/>
        </p:nvSpPr>
        <p:spPr>
          <a:xfrm>
            <a:off x="2926080" y="3611880"/>
            <a:ext cx="4206240" cy="685800"/>
          </a:xfrm>
          <a:prstGeom prst="rect">
            <a:avLst/>
          </a:prstGeom>
          <a:noFill/>
          <a:ln/>
        </p:spPr>
        <p:txBody>
          <a:bodyPr wrap="square" lIns="0" tIns="0" rIns="0" bIns="0" rtlCol="0" anchor="t"/>
          <a:lstStyle/>
          <a:p>
            <a:pPr indent="0" marL="0">
              <a:buNone/>
            </a:pPr>
            <a:r>
              <a:rPr lang="cs-CZ" sz="1400" dirty="0">
                <a:solidFill>
                  <a:schemeClr val="bg1"/>
                </a:solidFill>
              </a:rPr>
              <a:t>Soustružení oběma směry, bez prázdných přejezdů</a:t>
            </a:r>
            <a:endParaRPr lang="cs-CZ" sz="1400" dirty="0"/>
          </a:p>
        </p:txBody>
      </p:sp>
      <p:sp>
        <p:nvSpPr>
          <p:cNvPr id="11" name="zajímavost 3"/>
          <p:cNvSpPr/>
          <p:nvPr/>
        </p:nvSpPr>
        <p:spPr>
          <a:xfrm>
            <a:off x="548640" y="4572000"/>
            <a:ext cx="6793992" cy="1371600"/>
          </a:xfrm>
          <a:prstGeom prst="roundRect">
            <a:avLst>
              <a:gd name="adj" fmla="val 8000"/>
            </a:avLst>
          </a:prstGeom>
          <a:solidFill>
            <a:schemeClr val="bg2"/>
          </a:solidFill>
          <a:ln/>
        </p:spPr>
      </p:sp>
      <p:sp>
        <p:nvSpPr>
          <p:cNvPr id="12" name="zajímavost hodnota 3"/>
          <p:cNvSpPr txBox="1"/>
          <p:nvPr/>
        </p:nvSpPr>
        <p:spPr>
          <a:xfrm>
            <a:off x="777240" y="4572000"/>
            <a:ext cx="2011680" cy="1371600"/>
          </a:xfrm>
          <a:prstGeom prst="rect">
            <a:avLst/>
          </a:prstGeom>
          <a:noFill/>
          <a:ln/>
        </p:spPr>
        <p:txBody>
          <a:bodyPr wrap="square" lIns="0" tIns="0" rIns="0" bIns="0" rtlCol="0" anchor="ctr"/>
          <a:lstStyle/>
          <a:p>
            <a:pPr indent="0" marL="0">
              <a:buNone/>
            </a:pPr>
            <a:r>
              <a:rPr lang="cs-CZ" sz="3000" b="1" dirty="0">
                <a:solidFill>
                  <a:schemeClr val="accent1"/>
                </a:solidFill>
                <a:latin typeface="Arial" pitchFamily="34" charset="0"/>
                <a:ea typeface="Arial" pitchFamily="34" charset="-122"/>
                <a:cs typeface="Arial" pitchFamily="34" charset="-120"/>
              </a:rPr>
              <a:t>70+ bar</a:t>
            </a:r>
            <a:endParaRPr lang="cs-CZ" sz="3000" dirty="0"/>
          </a:p>
        </p:txBody>
      </p:sp>
      <p:sp>
        <p:nvSpPr>
          <p:cNvPr id="13" name="zajímavost nadpis 3"/>
          <p:cNvSpPr txBox="1"/>
          <p:nvPr/>
        </p:nvSpPr>
        <p:spPr>
          <a:xfrm>
            <a:off x="2926080" y="4754880"/>
            <a:ext cx="4206240" cy="384048"/>
          </a:xfrm>
          <a:prstGeom prst="rect">
            <a:avLst/>
          </a:prstGeom>
          <a:noFill/>
          <a:ln/>
        </p:spPr>
        <p:txBody>
          <a:bodyPr wrap="square" lIns="0" tIns="0" rIns="0" bIns="0" rtlCol="0" anchor="t"/>
          <a:lstStyle/>
          <a:p>
            <a:pPr indent="0" marL="0">
              <a:buNone/>
            </a:pPr>
            <a:r>
              <a:rPr lang="cs-CZ" sz="1800" b="1" dirty="0">
                <a:solidFill>
                  <a:schemeClr val="tx1"/>
                </a:solidFill>
              </a:rPr>
              <a:t>Vysokotlaké chlazení</a:t>
            </a:r>
            <a:endParaRPr lang="cs-CZ" sz="1800" dirty="0"/>
          </a:p>
        </p:txBody>
      </p:sp>
      <p:sp>
        <p:nvSpPr>
          <p:cNvPr id="14" name="zajímavost text 3"/>
          <p:cNvSpPr txBox="1"/>
          <p:nvPr/>
        </p:nvSpPr>
        <p:spPr>
          <a:xfrm>
            <a:off x="2926080" y="5166360"/>
            <a:ext cx="4206240" cy="685800"/>
          </a:xfrm>
          <a:prstGeom prst="rect">
            <a:avLst/>
          </a:prstGeom>
          <a:noFill/>
          <a:ln/>
        </p:spPr>
        <p:txBody>
          <a:bodyPr wrap="square" lIns="0" tIns="0" rIns="0" bIns="0" rtlCol="0" anchor="t"/>
          <a:lstStyle/>
          <a:p>
            <a:pPr indent="0" marL="0">
              <a:buNone/>
            </a:pPr>
            <a:r>
              <a:rPr lang="cs-CZ" sz="1400" dirty="0">
                <a:solidFill>
                  <a:schemeClr val="tx2"/>
                </a:solidFill>
              </a:rPr>
              <a:t>Kapalina pod tlakem láme třísky na malé kousky</a:t>
            </a:r>
            <a:endParaRPr lang="cs-CZ" sz="1400" dirty="0"/>
          </a:p>
        </p:txBody>
      </p:sp>
      <p:sp>
        <p:nvSpPr>
          <p:cNvPr id="15" name="Místo na obrázek – pozadí"/>
          <p:cNvSpPr/>
          <p:nvPr/>
        </p:nvSpPr>
        <p:spPr>
          <a:xfrm>
            <a:off x="7708392" y="1463040"/>
            <a:ext cx="3931920" cy="3611880"/>
          </a:xfrm>
          <a:prstGeom prst="rect">
            <a:avLst/>
          </a:prstGeom>
          <a:solidFill>
            <a:schemeClr val="bg2"/>
          </a:solidFill>
          <a:ln/>
        </p:spPr>
      </p:sp>
      <p:sp>
        <p:nvSpPr>
          <p:cNvPr id="16" name="Místo na obrázek – kruh"/>
          <p:cNvSpPr/>
          <p:nvPr/>
        </p:nvSpPr>
        <p:spPr>
          <a:xfrm>
            <a:off x="9132570" y="1932584"/>
            <a:ext cx="1083564" cy="1083564"/>
          </a:xfrm>
          <a:prstGeom prst="ellipse">
            <a:avLst/>
          </a:prstGeom>
          <a:solidFill>
            <a:schemeClr val="bg1"/>
          </a:solidFill>
          <a:ln/>
        </p:spPr>
      </p:sp>
      <p:pic>
        <p:nvPicPr>
          <p:cNvPr id="17" name="Místo na obrázek – ikona" descr="ilustrační ikona">    </p:cNvPr>
          <p:cNvPicPr>
            <a:picLocks noChangeAspect="1"/>
          </p:cNvPicPr>
          <p:nvPr/>
        </p:nvPicPr>
        <p:blipFill>
          <a:blip r:embed="rId1"/>
          <a:stretch>
            <a:fillRect/>
          </a:stretch>
        </p:blipFill>
        <p:spPr>
          <a:xfrm>
            <a:off x="9360118" y="2160133"/>
            <a:ext cx="628467" cy="628467"/>
          </a:xfrm>
          <a:prstGeom prst="rect">
            <a:avLst/>
          </a:prstGeom>
        </p:spPr>
      </p:pic>
      <p:sp>
        <p:nvSpPr>
          <p:cNvPr id="18" name="Text 0"/>
          <p:cNvSpPr/>
          <p:nvPr>
            <p:ph type="pic" idx="100" hasCustomPrompt="1"/>
          </p:nvPr>
        </p:nvSpPr>
        <p:spPr>
          <a:xfrm>
            <a:off x="7708392" y="1463040"/>
            <a:ext cx="3931920" cy="3611880"/>
          </a:xfrm>
          <a:prstGeom prst="rect">
            <a:avLst/>
          </a:prstGeom>
          <a:noFill/>
          <a:ln/>
        </p:spPr>
        <p:txBody>
          <a:bodyPr wrap="square" lIns="152400" tIns="152400" rIns="152400" bIns="152400" rtlCol="0" anchor="b"/>
          <a:lstStyle/>
          <a:p>
            <a:pPr algn="ctr" indent="0" marL="0">
              <a:buNone/>
            </a:pPr>
            <a:endParaRPr lang="cs-CZ" sz="1400" dirty="0"/>
          </a:p>
        </p:txBody>
      </p:sp>
      <p:sp>
        <p:nvSpPr>
          <p:cNvPr id="19" name="Text 0"/>
          <p:cNvSpPr/>
          <p:nvPr>
            <p:ph idx="101" type="body" hasCustomPrompt="1"/>
          </p:nvPr>
        </p:nvSpPr>
        <p:spPr>
          <a:xfrm>
            <a:off x="7708392" y="5138928"/>
            <a:ext cx="3931920" cy="256032"/>
          </a:xfrm>
          <a:prstGeom prst="rect">
            <a:avLst/>
          </a:prstGeom>
          <a:noFill/>
          <a:ln/>
        </p:spPr>
        <p:txBody>
          <a:bodyPr wrap="square" lIns="0" tIns="0" rIns="0" bIns="0" rtlCol="0" anchor="t"/>
          <a:lstStyle/>
          <a:p>
            <a:pPr indent="0" marL="0">
              <a:buNone/>
            </a:pPr>
            <a:endParaRPr lang="cs-CZ" sz="1000" dirty="0"/>
          </a:p>
        </p:txBody>
      </p:sp>
      <p:sp>
        <p:nvSpPr>
          <p:cNvPr id="20" name="Tlačítko videa">
            <a:hlinkClick r:id="rId2" tooltip="Otevřít video"/>
          </p:cNvPr>
          <p:cNvSpPr/>
          <p:nvPr/>
        </p:nvSpPr>
        <p:spPr>
          <a:xfrm>
            <a:off x="7708392" y="5532120"/>
            <a:ext cx="3931920" cy="502920"/>
          </a:xfrm>
          <a:prstGeom prst="roundRect">
            <a:avLst>
              <a:gd name="adj" fmla="val 50000"/>
            </a:avLst>
          </a:prstGeom>
          <a:solidFill>
            <a:schemeClr val="tx1"/>
          </a:solidFill>
          <a:ln/>
        </p:spPr>
      </p:sp>
      <p:pic>
        <p:nvPicPr>
          <p:cNvPr id="21" name="Tlačítko videa – play" descr="Přehrát video">
            <a:hlinkClick r:id="rId4" tooltip="Otevřít video"/>
          </p:cNvPr>
          <p:cNvPicPr>
            <a:picLocks noChangeAspect="1"/>
          </p:cNvPicPr>
          <p:nvPr/>
        </p:nvPicPr>
        <p:blipFill>
          <a:blip r:embed="rId3"/>
          <a:stretch>
            <a:fillRect/>
          </a:stretch>
        </p:blipFill>
        <p:spPr>
          <a:xfrm>
            <a:off x="7790688" y="5600700"/>
            <a:ext cx="365760" cy="365760"/>
          </a:xfrm>
          <a:prstGeom prst="rect">
            <a:avLst/>
          </a:prstGeom>
        </p:spPr>
      </p:pic>
      <p:sp>
        <p:nvSpPr>
          <p:cNvPr id="22" name="Tlačítko videa – text"/>
          <p:cNvSpPr txBox="1"/>
          <p:nvPr/>
        </p:nvSpPr>
        <p:spPr>
          <a:xfrm>
            <a:off x="8275320" y="5532120"/>
            <a:ext cx="3200400" cy="502920"/>
          </a:xfrm>
          <a:prstGeom prst="rect">
            <a:avLst/>
          </a:prstGeom>
          <a:noFill/>
          <a:ln/>
        </p:spPr>
        <p:txBody>
          <a:bodyPr wrap="square" lIns="0" tIns="0" rIns="0" bIns="0" rtlCol="0" anchor="ctr"/>
          <a:lstStyle/>
          <a:p>
            <a:pPr indent="0" marL="0">
              <a:buNone/>
            </a:pPr>
            <a:r>
              <a:rPr lang="cs-CZ" sz="1400" u="sng" dirty="0">
                <a:solidFill>
                  <a:schemeClr val="bg1"/>
                </a:solidFill>
                <a:hlinkClick r:id="rId5" invalidUrl="" action="" tgtFrame="" tooltip="Otevřít video" history="1" highlightClick="0" endSnd="0">
                  <a:extLst>
                    <a:ext uri="{A12FA001-AC4F-418D-AE19-62706E023703}">
                      <ahyp:hlinkClr xmlns:ahyp="http://schemas.microsoft.com/office/drawing/2018/hyperlinkcolor" val="tx"/>
                    </a:ext>
                  </a:extLst>
                </a:hlinkClick>
              </a:rPr>
              <a:t>Video: PrimeTurning (Sandvik)</a:t>
            </a:r>
            <a:endParaRPr lang="cs-CZ"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cs-CZ"/>
              <a:t>9</a:t>
            </a:fld>
            <a:endParaRPr lang="cs-CZ"/>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48640" y="365760"/>
            <a:ext cx="11091672" cy="822960"/>
          </a:xfrm>
          <a:prstGeom prst="rect">
            <a:avLst/>
          </a:prstGeom>
          <a:noFill/>
          <a:ln/>
        </p:spPr>
        <p:txBody>
          <a:bodyPr wrap="square" lIns="0" tIns="0" rIns="0" bIns="0" rtlCol="0" anchor="ctr"/>
          <a:lstStyle/>
          <a:p>
            <a:pPr indent="0" marL="0">
              <a:buNone/>
            </a:pPr>
            <a:r>
              <a:rPr lang="cs-CZ" sz="3400" b="1" dirty="0">
                <a:solidFill>
                  <a:schemeClr val="bg1"/>
                </a:solidFill>
              </a:rPr>
              <a:t>Shrnutí</a:t>
            </a:r>
            <a:endParaRPr lang="cs-CZ" sz="3400" dirty="0"/>
          </a:p>
        </p:txBody>
      </p:sp>
      <p:sp>
        <p:nvSpPr>
          <p:cNvPr id="3" name="shrnutí kruh 1"/>
          <p:cNvSpPr/>
          <p:nvPr/>
        </p:nvSpPr>
        <p:spPr>
          <a:xfrm>
            <a:off x="548640" y="1554480"/>
            <a:ext cx="548640" cy="548640"/>
          </a:xfrm>
          <a:prstGeom prst="ellipse">
            <a:avLst/>
          </a:prstGeom>
          <a:solidFill>
            <a:schemeClr val="accent1"/>
          </a:solidFill>
          <a:ln/>
        </p:spPr>
      </p:sp>
      <p:sp>
        <p:nvSpPr>
          <p:cNvPr id="4" name="shrnutí číslo 1"/>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cs-CZ" sz="1800" b="1" dirty="0">
                <a:solidFill>
                  <a:schemeClr val="bg1"/>
                </a:solidFill>
              </a:rPr>
              <a:t>1</a:t>
            </a:r>
            <a:endParaRPr lang="cs-CZ" sz="1800" dirty="0"/>
          </a:p>
        </p:txBody>
      </p:sp>
      <p:sp>
        <p:nvSpPr>
          <p:cNvPr id="5" name="shrnutí text 1"/>
          <p:cNvSpPr txBox="1"/>
          <p:nvPr/>
        </p:nvSpPr>
        <p:spPr>
          <a:xfrm>
            <a:off x="1325880" y="1554480"/>
            <a:ext cx="5760720" cy="548640"/>
          </a:xfrm>
          <a:prstGeom prst="rect">
            <a:avLst/>
          </a:prstGeom>
          <a:noFill/>
          <a:ln/>
        </p:spPr>
        <p:txBody>
          <a:bodyPr wrap="square" lIns="0" tIns="0" rIns="0" bIns="0" rtlCol="0" anchor="ctr"/>
          <a:lstStyle/>
          <a:p>
            <a:pPr indent="0" marL="0">
              <a:buNone/>
            </a:pPr>
            <a:r>
              <a:rPr lang="cs-CZ" sz="1700" dirty="0">
                <a:solidFill>
                  <a:schemeClr val="bg1"/>
                </a:solidFill>
              </a:rPr>
              <a:t>Soustružení spojuje 3D tisk a obrábění v jednom stroji</a:t>
            </a:r>
            <a:endParaRPr lang="cs-CZ" sz="1700" dirty="0"/>
          </a:p>
        </p:txBody>
      </p:sp>
      <p:sp>
        <p:nvSpPr>
          <p:cNvPr id="6" name="shrnutí kruh 2"/>
          <p:cNvSpPr/>
          <p:nvPr/>
        </p:nvSpPr>
        <p:spPr>
          <a:xfrm>
            <a:off x="548640" y="2514600"/>
            <a:ext cx="548640" cy="548640"/>
          </a:xfrm>
          <a:prstGeom prst="ellipse">
            <a:avLst/>
          </a:prstGeom>
          <a:solidFill>
            <a:schemeClr val="accent1"/>
          </a:solidFill>
          <a:ln/>
        </p:spPr>
      </p:sp>
      <p:sp>
        <p:nvSpPr>
          <p:cNvPr id="7" name="shrnutí číslo 2"/>
          <p:cNvSpPr txBox="1"/>
          <p:nvPr/>
        </p:nvSpPr>
        <p:spPr>
          <a:xfrm>
            <a:off x="548640" y="2514600"/>
            <a:ext cx="548640" cy="548640"/>
          </a:xfrm>
          <a:prstGeom prst="rect">
            <a:avLst/>
          </a:prstGeom>
          <a:noFill/>
          <a:ln/>
        </p:spPr>
        <p:txBody>
          <a:bodyPr wrap="square" lIns="0" tIns="0" rIns="0" bIns="0" rtlCol="0" anchor="ctr"/>
          <a:lstStyle/>
          <a:p>
            <a:pPr algn="ctr" indent="0" marL="0">
              <a:buNone/>
            </a:pPr>
            <a:r>
              <a:rPr lang="cs-CZ" sz="1800" b="1" dirty="0">
                <a:solidFill>
                  <a:schemeClr val="bg1"/>
                </a:solidFill>
              </a:rPr>
              <a:t>2</a:t>
            </a:r>
            <a:endParaRPr lang="cs-CZ" sz="1800" dirty="0"/>
          </a:p>
        </p:txBody>
      </p:sp>
      <p:sp>
        <p:nvSpPr>
          <p:cNvPr id="8" name="shrnutí text 2"/>
          <p:cNvSpPr txBox="1"/>
          <p:nvPr/>
        </p:nvSpPr>
        <p:spPr>
          <a:xfrm>
            <a:off x="1325880" y="2514600"/>
            <a:ext cx="5760720" cy="548640"/>
          </a:xfrm>
          <a:prstGeom prst="rect">
            <a:avLst/>
          </a:prstGeom>
          <a:noFill/>
          <a:ln/>
        </p:spPr>
        <p:txBody>
          <a:bodyPr wrap="square" lIns="0" tIns="0" rIns="0" bIns="0" rtlCol="0" anchor="ctr"/>
          <a:lstStyle/>
          <a:p>
            <a:pPr indent="0" marL="0">
              <a:buNone/>
            </a:pPr>
            <a:r>
              <a:rPr lang="cs-CZ" sz="1700" dirty="0">
                <a:solidFill>
                  <a:schemeClr val="bg1"/>
                </a:solidFill>
              </a:rPr>
              <a:t>Teplo pod kontrolou: dusík chladí, laser ohřívá</a:t>
            </a:r>
            <a:endParaRPr lang="cs-CZ" sz="1700" dirty="0"/>
          </a:p>
        </p:txBody>
      </p:sp>
      <p:sp>
        <p:nvSpPr>
          <p:cNvPr id="9" name="shrnutí kruh 3"/>
          <p:cNvSpPr/>
          <p:nvPr/>
        </p:nvSpPr>
        <p:spPr>
          <a:xfrm>
            <a:off x="548640" y="3474720"/>
            <a:ext cx="548640" cy="548640"/>
          </a:xfrm>
          <a:prstGeom prst="ellipse">
            <a:avLst/>
          </a:prstGeom>
          <a:solidFill>
            <a:schemeClr val="accent1"/>
          </a:solidFill>
          <a:ln/>
        </p:spPr>
      </p:sp>
      <p:sp>
        <p:nvSpPr>
          <p:cNvPr id="10" name="shrnutí číslo 3"/>
          <p:cNvSpPr txBox="1"/>
          <p:nvPr/>
        </p:nvSpPr>
        <p:spPr>
          <a:xfrm>
            <a:off x="548640" y="3474720"/>
            <a:ext cx="548640" cy="548640"/>
          </a:xfrm>
          <a:prstGeom prst="rect">
            <a:avLst/>
          </a:prstGeom>
          <a:noFill/>
          <a:ln/>
        </p:spPr>
        <p:txBody>
          <a:bodyPr wrap="square" lIns="0" tIns="0" rIns="0" bIns="0" rtlCol="0" anchor="ctr"/>
          <a:lstStyle/>
          <a:p>
            <a:pPr algn="ctr" indent="0" marL="0">
              <a:buNone/>
            </a:pPr>
            <a:r>
              <a:rPr lang="cs-CZ" sz="1800" b="1" dirty="0">
                <a:solidFill>
                  <a:schemeClr val="bg1"/>
                </a:solidFill>
              </a:rPr>
              <a:t>3</a:t>
            </a:r>
            <a:endParaRPr lang="cs-CZ" sz="1800" dirty="0"/>
          </a:p>
        </p:txBody>
      </p:sp>
      <p:sp>
        <p:nvSpPr>
          <p:cNvPr id="11" name="shrnutí text 3"/>
          <p:cNvSpPr txBox="1"/>
          <p:nvPr/>
        </p:nvSpPr>
        <p:spPr>
          <a:xfrm>
            <a:off x="1325880" y="3474720"/>
            <a:ext cx="5760720" cy="548640"/>
          </a:xfrm>
          <a:prstGeom prst="rect">
            <a:avLst/>
          </a:prstGeom>
          <a:noFill/>
          <a:ln/>
        </p:spPr>
        <p:txBody>
          <a:bodyPr wrap="square" lIns="0" tIns="0" rIns="0" bIns="0" rtlCol="0" anchor="ctr"/>
          <a:lstStyle/>
          <a:p>
            <a:pPr indent="0" marL="0">
              <a:buNone/>
            </a:pPr>
            <a:r>
              <a:rPr lang="cs-CZ" sz="1700" dirty="0">
                <a:solidFill>
                  <a:schemeClr val="bg1"/>
                </a:solidFill>
              </a:rPr>
              <a:t>Senzory, AI a digitální dvojče hlídají proces</a:t>
            </a:r>
            <a:endParaRPr lang="cs-CZ" sz="1700" dirty="0"/>
          </a:p>
        </p:txBody>
      </p:sp>
      <p:sp>
        <p:nvSpPr>
          <p:cNvPr id="12" name="shrnutí kruh 4"/>
          <p:cNvSpPr/>
          <p:nvPr/>
        </p:nvSpPr>
        <p:spPr>
          <a:xfrm>
            <a:off x="548640" y="4434840"/>
            <a:ext cx="548640" cy="548640"/>
          </a:xfrm>
          <a:prstGeom prst="ellipse">
            <a:avLst/>
          </a:prstGeom>
          <a:solidFill>
            <a:schemeClr val="accent1"/>
          </a:solidFill>
          <a:ln/>
        </p:spPr>
      </p:sp>
      <p:sp>
        <p:nvSpPr>
          <p:cNvPr id="13" name="shrnutí číslo 4"/>
          <p:cNvSpPr txBox="1"/>
          <p:nvPr/>
        </p:nvSpPr>
        <p:spPr>
          <a:xfrm>
            <a:off x="548640" y="4434840"/>
            <a:ext cx="548640" cy="548640"/>
          </a:xfrm>
          <a:prstGeom prst="rect">
            <a:avLst/>
          </a:prstGeom>
          <a:noFill/>
          <a:ln/>
        </p:spPr>
        <p:txBody>
          <a:bodyPr wrap="square" lIns="0" tIns="0" rIns="0" bIns="0" rtlCol="0" anchor="ctr"/>
          <a:lstStyle/>
          <a:p>
            <a:pPr algn="ctr" indent="0" marL="0">
              <a:buNone/>
            </a:pPr>
            <a:r>
              <a:rPr lang="cs-CZ" sz="1800" b="1" dirty="0">
                <a:solidFill>
                  <a:schemeClr val="bg1"/>
                </a:solidFill>
              </a:rPr>
              <a:t>4</a:t>
            </a:r>
            <a:endParaRPr lang="cs-CZ" sz="1800" dirty="0"/>
          </a:p>
        </p:txBody>
      </p:sp>
      <p:sp>
        <p:nvSpPr>
          <p:cNvPr id="14" name="shrnutí text 4"/>
          <p:cNvSpPr txBox="1"/>
          <p:nvPr/>
        </p:nvSpPr>
        <p:spPr>
          <a:xfrm>
            <a:off x="1325880" y="4434840"/>
            <a:ext cx="5760720" cy="548640"/>
          </a:xfrm>
          <a:prstGeom prst="rect">
            <a:avLst/>
          </a:prstGeom>
          <a:noFill/>
          <a:ln/>
        </p:spPr>
        <p:txBody>
          <a:bodyPr wrap="square" lIns="0" tIns="0" rIns="0" bIns="0" rtlCol="0" anchor="ctr"/>
          <a:lstStyle/>
          <a:p>
            <a:pPr indent="0" marL="0">
              <a:buNone/>
            </a:pPr>
            <a:r>
              <a:rPr lang="cs-CZ" sz="1700" dirty="0">
                <a:solidFill>
                  <a:schemeClr val="bg1"/>
                </a:solidFill>
              </a:rPr>
              <a:t>Ultrazvuk a diamant: křehké materiály a nanometrová přesnost</a:t>
            </a:r>
            <a:endParaRPr lang="cs-CZ" sz="1700" dirty="0"/>
          </a:p>
        </p:txBody>
      </p:sp>
      <p:sp>
        <p:nvSpPr>
          <p:cNvPr id="15" name="Místo na obrázek – pozadí"/>
          <p:cNvSpPr/>
          <p:nvPr/>
        </p:nvSpPr>
        <p:spPr>
          <a:xfrm>
            <a:off x="7315200" y="1463040"/>
            <a:ext cx="4325112" cy="2834640"/>
          </a:xfrm>
          <a:prstGeom prst="rect">
            <a:avLst/>
          </a:prstGeom>
          <a:solidFill>
            <a:schemeClr val="tx2"/>
          </a:solidFill>
          <a:ln/>
        </p:spPr>
      </p:sp>
      <p:sp>
        <p:nvSpPr>
          <p:cNvPr id="16" name="Místo na obrázek – kruh"/>
          <p:cNvSpPr/>
          <p:nvPr/>
        </p:nvSpPr>
        <p:spPr>
          <a:xfrm>
            <a:off x="9052560" y="1831543"/>
            <a:ext cx="850392" cy="850392"/>
          </a:xfrm>
          <a:prstGeom prst="ellipse">
            <a:avLst/>
          </a:prstGeom>
          <a:solidFill>
            <a:schemeClr val="tx1"/>
          </a:solidFill>
          <a:ln/>
        </p:spPr>
      </p:sp>
      <p:pic>
        <p:nvPicPr>
          <p:cNvPr id="17" name="Místo na obrázek – ikona" descr="ilustrační ikona">    </p:cNvPr>
          <p:cNvPicPr>
            <a:picLocks noChangeAspect="1"/>
          </p:cNvPicPr>
          <p:nvPr/>
        </p:nvPicPr>
        <p:blipFill>
          <a:blip r:embed="rId1"/>
          <a:stretch>
            <a:fillRect/>
          </a:stretch>
        </p:blipFill>
        <p:spPr>
          <a:xfrm>
            <a:off x="9231142" y="2010126"/>
            <a:ext cx="493227" cy="493227"/>
          </a:xfrm>
          <a:prstGeom prst="rect">
            <a:avLst/>
          </a:prstGeom>
        </p:spPr>
      </p:pic>
      <p:sp>
        <p:nvSpPr>
          <p:cNvPr id="18" name="Text 0"/>
          <p:cNvSpPr/>
          <p:nvPr>
            <p:ph type="pic" idx="100" hasCustomPrompt="1"/>
          </p:nvPr>
        </p:nvSpPr>
        <p:spPr>
          <a:xfrm>
            <a:off x="7315200" y="1463040"/>
            <a:ext cx="4325112" cy="2834640"/>
          </a:xfrm>
          <a:prstGeom prst="rect">
            <a:avLst/>
          </a:prstGeom>
          <a:noFill/>
          <a:ln/>
        </p:spPr>
        <p:txBody>
          <a:bodyPr wrap="square" lIns="152400" tIns="152400" rIns="152400" bIns="152400" rtlCol="0" anchor="b"/>
          <a:lstStyle/>
          <a:p>
            <a:pPr algn="ctr" indent="0" marL="0">
              <a:buNone/>
            </a:pPr>
            <a:endParaRPr lang="cs-CZ" sz="1400" dirty="0"/>
          </a:p>
        </p:txBody>
      </p:sp>
      <p:sp>
        <p:nvSpPr>
          <p:cNvPr id="19" name="Text 0"/>
          <p:cNvSpPr/>
          <p:nvPr>
            <p:ph idx="101" type="body" hasCustomPrompt="1"/>
          </p:nvPr>
        </p:nvSpPr>
        <p:spPr>
          <a:xfrm>
            <a:off x="7315200" y="4361688"/>
            <a:ext cx="4325112" cy="256032"/>
          </a:xfrm>
          <a:prstGeom prst="rect">
            <a:avLst/>
          </a:prstGeom>
          <a:noFill/>
          <a:ln/>
        </p:spPr>
        <p:txBody>
          <a:bodyPr wrap="square" lIns="0" tIns="0" rIns="0" bIns="0" rtlCol="0" anchor="t"/>
          <a:lstStyle/>
          <a:p>
            <a:pPr indent="0" marL="0">
              <a:buNone/>
            </a:pPr>
            <a:endParaRPr lang="cs-CZ" sz="1000" dirty="0"/>
          </a:p>
        </p:txBody>
      </p:sp>
      <p:sp>
        <p:nvSpPr>
          <p:cNvPr id="20" name="poděkování"/>
          <p:cNvSpPr txBox="1"/>
          <p:nvPr/>
        </p:nvSpPr>
        <p:spPr>
          <a:xfrm>
            <a:off x="7315200" y="4754880"/>
            <a:ext cx="4325112" cy="502920"/>
          </a:xfrm>
          <a:prstGeom prst="rect">
            <a:avLst/>
          </a:prstGeom>
          <a:noFill/>
          <a:ln/>
        </p:spPr>
        <p:txBody>
          <a:bodyPr wrap="square" lIns="0" tIns="0" rIns="0" bIns="0" rtlCol="0" anchor="t"/>
          <a:lstStyle/>
          <a:p>
            <a:pPr algn="ctr" indent="0" marL="0">
              <a:buNone/>
            </a:pPr>
            <a:r>
              <a:rPr lang="cs-CZ" sz="2400" b="1" dirty="0">
                <a:solidFill>
                  <a:schemeClr val="bg1"/>
                </a:solidFill>
                <a:latin typeface="Arial" pitchFamily="34" charset="0"/>
                <a:ea typeface="Arial" pitchFamily="34" charset="-122"/>
                <a:cs typeface="Arial" pitchFamily="34" charset="-120"/>
              </a:rPr>
              <a:t>Děkuji za pozornost</a:t>
            </a:r>
            <a:endParaRPr lang="cs-CZ" sz="2400" dirty="0"/>
          </a:p>
        </p:txBody>
      </p:sp>
      <p:sp>
        <p:nvSpPr>
          <p:cNvPr id="21" name="otázky"/>
          <p:cNvSpPr txBox="1"/>
          <p:nvPr/>
        </p:nvSpPr>
        <p:spPr>
          <a:xfrm>
            <a:off x="7315200" y="5257800"/>
            <a:ext cx="4325112" cy="411480"/>
          </a:xfrm>
          <a:prstGeom prst="rect">
            <a:avLst/>
          </a:prstGeom>
          <a:noFill/>
          <a:ln/>
        </p:spPr>
        <p:txBody>
          <a:bodyPr wrap="square" lIns="0" tIns="0" rIns="0" bIns="0" rtlCol="0" anchor="t"/>
          <a:lstStyle/>
          <a:p>
            <a:pPr algn="ctr" indent="0" marL="0">
              <a:buNone/>
            </a:pPr>
            <a:r>
              <a:rPr lang="cs-CZ" sz="2000" dirty="0">
                <a:solidFill>
                  <a:schemeClr val="accent1"/>
                </a:solidFill>
              </a:rPr>
              <a:t>Otázky?</a:t>
            </a:r>
            <a:endParaRPr lang="cs-CZ" sz="2000" dirty="0"/>
          </a:p>
        </p:txBody>
      </p:sp>
      <p:sp>
        <p:nvSpPr>
          <p:cNvPr id="22" name="zdroje"/>
          <p:cNvSpPr txBox="1"/>
          <p:nvPr/>
        </p:nvSpPr>
        <p:spPr>
          <a:xfrm>
            <a:off x="548640" y="6126480"/>
            <a:ext cx="11091672" cy="457200"/>
          </a:xfrm>
          <a:prstGeom prst="rect">
            <a:avLst/>
          </a:prstGeom>
          <a:noFill/>
          <a:ln/>
        </p:spPr>
        <p:txBody>
          <a:bodyPr wrap="square" lIns="0" tIns="0" rIns="0" bIns="0" rtlCol="0" anchor="t"/>
          <a:lstStyle/>
          <a:p>
            <a:pPr indent="0" marL="0">
              <a:buNone/>
            </a:pPr>
            <a:r>
              <a:rPr lang="cs-CZ" sz="1000" dirty="0">
                <a:solidFill>
                  <a:schemeClr val="accent3"/>
                </a:solidFill>
              </a:rPr>
              <a:t>Zdroje: Okuma, DMG MORI, Mazak, Sandvik Coromant, 5ME, Micro-LAM, LT Ultra, Precitech (videa na YouTube a webech výrobců); odborné články ScienceDirect, Springer, MDPI, ResearchGate</a:t>
            </a:r>
            <a:endParaRPr lang="cs-CZ" sz="1000" dirty="0"/>
          </a:p>
        </p:txBody>
      </p:sp>
    </p:spTree>
  </p:cSld>
  <p:clrMapOvr>
    <a:masterClrMapping/>
  </p:clrMapOvr>
</p:sld>
</file>

<file path=ppt/theme/theme1.xml><?xml version="1.0" encoding="utf-8"?>
<a:theme xmlns:a="http://schemas.openxmlformats.org/drawingml/2006/main" name="Ocel a jiskry">
  <a:themeElements>
    <a:clrScheme name="Ocel a jiskry">
      <a:dk1>
        <a:srgbClr val="1B232B"/>
      </a:dk1>
      <a:lt1>
        <a:srgbClr val="FFFFFF"/>
      </a:lt1>
      <a:dk2>
        <a:srgbClr val="2E3B47"/>
      </a:dk2>
      <a:lt2>
        <a:srgbClr val="EEF1F4"/>
      </a:lt2>
      <a:accent1>
        <a:srgbClr val="E8742C"/>
      </a:accent1>
      <a:accent2>
        <a:srgbClr val="3FA7D6"/>
      </a:accent2>
      <a:accent3>
        <a:srgbClr val="8A99A6"/>
      </a:accent3>
      <a:accent4>
        <a:srgbClr val="F2B134"/>
      </a:accent4>
      <a:accent5>
        <a:srgbClr val="5C6B78"/>
      </a:accent5>
      <a:accent6>
        <a:srgbClr val="C94F1E"/>
      </a:accent6>
      <a:hlink>
        <a:srgbClr val="E8742C"/>
      </a:hlink>
      <a:folHlink>
        <a:srgbClr val="F2B134"/>
      </a:folHlink>
    </a:clrScheme>
    <a:fontScheme name="Ocel a jisk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Inovace v soustružení</dc:title>
  <dc:subject>PptxGenJS Presentation</dc:subject>
  <dc:creator>PptxGenJS</dc:creator>
  <cp:lastModifiedBy>PptxGenJS</cp:lastModifiedBy>
  <cp:revision>1</cp:revision>
  <dcterms:created xsi:type="dcterms:W3CDTF">2026-10-05T16:09:18Z</dcterms:created>
  <dcterms:modified xsi:type="dcterms:W3CDTF">2026-10-05T16:09:18Z</dcterms:modified>
</cp:coreProperties>
</file>