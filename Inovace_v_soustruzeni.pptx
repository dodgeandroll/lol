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Úvod" id="{3f5fbdc9-b954-4e54-7323-5335daae5a1f}">
          <p14:sldIdLst>
            <p14:sldId id="256"/>
            <p14:sldId id="257"/>
          </p14:sldIdLst>
        </p14:section>
        <p14:section name="Inovace" id="{b50d186a-d9c5-4e38-c080-3a4efc26a0bb}">
          <p14:sldIdLst>
            <p14:sldId id="258"/>
            <p14:sldId id="259"/>
            <p14:sldId id="260"/>
            <p14:sldId id="261"/>
            <p14:sldId id="262"/>
            <p14:sldId id="263"/>
            <p14:sldId id="264"/>
          </p14:sldIdLst>
        </p14:section>
        <p14:section name="Závěr" id="{94375f49-d24c-cb6b-6696-a0a82069e8f2}">
          <p14:sldIdLst>
            <p14:sldId id="26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Dobrý den, dnes vám představím nejzajímavější inovace v soustružení. Většina lidí si pod soustruhem představí stroj, který točí kus kovu a nůž z něj ubírá třísky. Dnešní stroje ale kombinují 3D tisk, tekutý dusík, lasery, ultrazvuk, umělou inteligenci a diamantové nástroje.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Dnes vám představím šest technologií, které v posledních letech mění soustružení. Hybridní stroje spojují 3D tisk kovu s obráběním. Kryogenní obrábění chladí tekutým dusíkem. Laserem asistované soustružení naopak materiál před nožem ohřeje, aby změkl. Chytré nástroje se senzory a umělá inteligence hlídají proces. Ultrazvuk umožňuje obrábět křehké materiály. A diamantové soustružení dosahuje přesnosti v nanometrech. Na konci přidám pár rychlých zajímavostí.</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První inovací jsou hybridní stroje. Spojují 3D tisk kovu a klasické obrábění v jednom stroji. Laser taví kovový prášek a vrstvu po vrstvě staví hrubý tvar součástky. Této metodě se říká DED, Directed Energy Deposition. Hned potom stejný stroj díl obrobí na přesný rozměr. Výhoda je, že díl se nemusí přepínat ani přenášet, šetří se materiál a dají se i opravovat drahé díly, například opotřebené lopatky turbín: chybějící materiál se navaří a pak obrobí. Takové stroje vyrábí Okuma, DMG MORI nebo Mazak. (Tady se hodí pustit krátké video od výrobce.)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Při soustružení superslitin, jako je titan nebo Inconel z leteckých motorů, vzniká obrovské teplo, které rychle ničí břit nástroje. Kryogenní obrábění místo klasické emulze z vody a oleje stříká na břit tekutý dusík o teplotě minus 196 stupňů, nebo oxid uhličitý, který se po vystříknutí mění na sníh o teplotě asi minus 78 stupňů. Nástroj pak vydrží déle, běžně o desítky procent, v nejlepších případech i dvakrát až třikrát. Dusík se odpaří a nevzniká žádná toxická odpadní kapalina. Není to ale úplně zadarmo: výroba tekutého dusíku stojí hodně energie a zařízení je drahé.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Třetí technologie jde přesně opačně než kryogenní obrábění. U laserem asistovaného soustružení svítí laser na obrobek těsně před nožem a lokálně ho zahřeje, u technické keramiky i na víc než tisíc stupňů. Ohřátý materiál změkne a nůž ho pak odebírá mnohem snadněji: řezné síly klesnou, nástroj se tolik neopotřebí a křehký materiál nepraská. Používá se hlavně pro keramiku jako nitrid křemíku, pro superslitiny Inconel a titan a pro kalené oceli. Zajímavé je, že kryogenní obrábění chladí nástroj a laser ohřívá obrobek, a obě metody řeší stejný problém: jak obrábět extrémně tvrdé materiály.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Čtvrtá oblast je Průmysl 4.0. Do držáků nožů se dnes montují senzory, které při řezu měří vibrace, síly a teplotu. Řídicí systém a umělá inteligence data vyhodnocují: sledují, jak se nástroj opotřebovává, upraví posuv podle zatížení, a když se nástroj zlomí, stroj okamžitě zastaví. Na internetu se často píše, že AI pozná zlom nože zlomek sekundy předem. To je zatím spíš výzkum, v praxi jde hlavně o sledování opotřebení. Třetí věc je digitální dvojče: celý proces se nejdřív nasimuluje v počítači, takže se odhalí kolize dřív, než se stroj vůbec rozjede.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Pátá inovace je ultrazvukem asistované soustružení. Nůž je napojený na piezoelektrický měnič, který s ním kmitá dvacet až čtyřicet tisíckrát za sekundu, ale jen o pár mikrometrů. Nůž se tak od materiálu neustále nepatrně odtahuje, klesá tření, teplo i řezné síly. Díky tomu lze soustružit i tvrdé a křehké materiály, jako je technická keramika, sklo nebo karbid wolframu, které se jinak obvykle musí brousit. Pomáhá to i u titanu a Inconelu. V průmyslu je to zatím spíš specializovaná technologie.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Šestá technologie je diamantové soustružení, anglicky Single Point Diamond Turning. Stroj stojí na obrovském žulovém bloku, vřeteno běží na vzduchových ložiscích a celé je to izolované od vibrací, aby ho nerušila ani projíždějící auta. Nástroj je z jediného krystalu syntetického diamantu. Drsnost povrchu je jen pár nanometrů, tedy asi deset tisíckrát méně, než je tloušťka vlasu. Povrch tak funguje přímo jako zrcadlo, hlavně pro infračervenou optiku. Vyrábí se tak laserová zrcadla, optika do satelitů i kontaktní čočky. Zajímavost: diamantem nejde soustružit ocel, protože uhlík z diamantu se rozpouští v železe a nástroj se zničí.</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 závěr pár rychlých zajímavostí. Tvrdé soustružení: nástroji z kubického nitridu boru se dá soustružit kalená ocel s tvrdostí přes 60 HRC, což dřív šlo jen broušením. Sandvik PrimeTurn je koncept, kdy nůž soustruží oběma směry, tam i zpět, takže stroj nemusí dělat prázdné přejezdy. A vysokotlaké chlazení s tlakem 70 barů a víc láme třísky na malé kousky, aby se nenamotávaly na obrobek.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Shrnu to: soustružení dnes spojuje 3D tisk s obráběním, teplo se řídí tekutým dusíkem nebo naopak laserem, proces hlídají senzory, AI a digitální dvojče, a díky ultrazvuku a diamantovým nástrojům lze obrábět křehké materiály s nanometrovou přesností. Děkuji za pozornost, máte nějaké otázky?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011680"/>
            <a:ext cx="7498080" cy="1645920"/>
          </a:xfrm>
          <a:prstGeom prst="rect">
            <a:avLst/>
          </a:prstGeom>
          <a:noFill/>
          <a:ln/>
        </p:spPr>
        <p:txBody>
          <a:bodyPr wrap="square" rtlCol="0"/>
          <a:lstStyle>
            <a:lvl1pPr algn="l" indent="0" marL="0">
              <a:buNone/>
              <a:defRPr lang="en-US" sz="4800" b="1" dirty="0">
                <a:solidFill>
                  <a:schemeClr val="bg1"/>
                </a:solidFill>
              </a:defRPr>
            </a:lvl1pPr>
          </a:lstStyle>
          <a:p>
            <a:pPr algn="l" indent="0" marL="0">
              <a:buNone/>
            </a:pPr>
            <a:endParaRPr lang="en-US" sz="4800" dirty="0"/>
          </a:p>
        </p:txBody>
      </p:sp>
      <p:sp>
        <p:nvSpPr>
          <p:cNvPr id="3" name="Text 0"/>
          <p:cNvSpPr/>
          <p:nvPr>
            <p:ph idx="101" type="body" hasCustomPrompt="1"/>
          </p:nvPr>
        </p:nvSpPr>
        <p:spPr>
          <a:xfrm>
            <a:off x="731520" y="3840480"/>
            <a:ext cx="7498080" cy="822960"/>
          </a:xfrm>
          <a:prstGeom prst="rect">
            <a:avLst/>
          </a:prstGeom>
          <a:noFill/>
          <a:ln/>
        </p:spPr>
        <p:txBody>
          <a:bodyPr wrap="square" rtlCol="0"/>
          <a:lstStyle>
            <a:lvl1pPr algn="l" indent="0" marL="0">
              <a:buNone/>
              <a:defRPr lang="en-US" sz="2200" dirty="0">
                <a:solidFill>
                  <a:schemeClr val="accent3"/>
                </a:solidFill>
              </a:defRPr>
            </a:lvl1pPr>
          </a:lstStyle>
          <a:p>
            <a:pPr algn="l"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rtlCol="0"/>
          <a:lstStyle>
            <a:lvl1pPr indent="0" marL="0">
              <a:buNone/>
              <a:defRPr lang="en-US" sz="3400" b="1" dirty="0">
                <a:solidFill>
                  <a:schemeClr val="tx1"/>
                </a:solidFill>
              </a:defRPr>
            </a:lvl1pPr>
          </a:lstStyle>
          <a:p>
            <a:pPr indent="0" marL="0">
              <a:buNone/>
            </a:pPr>
            <a:endParaRPr lang="en-US" sz="3400" dirty="0"/>
          </a:p>
        </p:txBody>
      </p:sp>
      <p:sp>
        <p:nvSpPr>
          <p:cNvPr id="3" name="Text 0"/>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chemeClr val="accent3"/>
                </a:solidFill>
              </a:rPr>
              <a:t>Inovace v soustružení</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_DARK">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rtlCol="0"/>
          <a:lstStyle>
            <a:lvl1pPr indent="0" marL="0">
              <a:buNone/>
              <a:defRPr lang="en-US" sz="3400" b="1" dirty="0">
                <a:solidFill>
                  <a:schemeClr val="bg1"/>
                </a:solidFill>
              </a:defRPr>
            </a:lvl1pPr>
          </a:lstStyle>
          <a:p>
            <a:pPr indent="0" marL="0">
              <a:buNone/>
            </a:pPr>
            <a:endParaRPr lang="en-US" sz="34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slideLayout" Target="../slideLayouts/slideLayout3.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3.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3.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slideLayout" Target="../slideLayouts/slideLayout3.xml"/><Relationship Id="rId8"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3.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4.xml"/><Relationship Id="rId3"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2011680"/>
            <a:ext cx="7498080" cy="1645920"/>
          </a:xfrm>
          <a:prstGeom prst="rect">
            <a:avLst/>
          </a:prstGeom>
          <a:noFill/>
          <a:ln/>
        </p:spPr>
        <p:txBody>
          <a:bodyPr wrap="square" lIns="0" tIns="0" rIns="0" bIns="0" rtlCol="0" anchor="b"/>
          <a:lstStyle/>
          <a:p>
            <a:pPr algn="l" indent="0" marL="0">
              <a:buNone/>
            </a:pPr>
            <a:r>
              <a:rPr lang="en-US" sz="4800" b="1" dirty="0">
                <a:solidFill>
                  <a:schemeClr val="bg1"/>
                </a:solidFill>
              </a:rPr>
              <a:t>Soustružení 21. století</a:t>
            </a:r>
            <a:endParaRPr lang="en-US" sz="4800" dirty="0"/>
          </a:p>
        </p:txBody>
      </p:sp>
      <p:sp>
        <p:nvSpPr>
          <p:cNvPr id="3" name="Text 0"/>
          <p:cNvSpPr/>
          <p:nvPr>
            <p:ph idx="101" type="body" hasCustomPrompt="1"/>
          </p:nvPr>
        </p:nvSpPr>
        <p:spPr>
          <a:xfrm>
            <a:off x="731520" y="3840480"/>
            <a:ext cx="7498080" cy="822960"/>
          </a:xfrm>
          <a:prstGeom prst="rect">
            <a:avLst/>
          </a:prstGeom>
          <a:noFill/>
          <a:ln/>
        </p:spPr>
        <p:txBody>
          <a:bodyPr wrap="square" lIns="0" tIns="0" rIns="0" bIns="0" rtlCol="0" anchor="t"/>
          <a:lstStyle/>
          <a:p>
            <a:pPr algn="l" indent="0" marL="0">
              <a:buNone/>
            </a:pPr>
            <a:r>
              <a:rPr lang="en-US" sz="2200" dirty="0">
                <a:solidFill>
                  <a:schemeClr val="accent3"/>
                </a:solidFill>
              </a:rPr>
              <a:t>Zajímavosti a inovace, které mění obrábění</a:t>
            </a:r>
            <a:endParaRPr lang="en-US" sz="2200" dirty="0"/>
          </a:p>
        </p:txBody>
      </p:sp>
      <p:sp>
        <p:nvSpPr>
          <p:cNvPr id="4" name="author"/>
          <p:cNvSpPr txBox="1"/>
          <p:nvPr/>
        </p:nvSpPr>
        <p:spPr>
          <a:xfrm>
            <a:off x="731520" y="5852160"/>
            <a:ext cx="5486400" cy="365760"/>
          </a:xfrm>
          <a:prstGeom prst="rect">
            <a:avLst/>
          </a:prstGeom>
          <a:noFill/>
          <a:ln/>
        </p:spPr>
        <p:txBody>
          <a:bodyPr wrap="square" lIns="0" tIns="0" rIns="0" bIns="0" rtlCol="0" anchor="t"/>
          <a:lstStyle/>
          <a:p>
            <a:pPr indent="0" marL="0">
              <a:buNone/>
            </a:pPr>
            <a:r>
              <a:rPr lang="en-US" sz="1400" dirty="0">
                <a:solidFill>
                  <a:schemeClr val="accent3"/>
                </a:solidFill>
              </a:rPr>
              <a:t>Jméno Příjmení · třída</a:t>
            </a:r>
            <a:endParaRPr lang="en-US" sz="1400" dirty="0"/>
          </a:p>
        </p:txBody>
      </p:sp>
      <p:sp>
        <p:nvSpPr>
          <p:cNvPr id="5" name="hero circle"/>
          <p:cNvSpPr/>
          <p:nvPr/>
        </p:nvSpPr>
        <p:spPr>
          <a:xfrm>
            <a:off x="8503920" y="1463040"/>
            <a:ext cx="3291840" cy="3291840"/>
          </a:xfrm>
          <a:prstGeom prst="ellipse">
            <a:avLst/>
          </a:prstGeom>
          <a:solidFill>
            <a:schemeClr val="tx2"/>
          </a:solidFill>
          <a:ln/>
        </p:spPr>
      </p:sp>
      <p:pic>
        <p:nvPicPr>
          <p:cNvPr id="6" name="hero icon" descr="CNC stroj">    </p:cNvPr>
          <p:cNvPicPr>
            <a:picLocks noChangeAspect="1"/>
          </p:cNvPicPr>
          <p:nvPr/>
        </p:nvPicPr>
        <p:blipFill>
          <a:blip r:embed="rId1"/>
          <a:stretch>
            <a:fillRect/>
          </a:stretch>
        </p:blipFill>
        <p:spPr>
          <a:xfrm>
            <a:off x="9098280" y="2057400"/>
            <a:ext cx="2103120" cy="210312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indent="0" marL="0">
              <a:buNone/>
            </a:pPr>
            <a:r>
              <a:rPr lang="en-US" sz="3400" b="1" dirty="0">
                <a:solidFill>
                  <a:schemeClr val="tx1"/>
                </a:solidFill>
              </a:rPr>
              <a:t>6 technologií, které mění soustružení</a:t>
            </a:r>
            <a:endParaRPr lang="en-US" sz="3400" dirty="0"/>
          </a:p>
        </p:txBody>
      </p:sp>
      <p:sp>
        <p:nvSpPr>
          <p:cNvPr id="3" name="tile 0"/>
          <p:cNvSpPr/>
          <p:nvPr/>
        </p:nvSpPr>
        <p:spPr>
          <a:xfrm>
            <a:off x="548640" y="1508760"/>
            <a:ext cx="3520440" cy="2057400"/>
          </a:xfrm>
          <a:prstGeom prst="roundRect">
            <a:avLst>
              <a:gd name="adj" fmla="val 5333"/>
            </a:avLst>
          </a:prstGeom>
          <a:solidFill>
            <a:schemeClr val="bg2"/>
          </a:solidFill>
          <a:ln/>
        </p:spPr>
      </p:sp>
      <p:sp>
        <p:nvSpPr>
          <p:cNvPr id="4" name="tile icon 0 circle"/>
          <p:cNvSpPr/>
          <p:nvPr/>
        </p:nvSpPr>
        <p:spPr>
          <a:xfrm>
            <a:off x="822960" y="1783080"/>
            <a:ext cx="731520" cy="731520"/>
          </a:xfrm>
          <a:prstGeom prst="ellipse">
            <a:avLst/>
          </a:prstGeom>
          <a:solidFill>
            <a:schemeClr val="accent1"/>
          </a:solidFill>
          <a:ln/>
        </p:spPr>
      </p:sp>
      <p:pic>
        <p:nvPicPr>
          <p:cNvPr id="5" name="tile icon 0" descr="tile icon 0">    </p:cNvPr>
          <p:cNvPicPr>
            <a:picLocks noChangeAspect="1"/>
          </p:cNvPicPr>
          <p:nvPr/>
        </p:nvPicPr>
        <p:blipFill>
          <a:blip r:embed="rId1"/>
          <a:stretch>
            <a:fillRect/>
          </a:stretch>
        </p:blipFill>
        <p:spPr>
          <a:xfrm>
            <a:off x="983894" y="1944014"/>
            <a:ext cx="409651" cy="409651"/>
          </a:xfrm>
          <a:prstGeom prst="rect">
            <a:avLst/>
          </a:prstGeom>
        </p:spPr>
      </p:pic>
      <p:sp>
        <p:nvSpPr>
          <p:cNvPr id="6" name="tile title 0"/>
          <p:cNvSpPr txBox="1"/>
          <p:nvPr/>
        </p:nvSpPr>
        <p:spPr>
          <a:xfrm>
            <a:off x="1737360" y="1783080"/>
            <a:ext cx="2194560" cy="731520"/>
          </a:xfrm>
          <a:prstGeom prst="rect">
            <a:avLst/>
          </a:prstGeom>
          <a:noFill/>
          <a:ln/>
        </p:spPr>
        <p:txBody>
          <a:bodyPr wrap="square" lIns="0" tIns="0" rIns="0" bIns="0" rtlCol="0" anchor="ctr"/>
          <a:lstStyle/>
          <a:p>
            <a:pPr indent="0" marL="0">
              <a:buNone/>
            </a:pPr>
            <a:r>
              <a:rPr lang="en-US" sz="1600" b="1" dirty="0">
                <a:solidFill>
                  <a:schemeClr val="accent1"/>
                </a:solidFill>
              </a:rPr>
              <a:t>1  </a:t>
            </a:r>
            <a:pPr indent="0" marL="0">
              <a:buNone/>
            </a:pPr>
            <a:r>
              <a:rPr lang="en-US" sz="1600" b="1" dirty="0">
                <a:solidFill>
                  <a:schemeClr val="tx1"/>
                </a:solidFill>
              </a:rPr>
              <a:t>Hybridní stroje</a:t>
            </a:r>
            <a:endParaRPr lang="en-US" sz="1600" dirty="0"/>
          </a:p>
        </p:txBody>
      </p:sp>
      <p:sp>
        <p:nvSpPr>
          <p:cNvPr id="7" name="tile body 0"/>
          <p:cNvSpPr txBox="1"/>
          <p:nvPr/>
        </p:nvSpPr>
        <p:spPr>
          <a:xfrm>
            <a:off x="822960" y="2697480"/>
            <a:ext cx="2971800" cy="731520"/>
          </a:xfrm>
          <a:prstGeom prst="rect">
            <a:avLst/>
          </a:prstGeom>
          <a:noFill/>
          <a:ln/>
        </p:spPr>
        <p:txBody>
          <a:bodyPr wrap="square" lIns="0" tIns="0" rIns="0" bIns="0" rtlCol="0" anchor="t"/>
          <a:lstStyle/>
          <a:p>
            <a:pPr indent="0" marL="0">
              <a:buNone/>
            </a:pPr>
            <a:r>
              <a:rPr lang="en-US" sz="1500" dirty="0">
                <a:solidFill>
                  <a:schemeClr val="tx2"/>
                </a:solidFill>
              </a:rPr>
              <a:t>3D tisk kovu a obrábění v jednom stroji</a:t>
            </a:r>
            <a:endParaRPr lang="en-US" sz="1500" dirty="0"/>
          </a:p>
        </p:txBody>
      </p:sp>
      <p:sp>
        <p:nvSpPr>
          <p:cNvPr id="8" name="tile 1"/>
          <p:cNvSpPr/>
          <p:nvPr/>
        </p:nvSpPr>
        <p:spPr>
          <a:xfrm>
            <a:off x="4320540" y="1508760"/>
            <a:ext cx="3520440" cy="2057400"/>
          </a:xfrm>
          <a:prstGeom prst="roundRect">
            <a:avLst>
              <a:gd name="adj" fmla="val 5333"/>
            </a:avLst>
          </a:prstGeom>
          <a:solidFill>
            <a:schemeClr val="bg2"/>
          </a:solidFill>
          <a:ln/>
        </p:spPr>
      </p:sp>
      <p:sp>
        <p:nvSpPr>
          <p:cNvPr id="9" name="tile icon 1 circle"/>
          <p:cNvSpPr/>
          <p:nvPr/>
        </p:nvSpPr>
        <p:spPr>
          <a:xfrm>
            <a:off x="4594860" y="1783080"/>
            <a:ext cx="731520" cy="731520"/>
          </a:xfrm>
          <a:prstGeom prst="ellipse">
            <a:avLst/>
          </a:prstGeom>
          <a:solidFill>
            <a:schemeClr val="accent1"/>
          </a:solidFill>
          <a:ln/>
        </p:spPr>
      </p:sp>
      <p:pic>
        <p:nvPicPr>
          <p:cNvPr id="10" name="tile icon 1" descr="tile icon 1">    </p:cNvPr>
          <p:cNvPicPr>
            <a:picLocks noChangeAspect="1"/>
          </p:cNvPicPr>
          <p:nvPr/>
        </p:nvPicPr>
        <p:blipFill>
          <a:blip r:embed="rId2"/>
          <a:stretch>
            <a:fillRect/>
          </a:stretch>
        </p:blipFill>
        <p:spPr>
          <a:xfrm>
            <a:off x="4755794" y="1944014"/>
            <a:ext cx="409651" cy="409651"/>
          </a:xfrm>
          <a:prstGeom prst="rect">
            <a:avLst/>
          </a:prstGeom>
        </p:spPr>
      </p:pic>
      <p:sp>
        <p:nvSpPr>
          <p:cNvPr id="11" name="tile title 1"/>
          <p:cNvSpPr txBox="1"/>
          <p:nvPr/>
        </p:nvSpPr>
        <p:spPr>
          <a:xfrm>
            <a:off x="5509260" y="1783080"/>
            <a:ext cx="2194560" cy="731520"/>
          </a:xfrm>
          <a:prstGeom prst="rect">
            <a:avLst/>
          </a:prstGeom>
          <a:noFill/>
          <a:ln/>
        </p:spPr>
        <p:txBody>
          <a:bodyPr wrap="square" lIns="0" tIns="0" rIns="0" bIns="0" rtlCol="0" anchor="ctr"/>
          <a:lstStyle/>
          <a:p>
            <a:pPr indent="0" marL="0">
              <a:buNone/>
            </a:pPr>
            <a:r>
              <a:rPr lang="en-US" sz="1600" b="1" dirty="0">
                <a:solidFill>
                  <a:schemeClr val="accent1"/>
                </a:solidFill>
              </a:rPr>
              <a:t>2  </a:t>
            </a:r>
            <a:pPr indent="0" marL="0">
              <a:buNone/>
            </a:pPr>
            <a:r>
              <a:rPr lang="en-US" sz="1600" b="1" dirty="0">
                <a:solidFill>
                  <a:schemeClr val="tx1"/>
                </a:solidFill>
              </a:rPr>
              <a:t>Kryogenní obrábění</a:t>
            </a:r>
            <a:endParaRPr lang="en-US" sz="1600" dirty="0"/>
          </a:p>
        </p:txBody>
      </p:sp>
      <p:sp>
        <p:nvSpPr>
          <p:cNvPr id="12" name="tile body 1"/>
          <p:cNvSpPr txBox="1"/>
          <p:nvPr/>
        </p:nvSpPr>
        <p:spPr>
          <a:xfrm>
            <a:off x="4594860" y="2697480"/>
            <a:ext cx="2971800" cy="731520"/>
          </a:xfrm>
          <a:prstGeom prst="rect">
            <a:avLst/>
          </a:prstGeom>
          <a:noFill/>
          <a:ln/>
        </p:spPr>
        <p:txBody>
          <a:bodyPr wrap="square" lIns="0" tIns="0" rIns="0" bIns="0" rtlCol="0" anchor="t"/>
          <a:lstStyle/>
          <a:p>
            <a:pPr indent="0" marL="0">
              <a:buNone/>
            </a:pPr>
            <a:r>
              <a:rPr lang="en-US" sz="1500" dirty="0">
                <a:solidFill>
                  <a:schemeClr val="tx2"/>
                </a:solidFill>
              </a:rPr>
              <a:t>Chlazení tekutým dusíkem místo emulze</a:t>
            </a:r>
            <a:endParaRPr lang="en-US" sz="1500" dirty="0"/>
          </a:p>
        </p:txBody>
      </p:sp>
      <p:sp>
        <p:nvSpPr>
          <p:cNvPr id="13" name="tile 2"/>
          <p:cNvSpPr/>
          <p:nvPr/>
        </p:nvSpPr>
        <p:spPr>
          <a:xfrm>
            <a:off x="8092440" y="1508760"/>
            <a:ext cx="3520440" cy="2057400"/>
          </a:xfrm>
          <a:prstGeom prst="roundRect">
            <a:avLst>
              <a:gd name="adj" fmla="val 5333"/>
            </a:avLst>
          </a:prstGeom>
          <a:solidFill>
            <a:schemeClr val="bg2"/>
          </a:solidFill>
          <a:ln/>
        </p:spPr>
      </p:sp>
      <p:sp>
        <p:nvSpPr>
          <p:cNvPr id="14" name="tile icon 2 circle"/>
          <p:cNvSpPr/>
          <p:nvPr/>
        </p:nvSpPr>
        <p:spPr>
          <a:xfrm>
            <a:off x="8366760" y="1783080"/>
            <a:ext cx="731520" cy="731520"/>
          </a:xfrm>
          <a:prstGeom prst="ellipse">
            <a:avLst/>
          </a:prstGeom>
          <a:solidFill>
            <a:schemeClr val="accent1"/>
          </a:solidFill>
          <a:ln/>
        </p:spPr>
      </p:sp>
      <p:pic>
        <p:nvPicPr>
          <p:cNvPr id="15" name="tile icon 2" descr="tile icon 2">    </p:cNvPr>
          <p:cNvPicPr>
            <a:picLocks noChangeAspect="1"/>
          </p:cNvPicPr>
          <p:nvPr/>
        </p:nvPicPr>
        <p:blipFill>
          <a:blip r:embed="rId3"/>
          <a:stretch>
            <a:fillRect/>
          </a:stretch>
        </p:blipFill>
        <p:spPr>
          <a:xfrm>
            <a:off x="8527694" y="1944014"/>
            <a:ext cx="409651" cy="409651"/>
          </a:xfrm>
          <a:prstGeom prst="rect">
            <a:avLst/>
          </a:prstGeom>
        </p:spPr>
      </p:pic>
      <p:sp>
        <p:nvSpPr>
          <p:cNvPr id="16" name="tile title 2"/>
          <p:cNvSpPr txBox="1"/>
          <p:nvPr/>
        </p:nvSpPr>
        <p:spPr>
          <a:xfrm>
            <a:off x="9281160" y="1783080"/>
            <a:ext cx="2194560" cy="731520"/>
          </a:xfrm>
          <a:prstGeom prst="rect">
            <a:avLst/>
          </a:prstGeom>
          <a:noFill/>
          <a:ln/>
        </p:spPr>
        <p:txBody>
          <a:bodyPr wrap="square" lIns="0" tIns="0" rIns="0" bIns="0" rtlCol="0" anchor="ctr"/>
          <a:lstStyle/>
          <a:p>
            <a:pPr indent="0" marL="0">
              <a:buNone/>
            </a:pPr>
            <a:r>
              <a:rPr lang="en-US" sz="1600" b="1" dirty="0">
                <a:solidFill>
                  <a:schemeClr val="accent1"/>
                </a:solidFill>
              </a:rPr>
              <a:t>3  </a:t>
            </a:r>
            <a:pPr indent="0" marL="0">
              <a:buNone/>
            </a:pPr>
            <a:r>
              <a:rPr lang="en-US" sz="1600" b="1" dirty="0">
                <a:solidFill>
                  <a:schemeClr val="tx1"/>
                </a:solidFill>
              </a:rPr>
              <a:t>Laserový ohřev</a:t>
            </a:r>
            <a:endParaRPr lang="en-US" sz="1600" dirty="0"/>
          </a:p>
        </p:txBody>
      </p:sp>
      <p:sp>
        <p:nvSpPr>
          <p:cNvPr id="17" name="tile body 2"/>
          <p:cNvSpPr txBox="1"/>
          <p:nvPr/>
        </p:nvSpPr>
        <p:spPr>
          <a:xfrm>
            <a:off x="8366760" y="2697480"/>
            <a:ext cx="2971800" cy="731520"/>
          </a:xfrm>
          <a:prstGeom prst="rect">
            <a:avLst/>
          </a:prstGeom>
          <a:noFill/>
          <a:ln/>
        </p:spPr>
        <p:txBody>
          <a:bodyPr wrap="square" lIns="0" tIns="0" rIns="0" bIns="0" rtlCol="0" anchor="t"/>
          <a:lstStyle/>
          <a:p>
            <a:pPr indent="0" marL="0">
              <a:buNone/>
            </a:pPr>
            <a:r>
              <a:rPr lang="en-US" sz="1500" dirty="0">
                <a:solidFill>
                  <a:schemeClr val="tx2"/>
                </a:solidFill>
              </a:rPr>
              <a:t>Laser změkčí materiál těsně před nožem</a:t>
            </a:r>
            <a:endParaRPr lang="en-US" sz="1500" dirty="0"/>
          </a:p>
        </p:txBody>
      </p:sp>
      <p:sp>
        <p:nvSpPr>
          <p:cNvPr id="18" name="tile 3"/>
          <p:cNvSpPr/>
          <p:nvPr/>
        </p:nvSpPr>
        <p:spPr>
          <a:xfrm>
            <a:off x="548640" y="3840480"/>
            <a:ext cx="3520440" cy="2057400"/>
          </a:xfrm>
          <a:prstGeom prst="roundRect">
            <a:avLst>
              <a:gd name="adj" fmla="val 5333"/>
            </a:avLst>
          </a:prstGeom>
          <a:solidFill>
            <a:schemeClr val="bg2"/>
          </a:solidFill>
          <a:ln/>
        </p:spPr>
      </p:sp>
      <p:sp>
        <p:nvSpPr>
          <p:cNvPr id="19" name="tile icon 3 circle"/>
          <p:cNvSpPr/>
          <p:nvPr/>
        </p:nvSpPr>
        <p:spPr>
          <a:xfrm>
            <a:off x="822960" y="4114800"/>
            <a:ext cx="731520" cy="731520"/>
          </a:xfrm>
          <a:prstGeom prst="ellipse">
            <a:avLst/>
          </a:prstGeom>
          <a:solidFill>
            <a:schemeClr val="accent1"/>
          </a:solidFill>
          <a:ln/>
        </p:spPr>
      </p:sp>
      <p:pic>
        <p:nvPicPr>
          <p:cNvPr id="20" name="tile icon 3" descr="tile icon 3">    </p:cNvPr>
          <p:cNvPicPr>
            <a:picLocks noChangeAspect="1"/>
          </p:cNvPicPr>
          <p:nvPr/>
        </p:nvPicPr>
        <p:blipFill>
          <a:blip r:embed="rId4"/>
          <a:stretch>
            <a:fillRect/>
          </a:stretch>
        </p:blipFill>
        <p:spPr>
          <a:xfrm>
            <a:off x="983894" y="4275734"/>
            <a:ext cx="409651" cy="409651"/>
          </a:xfrm>
          <a:prstGeom prst="rect">
            <a:avLst/>
          </a:prstGeom>
        </p:spPr>
      </p:pic>
      <p:sp>
        <p:nvSpPr>
          <p:cNvPr id="21" name="tile title 3"/>
          <p:cNvSpPr txBox="1"/>
          <p:nvPr/>
        </p:nvSpPr>
        <p:spPr>
          <a:xfrm>
            <a:off x="1737360" y="4114800"/>
            <a:ext cx="2194560" cy="731520"/>
          </a:xfrm>
          <a:prstGeom prst="rect">
            <a:avLst/>
          </a:prstGeom>
          <a:noFill/>
          <a:ln/>
        </p:spPr>
        <p:txBody>
          <a:bodyPr wrap="square" lIns="0" tIns="0" rIns="0" bIns="0" rtlCol="0" anchor="ctr"/>
          <a:lstStyle/>
          <a:p>
            <a:pPr indent="0" marL="0">
              <a:buNone/>
            </a:pPr>
            <a:r>
              <a:rPr lang="en-US" sz="1600" b="1" dirty="0">
                <a:solidFill>
                  <a:schemeClr val="accent1"/>
                </a:solidFill>
              </a:rPr>
              <a:t>4  </a:t>
            </a:r>
            <a:pPr indent="0" marL="0">
              <a:buNone/>
            </a:pPr>
            <a:r>
              <a:rPr lang="en-US" sz="1600" b="1" dirty="0">
                <a:solidFill>
                  <a:schemeClr val="tx1"/>
                </a:solidFill>
              </a:rPr>
              <a:t>Chytré nástroje a AI</a:t>
            </a:r>
            <a:endParaRPr lang="en-US" sz="1600" dirty="0"/>
          </a:p>
        </p:txBody>
      </p:sp>
      <p:sp>
        <p:nvSpPr>
          <p:cNvPr id="22" name="tile body 3"/>
          <p:cNvSpPr txBox="1"/>
          <p:nvPr/>
        </p:nvSpPr>
        <p:spPr>
          <a:xfrm>
            <a:off x="822960" y="5029200"/>
            <a:ext cx="2971800" cy="731520"/>
          </a:xfrm>
          <a:prstGeom prst="rect">
            <a:avLst/>
          </a:prstGeom>
          <a:noFill/>
          <a:ln/>
        </p:spPr>
        <p:txBody>
          <a:bodyPr wrap="square" lIns="0" tIns="0" rIns="0" bIns="0" rtlCol="0" anchor="t"/>
          <a:lstStyle/>
          <a:p>
            <a:pPr indent="0" marL="0">
              <a:buNone/>
            </a:pPr>
            <a:r>
              <a:rPr lang="en-US" sz="1500" dirty="0">
                <a:solidFill>
                  <a:schemeClr val="tx2"/>
                </a:solidFill>
              </a:rPr>
              <a:t>Senzory, adaptivní řízení, digitální dvojče</a:t>
            </a:r>
            <a:endParaRPr lang="en-US" sz="1500" dirty="0"/>
          </a:p>
        </p:txBody>
      </p:sp>
      <p:sp>
        <p:nvSpPr>
          <p:cNvPr id="23" name="tile 4"/>
          <p:cNvSpPr/>
          <p:nvPr/>
        </p:nvSpPr>
        <p:spPr>
          <a:xfrm>
            <a:off x="4320540" y="3840480"/>
            <a:ext cx="3520440" cy="2057400"/>
          </a:xfrm>
          <a:prstGeom prst="roundRect">
            <a:avLst>
              <a:gd name="adj" fmla="val 5333"/>
            </a:avLst>
          </a:prstGeom>
          <a:solidFill>
            <a:schemeClr val="bg2"/>
          </a:solidFill>
          <a:ln/>
        </p:spPr>
      </p:sp>
      <p:sp>
        <p:nvSpPr>
          <p:cNvPr id="24" name="tile icon 4 circle"/>
          <p:cNvSpPr/>
          <p:nvPr/>
        </p:nvSpPr>
        <p:spPr>
          <a:xfrm>
            <a:off x="4594860" y="4114800"/>
            <a:ext cx="731520" cy="731520"/>
          </a:xfrm>
          <a:prstGeom prst="ellipse">
            <a:avLst/>
          </a:prstGeom>
          <a:solidFill>
            <a:schemeClr val="accent1"/>
          </a:solidFill>
          <a:ln/>
        </p:spPr>
      </p:sp>
      <p:pic>
        <p:nvPicPr>
          <p:cNvPr id="25" name="tile icon 4" descr="tile icon 4">    </p:cNvPr>
          <p:cNvPicPr>
            <a:picLocks noChangeAspect="1"/>
          </p:cNvPicPr>
          <p:nvPr/>
        </p:nvPicPr>
        <p:blipFill>
          <a:blip r:embed="rId5"/>
          <a:stretch>
            <a:fillRect/>
          </a:stretch>
        </p:blipFill>
        <p:spPr>
          <a:xfrm>
            <a:off x="4755794" y="4275734"/>
            <a:ext cx="409651" cy="409651"/>
          </a:xfrm>
          <a:prstGeom prst="rect">
            <a:avLst/>
          </a:prstGeom>
        </p:spPr>
      </p:pic>
      <p:sp>
        <p:nvSpPr>
          <p:cNvPr id="26" name="tile title 4"/>
          <p:cNvSpPr txBox="1"/>
          <p:nvPr/>
        </p:nvSpPr>
        <p:spPr>
          <a:xfrm>
            <a:off x="5509260" y="4114800"/>
            <a:ext cx="2194560" cy="731520"/>
          </a:xfrm>
          <a:prstGeom prst="rect">
            <a:avLst/>
          </a:prstGeom>
          <a:noFill/>
          <a:ln/>
        </p:spPr>
        <p:txBody>
          <a:bodyPr wrap="square" lIns="0" tIns="0" rIns="0" bIns="0" rtlCol="0" anchor="ctr"/>
          <a:lstStyle/>
          <a:p>
            <a:pPr indent="0" marL="0">
              <a:buNone/>
            </a:pPr>
            <a:r>
              <a:rPr lang="en-US" sz="1600" b="1" dirty="0">
                <a:solidFill>
                  <a:schemeClr val="accent1"/>
                </a:solidFill>
              </a:rPr>
              <a:t>5  </a:t>
            </a:r>
            <a:pPr indent="0" marL="0">
              <a:buNone/>
            </a:pPr>
            <a:r>
              <a:rPr lang="en-US" sz="1600" b="1" dirty="0">
                <a:solidFill>
                  <a:schemeClr val="tx1"/>
                </a:solidFill>
              </a:rPr>
              <a:t>Ultrazvuk</a:t>
            </a:r>
            <a:endParaRPr lang="en-US" sz="1600" dirty="0"/>
          </a:p>
        </p:txBody>
      </p:sp>
      <p:sp>
        <p:nvSpPr>
          <p:cNvPr id="27" name="tile body 4"/>
          <p:cNvSpPr txBox="1"/>
          <p:nvPr/>
        </p:nvSpPr>
        <p:spPr>
          <a:xfrm>
            <a:off x="4594860" y="5029200"/>
            <a:ext cx="2971800" cy="731520"/>
          </a:xfrm>
          <a:prstGeom prst="rect">
            <a:avLst/>
          </a:prstGeom>
          <a:noFill/>
          <a:ln/>
        </p:spPr>
        <p:txBody>
          <a:bodyPr wrap="square" lIns="0" tIns="0" rIns="0" bIns="0" rtlCol="0" anchor="t"/>
          <a:lstStyle/>
          <a:p>
            <a:pPr indent="0" marL="0">
              <a:buNone/>
            </a:pPr>
            <a:r>
              <a:rPr lang="en-US" sz="1500" dirty="0">
                <a:solidFill>
                  <a:schemeClr val="tx2"/>
                </a:solidFill>
              </a:rPr>
              <a:t>Kmitající nůž obrobí i keramiku a sklo</a:t>
            </a:r>
            <a:endParaRPr lang="en-US" sz="1500" dirty="0"/>
          </a:p>
        </p:txBody>
      </p:sp>
      <p:sp>
        <p:nvSpPr>
          <p:cNvPr id="28" name="tile 5"/>
          <p:cNvSpPr/>
          <p:nvPr/>
        </p:nvSpPr>
        <p:spPr>
          <a:xfrm>
            <a:off x="8092440" y="3840480"/>
            <a:ext cx="3520440" cy="2057400"/>
          </a:xfrm>
          <a:prstGeom prst="roundRect">
            <a:avLst>
              <a:gd name="adj" fmla="val 5333"/>
            </a:avLst>
          </a:prstGeom>
          <a:solidFill>
            <a:schemeClr val="bg2"/>
          </a:solidFill>
          <a:ln/>
        </p:spPr>
      </p:sp>
      <p:sp>
        <p:nvSpPr>
          <p:cNvPr id="29" name="tile icon 5 circle"/>
          <p:cNvSpPr/>
          <p:nvPr/>
        </p:nvSpPr>
        <p:spPr>
          <a:xfrm>
            <a:off x="8366760" y="4114800"/>
            <a:ext cx="731520" cy="731520"/>
          </a:xfrm>
          <a:prstGeom prst="ellipse">
            <a:avLst/>
          </a:prstGeom>
          <a:solidFill>
            <a:schemeClr val="accent1"/>
          </a:solidFill>
          <a:ln/>
        </p:spPr>
      </p:sp>
      <p:pic>
        <p:nvPicPr>
          <p:cNvPr id="30" name="tile icon 5" descr="tile icon 5">    </p:cNvPr>
          <p:cNvPicPr>
            <a:picLocks noChangeAspect="1"/>
          </p:cNvPicPr>
          <p:nvPr/>
        </p:nvPicPr>
        <p:blipFill>
          <a:blip r:embed="rId6"/>
          <a:stretch>
            <a:fillRect/>
          </a:stretch>
        </p:blipFill>
        <p:spPr>
          <a:xfrm>
            <a:off x="8527694" y="4275734"/>
            <a:ext cx="409651" cy="409651"/>
          </a:xfrm>
          <a:prstGeom prst="rect">
            <a:avLst/>
          </a:prstGeom>
        </p:spPr>
      </p:pic>
      <p:sp>
        <p:nvSpPr>
          <p:cNvPr id="31" name="tile title 5"/>
          <p:cNvSpPr txBox="1"/>
          <p:nvPr/>
        </p:nvSpPr>
        <p:spPr>
          <a:xfrm>
            <a:off x="9281160" y="4114800"/>
            <a:ext cx="2194560" cy="731520"/>
          </a:xfrm>
          <a:prstGeom prst="rect">
            <a:avLst/>
          </a:prstGeom>
          <a:noFill/>
          <a:ln/>
        </p:spPr>
        <p:txBody>
          <a:bodyPr wrap="square" lIns="0" tIns="0" rIns="0" bIns="0" rtlCol="0" anchor="ctr"/>
          <a:lstStyle/>
          <a:p>
            <a:pPr indent="0" marL="0">
              <a:buNone/>
            </a:pPr>
            <a:r>
              <a:rPr lang="en-US" sz="1600" b="1" dirty="0">
                <a:solidFill>
                  <a:schemeClr val="accent1"/>
                </a:solidFill>
              </a:rPr>
              <a:t>6  </a:t>
            </a:r>
            <a:pPr indent="0" marL="0">
              <a:buNone/>
            </a:pPr>
            <a:r>
              <a:rPr lang="en-US" sz="1600" b="1" dirty="0">
                <a:solidFill>
                  <a:schemeClr val="tx1"/>
                </a:solidFill>
              </a:rPr>
              <a:t>Diamantové soustružení</a:t>
            </a:r>
            <a:endParaRPr lang="en-US" sz="1600" dirty="0"/>
          </a:p>
        </p:txBody>
      </p:sp>
      <p:sp>
        <p:nvSpPr>
          <p:cNvPr id="32" name="tile body 5"/>
          <p:cNvSpPr txBox="1"/>
          <p:nvPr/>
        </p:nvSpPr>
        <p:spPr>
          <a:xfrm>
            <a:off x="8366760" y="5029200"/>
            <a:ext cx="2971800" cy="731520"/>
          </a:xfrm>
          <a:prstGeom prst="rect">
            <a:avLst/>
          </a:prstGeom>
          <a:noFill/>
          <a:ln/>
        </p:spPr>
        <p:txBody>
          <a:bodyPr wrap="square" lIns="0" tIns="0" rIns="0" bIns="0" rtlCol="0" anchor="t"/>
          <a:lstStyle/>
          <a:p>
            <a:pPr indent="0" marL="0">
              <a:buNone/>
            </a:pPr>
            <a:r>
              <a:rPr lang="en-US" sz="1500" dirty="0">
                <a:solidFill>
                  <a:schemeClr val="tx2"/>
                </a:solidFill>
              </a:rPr>
              <a:t>Povrch hladký na jednotky nanometrů</a:t>
            </a:r>
            <a:endParaRPr lang="en-US" sz="15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indent="0" marL="0">
              <a:buNone/>
            </a:pPr>
            <a:r>
              <a:rPr lang="en-US" sz="3400" b="1" dirty="0">
                <a:solidFill>
                  <a:schemeClr val="tx1"/>
                </a:solidFill>
              </a:rPr>
              <a:t>1 · Hybridní stroje: 3D tisk + obrábění</a:t>
            </a:r>
            <a:endParaRPr lang="en-US" sz="3400" dirty="0"/>
          </a:p>
        </p:txBody>
      </p:sp>
      <p:sp>
        <p:nvSpPr>
          <p:cNvPr id="3" name="step 0"/>
          <p:cNvSpPr/>
          <p:nvPr/>
        </p:nvSpPr>
        <p:spPr>
          <a:xfrm>
            <a:off x="548640" y="1463040"/>
            <a:ext cx="3383280" cy="2011680"/>
          </a:xfrm>
          <a:prstGeom prst="roundRect">
            <a:avLst>
              <a:gd name="adj" fmla="val 5455"/>
            </a:avLst>
          </a:prstGeom>
          <a:solidFill>
            <a:schemeClr val="bg2"/>
          </a:solidFill>
          <a:ln/>
        </p:spPr>
      </p:sp>
      <p:sp>
        <p:nvSpPr>
          <p:cNvPr id="4" name="step icon 0 circle"/>
          <p:cNvSpPr/>
          <p:nvPr/>
        </p:nvSpPr>
        <p:spPr>
          <a:xfrm>
            <a:off x="822960" y="1691640"/>
            <a:ext cx="731520" cy="731520"/>
          </a:xfrm>
          <a:prstGeom prst="ellipse">
            <a:avLst/>
          </a:prstGeom>
          <a:solidFill>
            <a:schemeClr val="accent1"/>
          </a:solidFill>
          <a:ln/>
        </p:spPr>
      </p:sp>
      <p:pic>
        <p:nvPicPr>
          <p:cNvPr id="5" name="step icon 0" descr="step icon 0">    </p:cNvPr>
          <p:cNvPicPr>
            <a:picLocks noChangeAspect="1"/>
          </p:cNvPicPr>
          <p:nvPr/>
        </p:nvPicPr>
        <p:blipFill>
          <a:blip r:embed="rId1"/>
          <a:stretch>
            <a:fillRect/>
          </a:stretch>
        </p:blipFill>
        <p:spPr>
          <a:xfrm>
            <a:off x="983894" y="1852574"/>
            <a:ext cx="409651" cy="409651"/>
          </a:xfrm>
          <a:prstGeom prst="rect">
            <a:avLst/>
          </a:prstGeom>
        </p:spPr>
      </p:pic>
      <p:sp>
        <p:nvSpPr>
          <p:cNvPr id="6" name="step title 0"/>
          <p:cNvSpPr txBox="1"/>
          <p:nvPr/>
        </p:nvSpPr>
        <p:spPr>
          <a:xfrm>
            <a:off x="1737360" y="1691640"/>
            <a:ext cx="2011680" cy="731520"/>
          </a:xfrm>
          <a:prstGeom prst="rect">
            <a:avLst/>
          </a:prstGeom>
          <a:noFill/>
          <a:ln/>
        </p:spPr>
        <p:txBody>
          <a:bodyPr wrap="square" lIns="0" tIns="0" rIns="0" bIns="0" rtlCol="0" anchor="ctr"/>
          <a:lstStyle/>
          <a:p>
            <a:pPr indent="0" marL="0">
              <a:buNone/>
            </a:pPr>
            <a:r>
              <a:rPr lang="en-US" sz="2000" b="1" dirty="0">
                <a:solidFill>
                  <a:schemeClr val="tx1"/>
                </a:solidFill>
              </a:rPr>
              <a:t>Natisknout</a:t>
            </a:r>
            <a:endParaRPr lang="en-US" sz="2000" dirty="0"/>
          </a:p>
        </p:txBody>
      </p:sp>
      <p:sp>
        <p:nvSpPr>
          <p:cNvPr id="7" name="step body 0"/>
          <p:cNvSpPr txBox="1"/>
          <p:nvPr/>
        </p:nvSpPr>
        <p:spPr>
          <a:xfrm>
            <a:off x="822960" y="2560320"/>
            <a:ext cx="2880360" cy="868680"/>
          </a:xfrm>
          <a:prstGeom prst="rect">
            <a:avLst/>
          </a:prstGeom>
          <a:noFill/>
          <a:ln/>
        </p:spPr>
        <p:txBody>
          <a:bodyPr wrap="square" lIns="0" tIns="0" rIns="0" bIns="0" rtlCol="0" anchor="t"/>
          <a:lstStyle/>
          <a:p>
            <a:pPr indent="0" marL="0">
              <a:buNone/>
            </a:pPr>
            <a:r>
              <a:rPr lang="en-US" sz="1400" dirty="0">
                <a:solidFill>
                  <a:schemeClr val="tx2"/>
                </a:solidFill>
              </a:rPr>
              <a:t>Laser taví kovový prášek a vrstvu po vrstvě staví hrubý tvar (DED)</a:t>
            </a:r>
            <a:endParaRPr lang="en-US" sz="1400" dirty="0"/>
          </a:p>
        </p:txBody>
      </p:sp>
      <p:pic>
        <p:nvPicPr>
          <p:cNvPr id="8" name="arrow 0" descr="šipka">    </p:cNvPr>
          <p:cNvPicPr>
            <a:picLocks noChangeAspect="1"/>
          </p:cNvPicPr>
          <p:nvPr/>
        </p:nvPicPr>
        <p:blipFill>
          <a:blip r:embed="rId2"/>
          <a:stretch>
            <a:fillRect/>
          </a:stretch>
        </p:blipFill>
        <p:spPr>
          <a:xfrm>
            <a:off x="4005072" y="2267712"/>
            <a:ext cx="384048" cy="384048"/>
          </a:xfrm>
          <a:prstGeom prst="rect">
            <a:avLst/>
          </a:prstGeom>
        </p:spPr>
      </p:pic>
      <p:sp>
        <p:nvSpPr>
          <p:cNvPr id="9" name="step 1"/>
          <p:cNvSpPr/>
          <p:nvPr/>
        </p:nvSpPr>
        <p:spPr>
          <a:xfrm>
            <a:off x="4389120" y="1463040"/>
            <a:ext cx="3383280" cy="2011680"/>
          </a:xfrm>
          <a:prstGeom prst="roundRect">
            <a:avLst>
              <a:gd name="adj" fmla="val 5455"/>
            </a:avLst>
          </a:prstGeom>
          <a:solidFill>
            <a:schemeClr val="bg2"/>
          </a:solidFill>
          <a:ln/>
        </p:spPr>
      </p:sp>
      <p:sp>
        <p:nvSpPr>
          <p:cNvPr id="10" name="step icon 1 circle"/>
          <p:cNvSpPr/>
          <p:nvPr/>
        </p:nvSpPr>
        <p:spPr>
          <a:xfrm>
            <a:off x="4663440" y="1691640"/>
            <a:ext cx="731520" cy="731520"/>
          </a:xfrm>
          <a:prstGeom prst="ellipse">
            <a:avLst/>
          </a:prstGeom>
          <a:solidFill>
            <a:schemeClr val="accent1"/>
          </a:solidFill>
          <a:ln/>
        </p:spPr>
      </p:sp>
      <p:pic>
        <p:nvPicPr>
          <p:cNvPr id="11" name="step icon 1" descr="step icon 1">    </p:cNvPr>
          <p:cNvPicPr>
            <a:picLocks noChangeAspect="1"/>
          </p:cNvPicPr>
          <p:nvPr/>
        </p:nvPicPr>
        <p:blipFill>
          <a:blip r:embed="rId3"/>
          <a:stretch>
            <a:fillRect/>
          </a:stretch>
        </p:blipFill>
        <p:spPr>
          <a:xfrm>
            <a:off x="4824374" y="1852574"/>
            <a:ext cx="409651" cy="409651"/>
          </a:xfrm>
          <a:prstGeom prst="rect">
            <a:avLst/>
          </a:prstGeom>
        </p:spPr>
      </p:pic>
      <p:sp>
        <p:nvSpPr>
          <p:cNvPr id="12" name="step title 1"/>
          <p:cNvSpPr txBox="1"/>
          <p:nvPr/>
        </p:nvSpPr>
        <p:spPr>
          <a:xfrm>
            <a:off x="5577840" y="1691640"/>
            <a:ext cx="2011680" cy="731520"/>
          </a:xfrm>
          <a:prstGeom prst="rect">
            <a:avLst/>
          </a:prstGeom>
          <a:noFill/>
          <a:ln/>
        </p:spPr>
        <p:txBody>
          <a:bodyPr wrap="square" lIns="0" tIns="0" rIns="0" bIns="0" rtlCol="0" anchor="ctr"/>
          <a:lstStyle/>
          <a:p>
            <a:pPr indent="0" marL="0">
              <a:buNone/>
            </a:pPr>
            <a:r>
              <a:rPr lang="en-US" sz="2000" b="1" dirty="0">
                <a:solidFill>
                  <a:schemeClr val="tx1"/>
                </a:solidFill>
              </a:rPr>
              <a:t>Obrobit</a:t>
            </a:r>
            <a:endParaRPr lang="en-US" sz="2000" dirty="0"/>
          </a:p>
        </p:txBody>
      </p:sp>
      <p:sp>
        <p:nvSpPr>
          <p:cNvPr id="13" name="step body 1"/>
          <p:cNvSpPr txBox="1"/>
          <p:nvPr/>
        </p:nvSpPr>
        <p:spPr>
          <a:xfrm>
            <a:off x="4663440" y="2560320"/>
            <a:ext cx="2880360" cy="868680"/>
          </a:xfrm>
          <a:prstGeom prst="rect">
            <a:avLst/>
          </a:prstGeom>
          <a:noFill/>
          <a:ln/>
        </p:spPr>
        <p:txBody>
          <a:bodyPr wrap="square" lIns="0" tIns="0" rIns="0" bIns="0" rtlCol="0" anchor="t"/>
          <a:lstStyle/>
          <a:p>
            <a:pPr indent="0" marL="0">
              <a:buNone/>
            </a:pPr>
            <a:r>
              <a:rPr lang="en-US" sz="1400" dirty="0">
                <a:solidFill>
                  <a:schemeClr val="tx2"/>
                </a:solidFill>
              </a:rPr>
              <a:t>Soustružnické a frézovací vřeteno dorobí díl na přesný rozměr</a:t>
            </a:r>
            <a:endParaRPr lang="en-US" sz="1400" dirty="0"/>
          </a:p>
        </p:txBody>
      </p:sp>
      <p:pic>
        <p:nvPicPr>
          <p:cNvPr id="14" name="arrow 1" descr="šipka">    </p:cNvPr>
          <p:cNvPicPr>
            <a:picLocks noChangeAspect="1"/>
          </p:cNvPicPr>
          <p:nvPr/>
        </p:nvPicPr>
        <p:blipFill>
          <a:blip r:embed="rId4"/>
          <a:stretch>
            <a:fillRect/>
          </a:stretch>
        </p:blipFill>
        <p:spPr>
          <a:xfrm>
            <a:off x="7845552" y="2267712"/>
            <a:ext cx="384048" cy="384048"/>
          </a:xfrm>
          <a:prstGeom prst="rect">
            <a:avLst/>
          </a:prstGeom>
        </p:spPr>
      </p:pic>
      <p:sp>
        <p:nvSpPr>
          <p:cNvPr id="15" name="step 2"/>
          <p:cNvSpPr/>
          <p:nvPr/>
        </p:nvSpPr>
        <p:spPr>
          <a:xfrm>
            <a:off x="8229600" y="1463040"/>
            <a:ext cx="3383280" cy="2011680"/>
          </a:xfrm>
          <a:prstGeom prst="roundRect">
            <a:avLst>
              <a:gd name="adj" fmla="val 5455"/>
            </a:avLst>
          </a:prstGeom>
          <a:solidFill>
            <a:schemeClr val="bg2"/>
          </a:solidFill>
          <a:ln/>
        </p:spPr>
      </p:sp>
      <p:sp>
        <p:nvSpPr>
          <p:cNvPr id="16" name="step icon 2 circle"/>
          <p:cNvSpPr/>
          <p:nvPr/>
        </p:nvSpPr>
        <p:spPr>
          <a:xfrm>
            <a:off x="8503920" y="1691640"/>
            <a:ext cx="731520" cy="731520"/>
          </a:xfrm>
          <a:prstGeom prst="ellipse">
            <a:avLst/>
          </a:prstGeom>
          <a:solidFill>
            <a:schemeClr val="accent1"/>
          </a:solidFill>
          <a:ln/>
        </p:spPr>
      </p:sp>
      <p:pic>
        <p:nvPicPr>
          <p:cNvPr id="17" name="step icon 2" descr="step icon 2">    </p:cNvPr>
          <p:cNvPicPr>
            <a:picLocks noChangeAspect="1"/>
          </p:cNvPicPr>
          <p:nvPr/>
        </p:nvPicPr>
        <p:blipFill>
          <a:blip r:embed="rId5"/>
          <a:stretch>
            <a:fillRect/>
          </a:stretch>
        </p:blipFill>
        <p:spPr>
          <a:xfrm>
            <a:off x="8664854" y="1852574"/>
            <a:ext cx="409651" cy="409651"/>
          </a:xfrm>
          <a:prstGeom prst="rect">
            <a:avLst/>
          </a:prstGeom>
        </p:spPr>
      </p:pic>
      <p:sp>
        <p:nvSpPr>
          <p:cNvPr id="18" name="step title 2"/>
          <p:cNvSpPr txBox="1"/>
          <p:nvPr/>
        </p:nvSpPr>
        <p:spPr>
          <a:xfrm>
            <a:off x="9418320" y="1691640"/>
            <a:ext cx="2011680" cy="731520"/>
          </a:xfrm>
          <a:prstGeom prst="rect">
            <a:avLst/>
          </a:prstGeom>
          <a:noFill/>
          <a:ln/>
        </p:spPr>
        <p:txBody>
          <a:bodyPr wrap="square" lIns="0" tIns="0" rIns="0" bIns="0" rtlCol="0" anchor="ctr"/>
          <a:lstStyle/>
          <a:p>
            <a:pPr indent="0" marL="0">
              <a:buNone/>
            </a:pPr>
            <a:r>
              <a:rPr lang="en-US" sz="2000" b="1" dirty="0">
                <a:solidFill>
                  <a:schemeClr val="tx1"/>
                </a:solidFill>
              </a:rPr>
              <a:t>Hotovo</a:t>
            </a:r>
            <a:endParaRPr lang="en-US" sz="2000" dirty="0"/>
          </a:p>
        </p:txBody>
      </p:sp>
      <p:sp>
        <p:nvSpPr>
          <p:cNvPr id="19" name="step body 2"/>
          <p:cNvSpPr txBox="1"/>
          <p:nvPr/>
        </p:nvSpPr>
        <p:spPr>
          <a:xfrm>
            <a:off x="8503920" y="2560320"/>
            <a:ext cx="2880360" cy="868680"/>
          </a:xfrm>
          <a:prstGeom prst="rect">
            <a:avLst/>
          </a:prstGeom>
          <a:noFill/>
          <a:ln/>
        </p:spPr>
        <p:txBody>
          <a:bodyPr wrap="square" lIns="0" tIns="0" rIns="0" bIns="0" rtlCol="0" anchor="t"/>
          <a:lstStyle/>
          <a:p>
            <a:pPr indent="0" marL="0">
              <a:buNone/>
            </a:pPr>
            <a:r>
              <a:rPr lang="en-US" sz="1400" dirty="0">
                <a:solidFill>
                  <a:schemeClr val="tx2"/>
                </a:solidFill>
              </a:rPr>
              <a:t>Vše na jedno upnutí, bez přenášení mezi stroji</a:t>
            </a:r>
            <a:endParaRPr lang="en-US" sz="1400" dirty="0"/>
          </a:p>
        </p:txBody>
      </p:sp>
      <p:sp>
        <p:nvSpPr>
          <p:cNvPr id="20" name="why title"/>
          <p:cNvSpPr txBox="1"/>
          <p:nvPr/>
        </p:nvSpPr>
        <p:spPr>
          <a:xfrm>
            <a:off x="548640" y="3840480"/>
            <a:ext cx="6400800" cy="457200"/>
          </a:xfrm>
          <a:prstGeom prst="rect">
            <a:avLst/>
          </a:prstGeom>
          <a:noFill/>
          <a:ln/>
        </p:spPr>
        <p:txBody>
          <a:bodyPr wrap="square" lIns="0" tIns="0" rIns="0" bIns="0" rtlCol="0" anchor="t"/>
          <a:lstStyle/>
          <a:p>
            <a:pPr indent="0" marL="0">
              <a:buNone/>
            </a:pPr>
            <a:r>
              <a:rPr lang="en-US" sz="2000" b="1" dirty="0">
                <a:solidFill>
                  <a:schemeClr val="tx1"/>
                </a:solidFill>
              </a:rPr>
              <a:t>Proč je to užitečné</a:t>
            </a:r>
            <a:endParaRPr lang="en-US" sz="2000" dirty="0"/>
          </a:p>
        </p:txBody>
      </p:sp>
      <p:sp>
        <p:nvSpPr>
          <p:cNvPr id="21" name="why list"/>
          <p:cNvSpPr txBox="1"/>
          <p:nvPr/>
        </p:nvSpPr>
        <p:spPr>
          <a:xfrm>
            <a:off x="548640" y="4389120"/>
            <a:ext cx="6675120" cy="1737360"/>
          </a:xfrm>
          <a:prstGeom prst="rect">
            <a:avLst/>
          </a:prstGeom>
          <a:noFill/>
          <a:ln/>
        </p:spPr>
        <p:txBody>
          <a:bodyPr wrap="square" lIns="0" tIns="0" rIns="0" bIns="0" rtlCol="0" anchor="t"/>
          <a:lstStyle/>
          <a:p>
            <a:pPr marL="228600" indent="-228600">
              <a:spcAft>
                <a:spcPts val="800"/>
              </a:spcAft>
              <a:buSzPct val="100000"/>
              <a:buChar char="•"/>
            </a:pPr>
            <a:r>
              <a:rPr lang="en-US" sz="1500" dirty="0">
                <a:solidFill>
                  <a:schemeClr val="tx2"/>
                </a:solidFill>
              </a:rPr>
              <a:t>Vyšší přesnost: díl se mezi kroky nepřepíná</a:t>
            </a:r>
            <a:endParaRPr lang="en-US" sz="1500" dirty="0"/>
          </a:p>
          <a:p>
            <a:pPr marL="228600" indent="-228600">
              <a:spcAft>
                <a:spcPts val="800"/>
              </a:spcAft>
              <a:buSzPct val="100000"/>
              <a:buChar char="•"/>
            </a:pPr>
            <a:r>
              <a:rPr lang="en-US" sz="1500" dirty="0">
                <a:solidFill>
                  <a:schemeClr val="tx2"/>
                </a:solidFill>
              </a:rPr>
              <a:t>Méně odpadu: materiál se přidává jen tam, kde je potřeba</a:t>
            </a:r>
            <a:endParaRPr lang="en-US" sz="1500" dirty="0"/>
          </a:p>
          <a:p>
            <a:pPr marL="228600" indent="-228600">
              <a:spcAft>
                <a:spcPts val="800"/>
              </a:spcAft>
              <a:buSzPct val="100000"/>
              <a:buChar char="•"/>
            </a:pPr>
            <a:r>
              <a:rPr lang="en-US" sz="1500" dirty="0">
                <a:solidFill>
                  <a:schemeClr val="tx2"/>
                </a:solidFill>
              </a:rPr>
              <a:t>Opravy drahých dílů: navaření a obrobení opotřebené lopatky turbíny</a:t>
            </a:r>
            <a:endParaRPr lang="en-US" sz="1500" dirty="0"/>
          </a:p>
        </p:txBody>
      </p:sp>
      <p:sp>
        <p:nvSpPr>
          <p:cNvPr id="22" name="examples card"/>
          <p:cNvSpPr/>
          <p:nvPr/>
        </p:nvSpPr>
        <p:spPr>
          <a:xfrm>
            <a:off x="7589520" y="3840480"/>
            <a:ext cx="4023360" cy="2194560"/>
          </a:xfrm>
          <a:prstGeom prst="roundRect">
            <a:avLst>
              <a:gd name="adj" fmla="val 5000"/>
            </a:avLst>
          </a:prstGeom>
          <a:solidFill>
            <a:schemeClr val="tx1"/>
          </a:solidFill>
          <a:ln/>
        </p:spPr>
      </p:sp>
      <p:sp>
        <p:nvSpPr>
          <p:cNvPr id="23" name="ex title"/>
          <p:cNvSpPr txBox="1"/>
          <p:nvPr/>
        </p:nvSpPr>
        <p:spPr>
          <a:xfrm>
            <a:off x="7863840" y="4023360"/>
            <a:ext cx="3566160" cy="411480"/>
          </a:xfrm>
          <a:prstGeom prst="rect">
            <a:avLst/>
          </a:prstGeom>
          <a:noFill/>
          <a:ln/>
        </p:spPr>
        <p:txBody>
          <a:bodyPr wrap="square" lIns="0" tIns="0" rIns="0" bIns="0" rtlCol="0" anchor="t"/>
          <a:lstStyle/>
          <a:p>
            <a:pPr indent="0" marL="0">
              <a:buNone/>
            </a:pPr>
            <a:r>
              <a:rPr lang="en-US" sz="1800" b="1" dirty="0">
                <a:solidFill>
                  <a:schemeClr val="accent1"/>
                </a:solidFill>
              </a:rPr>
              <a:t>Příklady strojů</a:t>
            </a:r>
            <a:endParaRPr lang="en-US" sz="1800" dirty="0"/>
          </a:p>
        </p:txBody>
      </p:sp>
      <p:sp>
        <p:nvSpPr>
          <p:cNvPr id="24" name="ex list"/>
          <p:cNvSpPr txBox="1"/>
          <p:nvPr/>
        </p:nvSpPr>
        <p:spPr>
          <a:xfrm>
            <a:off x="7863840" y="4526280"/>
            <a:ext cx="3566160" cy="1371600"/>
          </a:xfrm>
          <a:prstGeom prst="rect">
            <a:avLst/>
          </a:prstGeom>
          <a:noFill/>
          <a:ln/>
        </p:spPr>
        <p:txBody>
          <a:bodyPr wrap="square" lIns="0" tIns="0" rIns="0" bIns="0" rtlCol="0" anchor="t"/>
          <a:lstStyle/>
          <a:p>
            <a:pPr marL="228600" indent="-228600">
              <a:spcAft>
                <a:spcPts val="600"/>
              </a:spcAft>
              <a:buSzPct val="100000"/>
              <a:buChar char="•"/>
            </a:pPr>
            <a:r>
              <a:rPr lang="en-US" sz="1500" dirty="0">
                <a:solidFill>
                  <a:schemeClr val="bg1"/>
                </a:solidFill>
              </a:rPr>
              <a:t>Okuma LASER EX</a:t>
            </a:r>
            <a:endParaRPr lang="en-US" sz="1500" dirty="0"/>
          </a:p>
          <a:p>
            <a:pPr marL="228600" indent="-228600">
              <a:spcAft>
                <a:spcPts val="600"/>
              </a:spcAft>
              <a:buSzPct val="100000"/>
              <a:buChar char="•"/>
            </a:pPr>
            <a:r>
              <a:rPr lang="en-US" sz="1500" dirty="0">
                <a:solidFill>
                  <a:schemeClr val="bg1"/>
                </a:solidFill>
              </a:rPr>
              <a:t>DMG MORI LASERTEC DED hybrid</a:t>
            </a:r>
            <a:endParaRPr lang="en-US" sz="1500" dirty="0"/>
          </a:p>
          <a:p>
            <a:pPr marL="228600" indent="-228600">
              <a:spcAft>
                <a:spcPts val="600"/>
              </a:spcAft>
              <a:buSzPct val="100000"/>
              <a:buChar char="•"/>
            </a:pPr>
            <a:r>
              <a:rPr lang="en-US" sz="1500" dirty="0">
                <a:solidFill>
                  <a:schemeClr val="bg1"/>
                </a:solidFill>
              </a:rPr>
              <a:t>Mazak INTEGREX i-AM</a:t>
            </a:r>
            <a:endParaRPr lang="en-US" sz="15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indent="0" marL="0">
              <a:buNone/>
            </a:pPr>
            <a:r>
              <a:rPr lang="en-US" sz="3400" b="1" dirty="0">
                <a:solidFill>
                  <a:schemeClr val="tx1"/>
                </a:solidFill>
              </a:rPr>
              <a:t>2 · Kryogenní obrábění: chlazení tekutým dusíkem</a:t>
            </a:r>
            <a:endParaRPr lang="en-US" sz="3400" dirty="0"/>
          </a:p>
        </p:txBody>
      </p:sp>
      <p:sp>
        <p:nvSpPr>
          <p:cNvPr id="3" name="stat 0"/>
          <p:cNvSpPr/>
          <p:nvPr/>
        </p:nvSpPr>
        <p:spPr>
          <a:xfrm>
            <a:off x="548640" y="1463040"/>
            <a:ext cx="3520440" cy="1828800"/>
          </a:xfrm>
          <a:prstGeom prst="roundRect">
            <a:avLst>
              <a:gd name="adj" fmla="val 6000"/>
            </a:avLst>
          </a:prstGeom>
          <a:solidFill>
            <a:schemeClr val="bg2"/>
          </a:solidFill>
          <a:ln/>
        </p:spPr>
      </p:sp>
      <p:sp>
        <p:nvSpPr>
          <p:cNvPr id="4" name="stat value 0"/>
          <p:cNvSpPr txBox="1"/>
          <p:nvPr/>
        </p:nvSpPr>
        <p:spPr>
          <a:xfrm>
            <a:off x="822960" y="1600200"/>
            <a:ext cx="3017520" cy="868680"/>
          </a:xfrm>
          <a:prstGeom prst="rect">
            <a:avLst/>
          </a:prstGeom>
          <a:noFill/>
          <a:ln/>
        </p:spPr>
        <p:txBody>
          <a:bodyPr wrap="square" lIns="0" tIns="0" rIns="0" bIns="0" rtlCol="0" anchor="t"/>
          <a:lstStyle/>
          <a:p>
            <a:pPr indent="0" marL="0">
              <a:buNone/>
            </a:pPr>
            <a:r>
              <a:rPr lang="en-US" sz="4400" b="1" dirty="0">
                <a:solidFill>
                  <a:schemeClr val="accent2"/>
                </a:solidFill>
                <a:latin typeface="Arial" pitchFamily="34" charset="0"/>
                <a:ea typeface="Arial" pitchFamily="34" charset="-122"/>
                <a:cs typeface="Arial" pitchFamily="34" charset="-120"/>
              </a:rPr>
              <a:t>−196 °C</a:t>
            </a:r>
            <a:endParaRPr lang="en-US" sz="4400" dirty="0"/>
          </a:p>
        </p:txBody>
      </p:sp>
      <p:sp>
        <p:nvSpPr>
          <p:cNvPr id="5" name="stat label 0"/>
          <p:cNvSpPr txBox="1"/>
          <p:nvPr/>
        </p:nvSpPr>
        <p:spPr>
          <a:xfrm>
            <a:off x="822960" y="2514600"/>
            <a:ext cx="3017520" cy="685800"/>
          </a:xfrm>
          <a:prstGeom prst="rect">
            <a:avLst/>
          </a:prstGeom>
          <a:noFill/>
          <a:ln/>
        </p:spPr>
        <p:txBody>
          <a:bodyPr wrap="square" lIns="0" tIns="0" rIns="0" bIns="0" rtlCol="0" anchor="t"/>
          <a:lstStyle/>
          <a:p>
            <a:pPr indent="0" marL="0">
              <a:buNone/>
            </a:pPr>
            <a:r>
              <a:rPr lang="en-US" sz="1400" dirty="0">
                <a:solidFill>
                  <a:schemeClr val="tx2"/>
                </a:solidFill>
              </a:rPr>
              <a:t>tekutý dusík (LN₂) stříkaný přímo na břit</a:t>
            </a:r>
            <a:endParaRPr lang="en-US" sz="1400" dirty="0"/>
          </a:p>
        </p:txBody>
      </p:sp>
      <p:sp>
        <p:nvSpPr>
          <p:cNvPr id="6" name="stat 1"/>
          <p:cNvSpPr/>
          <p:nvPr/>
        </p:nvSpPr>
        <p:spPr>
          <a:xfrm>
            <a:off x="4320540" y="1463040"/>
            <a:ext cx="3520440" cy="1828800"/>
          </a:xfrm>
          <a:prstGeom prst="roundRect">
            <a:avLst>
              <a:gd name="adj" fmla="val 6000"/>
            </a:avLst>
          </a:prstGeom>
          <a:solidFill>
            <a:schemeClr val="bg2"/>
          </a:solidFill>
          <a:ln/>
        </p:spPr>
      </p:sp>
      <p:sp>
        <p:nvSpPr>
          <p:cNvPr id="7" name="stat value 1"/>
          <p:cNvSpPr txBox="1"/>
          <p:nvPr/>
        </p:nvSpPr>
        <p:spPr>
          <a:xfrm>
            <a:off x="4594860" y="1600200"/>
            <a:ext cx="3017520" cy="868680"/>
          </a:xfrm>
          <a:prstGeom prst="rect">
            <a:avLst/>
          </a:prstGeom>
          <a:noFill/>
          <a:ln/>
        </p:spPr>
        <p:txBody>
          <a:bodyPr wrap="square" lIns="0" tIns="0" rIns="0" bIns="0" rtlCol="0" anchor="t"/>
          <a:lstStyle/>
          <a:p>
            <a:pPr indent="0" marL="0">
              <a:buNone/>
            </a:pPr>
            <a:r>
              <a:rPr lang="en-US" sz="4400" b="1" dirty="0">
                <a:solidFill>
                  <a:schemeClr val="accent2"/>
                </a:solidFill>
                <a:latin typeface="Arial" pitchFamily="34" charset="0"/>
                <a:ea typeface="Arial" pitchFamily="34" charset="-122"/>
                <a:cs typeface="Arial" pitchFamily="34" charset="-120"/>
              </a:rPr>
              <a:t>−78 °C</a:t>
            </a:r>
            <a:endParaRPr lang="en-US" sz="4400" dirty="0"/>
          </a:p>
        </p:txBody>
      </p:sp>
      <p:sp>
        <p:nvSpPr>
          <p:cNvPr id="8" name="stat label 1"/>
          <p:cNvSpPr txBox="1"/>
          <p:nvPr/>
        </p:nvSpPr>
        <p:spPr>
          <a:xfrm>
            <a:off x="4594860" y="2514600"/>
            <a:ext cx="3017520" cy="685800"/>
          </a:xfrm>
          <a:prstGeom prst="rect">
            <a:avLst/>
          </a:prstGeom>
          <a:noFill/>
          <a:ln/>
        </p:spPr>
        <p:txBody>
          <a:bodyPr wrap="square" lIns="0" tIns="0" rIns="0" bIns="0" rtlCol="0" anchor="t"/>
          <a:lstStyle/>
          <a:p>
            <a:pPr indent="0" marL="0">
              <a:buNone/>
            </a:pPr>
            <a:r>
              <a:rPr lang="en-US" sz="1400" dirty="0">
                <a:solidFill>
                  <a:schemeClr val="tx2"/>
                </a:solidFill>
              </a:rPr>
              <a:t>oxid uhličitý: po vystříknutí se mění na „sníh“</a:t>
            </a:r>
            <a:endParaRPr lang="en-US" sz="1400" dirty="0"/>
          </a:p>
        </p:txBody>
      </p:sp>
      <p:sp>
        <p:nvSpPr>
          <p:cNvPr id="9" name="stat 2"/>
          <p:cNvSpPr/>
          <p:nvPr/>
        </p:nvSpPr>
        <p:spPr>
          <a:xfrm>
            <a:off x="8092440" y="1463040"/>
            <a:ext cx="3520440" cy="1828800"/>
          </a:xfrm>
          <a:prstGeom prst="roundRect">
            <a:avLst>
              <a:gd name="adj" fmla="val 6000"/>
            </a:avLst>
          </a:prstGeom>
          <a:solidFill>
            <a:schemeClr val="bg2"/>
          </a:solidFill>
          <a:ln/>
        </p:spPr>
      </p:sp>
      <p:sp>
        <p:nvSpPr>
          <p:cNvPr id="10" name="stat value 2"/>
          <p:cNvSpPr txBox="1"/>
          <p:nvPr/>
        </p:nvSpPr>
        <p:spPr>
          <a:xfrm>
            <a:off x="8366760" y="1600200"/>
            <a:ext cx="3017520" cy="868680"/>
          </a:xfrm>
          <a:prstGeom prst="rect">
            <a:avLst/>
          </a:prstGeom>
          <a:noFill/>
          <a:ln/>
        </p:spPr>
        <p:txBody>
          <a:bodyPr wrap="square" lIns="0" tIns="0" rIns="0" bIns="0" rtlCol="0" anchor="t"/>
          <a:lstStyle/>
          <a:p>
            <a:pPr indent="0" marL="0">
              <a:buNone/>
            </a:pPr>
            <a:r>
              <a:rPr lang="en-US" sz="4400" b="1" dirty="0">
                <a:solidFill>
                  <a:schemeClr val="accent1"/>
                </a:solidFill>
                <a:latin typeface="Arial" pitchFamily="34" charset="0"/>
                <a:ea typeface="Arial" pitchFamily="34" charset="-122"/>
                <a:cs typeface="Arial" pitchFamily="34" charset="-120"/>
              </a:rPr>
              <a:t>až 2–3×</a:t>
            </a:r>
            <a:endParaRPr lang="en-US" sz="4400" dirty="0"/>
          </a:p>
        </p:txBody>
      </p:sp>
      <p:sp>
        <p:nvSpPr>
          <p:cNvPr id="11" name="stat label 2"/>
          <p:cNvSpPr txBox="1"/>
          <p:nvPr/>
        </p:nvSpPr>
        <p:spPr>
          <a:xfrm>
            <a:off x="8366760" y="2514600"/>
            <a:ext cx="3017520" cy="685800"/>
          </a:xfrm>
          <a:prstGeom prst="rect">
            <a:avLst/>
          </a:prstGeom>
          <a:noFill/>
          <a:ln/>
        </p:spPr>
        <p:txBody>
          <a:bodyPr wrap="square" lIns="0" tIns="0" rIns="0" bIns="0" rtlCol="0" anchor="t"/>
          <a:lstStyle/>
          <a:p>
            <a:pPr indent="0" marL="0">
              <a:buNone/>
            </a:pPr>
            <a:r>
              <a:rPr lang="en-US" sz="1400" dirty="0">
                <a:solidFill>
                  <a:schemeClr val="tx2"/>
                </a:solidFill>
              </a:rPr>
              <a:t>delší životnost nástroje v nejlepších studiích (běžně desítky %)</a:t>
            </a:r>
            <a:endParaRPr lang="en-US" sz="1400" dirty="0"/>
          </a:p>
        </p:txBody>
      </p:sp>
      <p:sp>
        <p:nvSpPr>
          <p:cNvPr id="12" name="pros icon circle"/>
          <p:cNvSpPr/>
          <p:nvPr/>
        </p:nvSpPr>
        <p:spPr>
          <a:xfrm>
            <a:off x="548640" y="3657600"/>
            <a:ext cx="502920" cy="502920"/>
          </a:xfrm>
          <a:prstGeom prst="ellipse">
            <a:avLst/>
          </a:prstGeom>
          <a:solidFill>
            <a:schemeClr val="accent2"/>
          </a:solidFill>
          <a:ln/>
        </p:spPr>
      </p:sp>
      <p:pic>
        <p:nvPicPr>
          <p:cNvPr id="13" name="pros icon" descr="pros icon">    </p:cNvPr>
          <p:cNvPicPr>
            <a:picLocks noChangeAspect="1"/>
          </p:cNvPicPr>
          <p:nvPr/>
        </p:nvPicPr>
        <p:blipFill>
          <a:blip r:embed="rId1"/>
          <a:stretch>
            <a:fillRect/>
          </a:stretch>
        </p:blipFill>
        <p:spPr>
          <a:xfrm>
            <a:off x="659282" y="3768242"/>
            <a:ext cx="281635" cy="281635"/>
          </a:xfrm>
          <a:prstGeom prst="rect">
            <a:avLst/>
          </a:prstGeom>
        </p:spPr>
      </p:pic>
      <p:sp>
        <p:nvSpPr>
          <p:cNvPr id="14" name="pros title"/>
          <p:cNvSpPr txBox="1"/>
          <p:nvPr/>
        </p:nvSpPr>
        <p:spPr>
          <a:xfrm>
            <a:off x="1188720" y="3657600"/>
            <a:ext cx="3657600" cy="502920"/>
          </a:xfrm>
          <a:prstGeom prst="rect">
            <a:avLst/>
          </a:prstGeom>
          <a:noFill/>
          <a:ln/>
        </p:spPr>
        <p:txBody>
          <a:bodyPr wrap="square" lIns="0" tIns="0" rIns="0" bIns="0" rtlCol="0" anchor="ctr"/>
          <a:lstStyle/>
          <a:p>
            <a:pPr indent="0" marL="0">
              <a:buNone/>
            </a:pPr>
            <a:r>
              <a:rPr lang="en-US" sz="2000" b="1" dirty="0">
                <a:solidFill>
                  <a:schemeClr val="tx1"/>
                </a:solidFill>
              </a:rPr>
              <a:t>Výhody</a:t>
            </a:r>
            <a:endParaRPr lang="en-US" sz="2000" dirty="0"/>
          </a:p>
        </p:txBody>
      </p:sp>
      <p:sp>
        <p:nvSpPr>
          <p:cNvPr id="15" name="pros list"/>
          <p:cNvSpPr txBox="1"/>
          <p:nvPr/>
        </p:nvSpPr>
        <p:spPr>
          <a:xfrm>
            <a:off x="548640" y="4343400"/>
            <a:ext cx="5394960" cy="1737360"/>
          </a:xfrm>
          <a:prstGeom prst="rect">
            <a:avLst/>
          </a:prstGeom>
          <a:noFill/>
          <a:ln/>
        </p:spPr>
        <p:txBody>
          <a:bodyPr wrap="square" lIns="0" tIns="0" rIns="0" bIns="0" rtlCol="0" anchor="t"/>
          <a:lstStyle/>
          <a:p>
            <a:pPr marL="228600" indent="-228600">
              <a:spcAft>
                <a:spcPts val="800"/>
              </a:spcAft>
              <a:buSzPct val="100000"/>
              <a:buChar char="•"/>
            </a:pPr>
            <a:r>
              <a:rPr lang="en-US" sz="1500" dirty="0">
                <a:solidFill>
                  <a:schemeClr val="tx2"/>
                </a:solidFill>
              </a:rPr>
              <a:t>Odvádí teplo přímo z místa řezu</a:t>
            </a:r>
            <a:endParaRPr lang="en-US" sz="1500" dirty="0"/>
          </a:p>
          <a:p>
            <a:pPr marL="228600" indent="-228600">
              <a:spcAft>
                <a:spcPts val="800"/>
              </a:spcAft>
              <a:buSzPct val="100000"/>
              <a:buChar char="•"/>
            </a:pPr>
            <a:r>
              <a:rPr lang="en-US" sz="1500" dirty="0">
                <a:solidFill>
                  <a:schemeClr val="tx2"/>
                </a:solidFill>
              </a:rPr>
              <a:t>Žádná odpadní emulze, čisté třísky i obrobek</a:t>
            </a:r>
            <a:endParaRPr lang="en-US" sz="1500" dirty="0"/>
          </a:p>
          <a:p>
            <a:pPr marL="228600" indent="-228600">
              <a:spcAft>
                <a:spcPts val="800"/>
              </a:spcAft>
              <a:buSzPct val="100000"/>
              <a:buChar char="•"/>
            </a:pPr>
            <a:r>
              <a:rPr lang="en-US" sz="1500" dirty="0">
                <a:solidFill>
                  <a:schemeClr val="tx2"/>
                </a:solidFill>
              </a:rPr>
              <a:t>Ideální pro titan a Inconel (letectví, medicína)</a:t>
            </a:r>
            <a:endParaRPr lang="en-US" sz="1500" dirty="0"/>
          </a:p>
        </p:txBody>
      </p:sp>
      <p:sp>
        <p:nvSpPr>
          <p:cNvPr id="16" name="cons icon circle"/>
          <p:cNvSpPr/>
          <p:nvPr/>
        </p:nvSpPr>
        <p:spPr>
          <a:xfrm>
            <a:off x="6217920" y="3657600"/>
            <a:ext cx="502920" cy="502920"/>
          </a:xfrm>
          <a:prstGeom prst="ellipse">
            <a:avLst/>
          </a:prstGeom>
          <a:solidFill>
            <a:schemeClr val="accent5"/>
          </a:solidFill>
          <a:ln/>
        </p:spPr>
      </p:sp>
      <p:pic>
        <p:nvPicPr>
          <p:cNvPr id="17" name="cons icon" descr="cons icon">    </p:cNvPr>
          <p:cNvPicPr>
            <a:picLocks noChangeAspect="1"/>
          </p:cNvPicPr>
          <p:nvPr/>
        </p:nvPicPr>
        <p:blipFill>
          <a:blip r:embed="rId2"/>
          <a:stretch>
            <a:fillRect/>
          </a:stretch>
        </p:blipFill>
        <p:spPr>
          <a:xfrm>
            <a:off x="6328562" y="3768242"/>
            <a:ext cx="281635" cy="281635"/>
          </a:xfrm>
          <a:prstGeom prst="rect">
            <a:avLst/>
          </a:prstGeom>
        </p:spPr>
      </p:pic>
      <p:sp>
        <p:nvSpPr>
          <p:cNvPr id="18" name="cons title"/>
          <p:cNvSpPr txBox="1"/>
          <p:nvPr/>
        </p:nvSpPr>
        <p:spPr>
          <a:xfrm>
            <a:off x="6858000" y="3657600"/>
            <a:ext cx="3657600" cy="502920"/>
          </a:xfrm>
          <a:prstGeom prst="rect">
            <a:avLst/>
          </a:prstGeom>
          <a:noFill/>
          <a:ln/>
        </p:spPr>
        <p:txBody>
          <a:bodyPr wrap="square" lIns="0" tIns="0" rIns="0" bIns="0" rtlCol="0" anchor="ctr"/>
          <a:lstStyle/>
          <a:p>
            <a:pPr indent="0" marL="0">
              <a:buNone/>
            </a:pPr>
            <a:r>
              <a:rPr lang="en-US" sz="2000" b="1" dirty="0">
                <a:solidFill>
                  <a:schemeClr val="tx1"/>
                </a:solidFill>
              </a:rPr>
              <a:t>Nevýhody</a:t>
            </a:r>
            <a:endParaRPr lang="en-US" sz="2000" dirty="0"/>
          </a:p>
        </p:txBody>
      </p:sp>
      <p:sp>
        <p:nvSpPr>
          <p:cNvPr id="19" name="cons list"/>
          <p:cNvSpPr txBox="1"/>
          <p:nvPr/>
        </p:nvSpPr>
        <p:spPr>
          <a:xfrm>
            <a:off x="6217920" y="4343400"/>
            <a:ext cx="5394960" cy="1737360"/>
          </a:xfrm>
          <a:prstGeom prst="rect">
            <a:avLst/>
          </a:prstGeom>
          <a:noFill/>
          <a:ln/>
        </p:spPr>
        <p:txBody>
          <a:bodyPr wrap="square" lIns="0" tIns="0" rIns="0" bIns="0" rtlCol="0" anchor="t"/>
          <a:lstStyle/>
          <a:p>
            <a:pPr marL="228600" indent="-228600">
              <a:spcAft>
                <a:spcPts val="800"/>
              </a:spcAft>
              <a:buSzPct val="100000"/>
              <a:buChar char="•"/>
            </a:pPr>
            <a:r>
              <a:rPr lang="en-US" sz="1500" dirty="0">
                <a:solidFill>
                  <a:schemeClr val="tx2"/>
                </a:solidFill>
              </a:rPr>
              <a:t>Výroba tekutého dusíku spotřebuje hodně energie</a:t>
            </a:r>
            <a:endParaRPr lang="en-US" sz="1500" dirty="0"/>
          </a:p>
          <a:p>
            <a:pPr marL="228600" indent="-228600">
              <a:spcAft>
                <a:spcPts val="800"/>
              </a:spcAft>
              <a:buSzPct val="100000"/>
              <a:buChar char="•"/>
            </a:pPr>
            <a:r>
              <a:rPr lang="en-US" sz="1500" dirty="0">
                <a:solidFill>
                  <a:schemeClr val="tx2"/>
                </a:solidFill>
              </a:rPr>
              <a:t>Drahé zařízení, izolované rozvody</a:t>
            </a:r>
            <a:endParaRPr lang="en-US" sz="1500" dirty="0"/>
          </a:p>
          <a:p>
            <a:pPr marL="228600" indent="-228600">
              <a:spcAft>
                <a:spcPts val="800"/>
              </a:spcAft>
              <a:buSzPct val="100000"/>
              <a:buChar char="•"/>
            </a:pPr>
            <a:r>
              <a:rPr lang="en-US" sz="1500" dirty="0">
                <a:solidFill>
                  <a:schemeClr val="tx2"/>
                </a:solidFill>
              </a:rPr>
              <a:t>Dusík nemaže, proto se často kombinuje s mikromazáním (MQL)</a:t>
            </a:r>
            <a:endParaRPr lang="en-US" sz="15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indent="0" marL="0">
              <a:buNone/>
            </a:pPr>
            <a:r>
              <a:rPr lang="en-US" sz="3400" b="1" dirty="0">
                <a:solidFill>
                  <a:schemeClr val="tx1"/>
                </a:solidFill>
              </a:rPr>
              <a:t>3 · Laserem asistované soustružení</a:t>
            </a:r>
            <a:endParaRPr lang="en-US" sz="3400" dirty="0"/>
          </a:p>
        </p:txBody>
      </p:sp>
      <p:sp>
        <p:nvSpPr>
          <p:cNvPr id="3" name="lam icon 0 circle"/>
          <p:cNvSpPr/>
          <p:nvPr/>
        </p:nvSpPr>
        <p:spPr>
          <a:xfrm>
            <a:off x="1645920" y="1463040"/>
            <a:ext cx="1097280" cy="1097280"/>
          </a:xfrm>
          <a:prstGeom prst="ellipse">
            <a:avLst/>
          </a:prstGeom>
          <a:solidFill>
            <a:schemeClr val="accent1"/>
          </a:solidFill>
          <a:ln/>
        </p:spPr>
      </p:sp>
      <p:pic>
        <p:nvPicPr>
          <p:cNvPr id="4" name="lam icon 0" descr="lam icon 0">    </p:cNvPr>
          <p:cNvPicPr>
            <a:picLocks noChangeAspect="1"/>
          </p:cNvPicPr>
          <p:nvPr/>
        </p:nvPicPr>
        <p:blipFill>
          <a:blip r:embed="rId1"/>
          <a:stretch>
            <a:fillRect/>
          </a:stretch>
        </p:blipFill>
        <p:spPr>
          <a:xfrm>
            <a:off x="1887322" y="1704442"/>
            <a:ext cx="614477" cy="614477"/>
          </a:xfrm>
          <a:prstGeom prst="rect">
            <a:avLst/>
          </a:prstGeom>
        </p:spPr>
      </p:pic>
      <p:sp>
        <p:nvSpPr>
          <p:cNvPr id="5" name="lam title 0"/>
          <p:cNvSpPr txBox="1"/>
          <p:nvPr/>
        </p:nvSpPr>
        <p:spPr>
          <a:xfrm>
            <a:off x="548640" y="2697480"/>
            <a:ext cx="3291840" cy="411480"/>
          </a:xfrm>
          <a:prstGeom prst="rect">
            <a:avLst/>
          </a:prstGeom>
          <a:noFill/>
          <a:ln/>
        </p:spPr>
        <p:txBody>
          <a:bodyPr wrap="square" lIns="0" tIns="0" rIns="0" bIns="0" rtlCol="0" anchor="t"/>
          <a:lstStyle/>
          <a:p>
            <a:pPr algn="ctr" indent="0" marL="0">
              <a:buNone/>
            </a:pPr>
            <a:r>
              <a:rPr lang="en-US" sz="1900" b="1" dirty="0">
                <a:solidFill>
                  <a:schemeClr val="tx1"/>
                </a:solidFill>
              </a:rPr>
              <a:t>Laser ohřeje</a:t>
            </a:r>
            <a:endParaRPr lang="en-US" sz="1900" dirty="0"/>
          </a:p>
        </p:txBody>
      </p:sp>
      <p:sp>
        <p:nvSpPr>
          <p:cNvPr id="6" name="lam body 0"/>
          <p:cNvSpPr txBox="1"/>
          <p:nvPr/>
        </p:nvSpPr>
        <p:spPr>
          <a:xfrm>
            <a:off x="548640" y="3108960"/>
            <a:ext cx="3291840" cy="640080"/>
          </a:xfrm>
          <a:prstGeom prst="rect">
            <a:avLst/>
          </a:prstGeom>
          <a:noFill/>
          <a:ln/>
        </p:spPr>
        <p:txBody>
          <a:bodyPr wrap="square" lIns="0" tIns="0" rIns="0" bIns="0" rtlCol="0" anchor="t"/>
          <a:lstStyle/>
          <a:p>
            <a:pPr algn="ctr" indent="0" marL="0">
              <a:buNone/>
            </a:pPr>
            <a:r>
              <a:rPr lang="en-US" sz="1500" dirty="0">
                <a:solidFill>
                  <a:schemeClr val="tx2"/>
                </a:solidFill>
              </a:rPr>
              <a:t>Paprsek míří na obrobek těsně před břit nože</a:t>
            </a:r>
            <a:endParaRPr lang="en-US" sz="1500" dirty="0"/>
          </a:p>
        </p:txBody>
      </p:sp>
      <p:pic>
        <p:nvPicPr>
          <p:cNvPr id="7" name="lam arrow 0" descr="šipka">    </p:cNvPr>
          <p:cNvPicPr>
            <a:picLocks noChangeAspect="1"/>
          </p:cNvPicPr>
          <p:nvPr/>
        </p:nvPicPr>
        <p:blipFill>
          <a:blip r:embed="rId2"/>
          <a:stretch>
            <a:fillRect/>
          </a:stretch>
        </p:blipFill>
        <p:spPr>
          <a:xfrm>
            <a:off x="3931920" y="1828800"/>
            <a:ext cx="411480" cy="411480"/>
          </a:xfrm>
          <a:prstGeom prst="rect">
            <a:avLst/>
          </a:prstGeom>
        </p:spPr>
      </p:pic>
      <p:sp>
        <p:nvSpPr>
          <p:cNvPr id="8" name="lam icon 1 circle"/>
          <p:cNvSpPr/>
          <p:nvPr/>
        </p:nvSpPr>
        <p:spPr>
          <a:xfrm>
            <a:off x="5547665" y="1463040"/>
            <a:ext cx="1097280" cy="1097280"/>
          </a:xfrm>
          <a:prstGeom prst="ellipse">
            <a:avLst/>
          </a:prstGeom>
          <a:solidFill>
            <a:schemeClr val="accent6"/>
          </a:solidFill>
          <a:ln/>
        </p:spPr>
      </p:sp>
      <p:pic>
        <p:nvPicPr>
          <p:cNvPr id="9" name="lam icon 1" descr="lam icon 1">    </p:cNvPr>
          <p:cNvPicPr>
            <a:picLocks noChangeAspect="1"/>
          </p:cNvPicPr>
          <p:nvPr/>
        </p:nvPicPr>
        <p:blipFill>
          <a:blip r:embed="rId3"/>
          <a:stretch>
            <a:fillRect/>
          </a:stretch>
        </p:blipFill>
        <p:spPr>
          <a:xfrm>
            <a:off x="5789066" y="1704442"/>
            <a:ext cx="614477" cy="614477"/>
          </a:xfrm>
          <a:prstGeom prst="rect">
            <a:avLst/>
          </a:prstGeom>
        </p:spPr>
      </p:pic>
      <p:sp>
        <p:nvSpPr>
          <p:cNvPr id="10" name="lam title 1"/>
          <p:cNvSpPr txBox="1"/>
          <p:nvPr/>
        </p:nvSpPr>
        <p:spPr>
          <a:xfrm>
            <a:off x="4450385" y="2697480"/>
            <a:ext cx="3291840" cy="411480"/>
          </a:xfrm>
          <a:prstGeom prst="rect">
            <a:avLst/>
          </a:prstGeom>
          <a:noFill/>
          <a:ln/>
        </p:spPr>
        <p:txBody>
          <a:bodyPr wrap="square" lIns="0" tIns="0" rIns="0" bIns="0" rtlCol="0" anchor="t"/>
          <a:lstStyle/>
          <a:p>
            <a:pPr algn="ctr" indent="0" marL="0">
              <a:buNone/>
            </a:pPr>
            <a:r>
              <a:rPr lang="en-US" sz="1900" b="1" dirty="0">
                <a:solidFill>
                  <a:schemeClr val="tx1"/>
                </a:solidFill>
              </a:rPr>
              <a:t>Materiál změkne</a:t>
            </a:r>
            <a:endParaRPr lang="en-US" sz="1900" dirty="0"/>
          </a:p>
        </p:txBody>
      </p:sp>
      <p:sp>
        <p:nvSpPr>
          <p:cNvPr id="11" name="lam body 1"/>
          <p:cNvSpPr txBox="1"/>
          <p:nvPr/>
        </p:nvSpPr>
        <p:spPr>
          <a:xfrm>
            <a:off x="4450385" y="3108960"/>
            <a:ext cx="3291840" cy="640080"/>
          </a:xfrm>
          <a:prstGeom prst="rect">
            <a:avLst/>
          </a:prstGeom>
          <a:noFill/>
          <a:ln/>
        </p:spPr>
        <p:txBody>
          <a:bodyPr wrap="square" lIns="0" tIns="0" rIns="0" bIns="0" rtlCol="0" anchor="t"/>
          <a:lstStyle/>
          <a:p>
            <a:pPr algn="ctr" indent="0" marL="0">
              <a:buNone/>
            </a:pPr>
            <a:r>
              <a:rPr lang="en-US" sz="1500" dirty="0">
                <a:solidFill>
                  <a:schemeClr val="tx2"/>
                </a:solidFill>
              </a:rPr>
              <a:t>Lokálně stovky °C, u keramiky i přes 1 000 °C</a:t>
            </a:r>
            <a:endParaRPr lang="en-US" sz="1500" dirty="0"/>
          </a:p>
        </p:txBody>
      </p:sp>
      <p:pic>
        <p:nvPicPr>
          <p:cNvPr id="12" name="lam arrow 1" descr="šipka">    </p:cNvPr>
          <p:cNvPicPr>
            <a:picLocks noChangeAspect="1"/>
          </p:cNvPicPr>
          <p:nvPr/>
        </p:nvPicPr>
        <p:blipFill>
          <a:blip r:embed="rId4"/>
          <a:stretch>
            <a:fillRect/>
          </a:stretch>
        </p:blipFill>
        <p:spPr>
          <a:xfrm>
            <a:off x="7833665" y="1828800"/>
            <a:ext cx="411480" cy="411480"/>
          </a:xfrm>
          <a:prstGeom prst="rect">
            <a:avLst/>
          </a:prstGeom>
        </p:spPr>
      </p:pic>
      <p:sp>
        <p:nvSpPr>
          <p:cNvPr id="13" name="lam icon 2 circle"/>
          <p:cNvSpPr/>
          <p:nvPr/>
        </p:nvSpPr>
        <p:spPr>
          <a:xfrm>
            <a:off x="9449410" y="1463040"/>
            <a:ext cx="1097280" cy="1097280"/>
          </a:xfrm>
          <a:prstGeom prst="ellipse">
            <a:avLst/>
          </a:prstGeom>
          <a:solidFill>
            <a:schemeClr val="accent1"/>
          </a:solidFill>
          <a:ln/>
        </p:spPr>
      </p:sp>
      <p:pic>
        <p:nvPicPr>
          <p:cNvPr id="14" name="lam icon 2" descr="lam icon 2">    </p:cNvPr>
          <p:cNvPicPr>
            <a:picLocks noChangeAspect="1"/>
          </p:cNvPicPr>
          <p:nvPr/>
        </p:nvPicPr>
        <p:blipFill>
          <a:blip r:embed="rId5"/>
          <a:stretch>
            <a:fillRect/>
          </a:stretch>
        </p:blipFill>
        <p:spPr>
          <a:xfrm>
            <a:off x="9690811" y="1704442"/>
            <a:ext cx="614477" cy="614477"/>
          </a:xfrm>
          <a:prstGeom prst="rect">
            <a:avLst/>
          </a:prstGeom>
        </p:spPr>
      </p:pic>
      <p:sp>
        <p:nvSpPr>
          <p:cNvPr id="15" name="lam title 2"/>
          <p:cNvSpPr txBox="1"/>
          <p:nvPr/>
        </p:nvSpPr>
        <p:spPr>
          <a:xfrm>
            <a:off x="8352130" y="2697480"/>
            <a:ext cx="3291840" cy="411480"/>
          </a:xfrm>
          <a:prstGeom prst="rect">
            <a:avLst/>
          </a:prstGeom>
          <a:noFill/>
          <a:ln/>
        </p:spPr>
        <p:txBody>
          <a:bodyPr wrap="square" lIns="0" tIns="0" rIns="0" bIns="0" rtlCol="0" anchor="t"/>
          <a:lstStyle/>
          <a:p>
            <a:pPr algn="ctr" indent="0" marL="0">
              <a:buNone/>
            </a:pPr>
            <a:r>
              <a:rPr lang="en-US" sz="1900" b="1" dirty="0">
                <a:solidFill>
                  <a:schemeClr val="tx1"/>
                </a:solidFill>
              </a:rPr>
              <a:t>Nůž řeže snadno</a:t>
            </a:r>
            <a:endParaRPr lang="en-US" sz="1900" dirty="0"/>
          </a:p>
        </p:txBody>
      </p:sp>
      <p:sp>
        <p:nvSpPr>
          <p:cNvPr id="16" name="lam body 2"/>
          <p:cNvSpPr txBox="1"/>
          <p:nvPr/>
        </p:nvSpPr>
        <p:spPr>
          <a:xfrm>
            <a:off x="8352130" y="3108960"/>
            <a:ext cx="3291840" cy="640080"/>
          </a:xfrm>
          <a:prstGeom prst="rect">
            <a:avLst/>
          </a:prstGeom>
          <a:noFill/>
          <a:ln/>
        </p:spPr>
        <p:txBody>
          <a:bodyPr wrap="square" lIns="0" tIns="0" rIns="0" bIns="0" rtlCol="0" anchor="t"/>
          <a:lstStyle/>
          <a:p>
            <a:pPr algn="ctr" indent="0" marL="0">
              <a:buNone/>
            </a:pPr>
            <a:r>
              <a:rPr lang="en-US" sz="1500" dirty="0">
                <a:solidFill>
                  <a:schemeClr val="tx2"/>
                </a:solidFill>
              </a:rPr>
              <a:t>Nižší řezné síly, méně opotřebení, bez prasklin</a:t>
            </a:r>
            <a:endParaRPr lang="en-US" sz="1500" dirty="0"/>
          </a:p>
        </p:txBody>
      </p:sp>
      <p:sp>
        <p:nvSpPr>
          <p:cNvPr id="17" name="where card"/>
          <p:cNvSpPr/>
          <p:nvPr/>
        </p:nvSpPr>
        <p:spPr>
          <a:xfrm>
            <a:off x="548640" y="4069080"/>
            <a:ext cx="6675120" cy="1965960"/>
          </a:xfrm>
          <a:prstGeom prst="roundRect">
            <a:avLst>
              <a:gd name="adj" fmla="val 5581"/>
            </a:avLst>
          </a:prstGeom>
          <a:solidFill>
            <a:schemeClr val="bg2"/>
          </a:solidFill>
          <a:ln/>
        </p:spPr>
      </p:sp>
      <p:sp>
        <p:nvSpPr>
          <p:cNvPr id="18" name="where title"/>
          <p:cNvSpPr txBox="1"/>
          <p:nvPr/>
        </p:nvSpPr>
        <p:spPr>
          <a:xfrm>
            <a:off x="822960" y="4251960"/>
            <a:ext cx="6126480" cy="411480"/>
          </a:xfrm>
          <a:prstGeom prst="rect">
            <a:avLst/>
          </a:prstGeom>
          <a:noFill/>
          <a:ln/>
        </p:spPr>
        <p:txBody>
          <a:bodyPr wrap="square" lIns="0" tIns="0" rIns="0" bIns="0" rtlCol="0" anchor="t"/>
          <a:lstStyle/>
          <a:p>
            <a:pPr indent="0" marL="0">
              <a:buNone/>
            </a:pPr>
            <a:r>
              <a:rPr lang="en-US" sz="1900" b="1" dirty="0">
                <a:solidFill>
                  <a:schemeClr val="tx1"/>
                </a:solidFill>
              </a:rPr>
              <a:t>Kde to pomáhá</a:t>
            </a:r>
            <a:endParaRPr lang="en-US" sz="1900" dirty="0"/>
          </a:p>
        </p:txBody>
      </p:sp>
      <p:sp>
        <p:nvSpPr>
          <p:cNvPr id="19" name="where list"/>
          <p:cNvSpPr txBox="1"/>
          <p:nvPr/>
        </p:nvSpPr>
        <p:spPr>
          <a:xfrm>
            <a:off x="822960" y="4709160"/>
            <a:ext cx="6126480" cy="1234440"/>
          </a:xfrm>
          <a:prstGeom prst="rect">
            <a:avLst/>
          </a:prstGeom>
          <a:noFill/>
          <a:ln/>
        </p:spPr>
        <p:txBody>
          <a:bodyPr wrap="square" lIns="0" tIns="0" rIns="0" bIns="0" rtlCol="0" anchor="t"/>
          <a:lstStyle/>
          <a:p>
            <a:pPr marL="228600" indent="-228600">
              <a:spcAft>
                <a:spcPts val="400"/>
              </a:spcAft>
              <a:buSzPct val="100000"/>
              <a:buChar char="•"/>
            </a:pPr>
            <a:r>
              <a:rPr lang="en-US" sz="1500" dirty="0">
                <a:solidFill>
                  <a:schemeClr val="tx2"/>
                </a:solidFill>
              </a:rPr>
              <a:t>Technická keramika (např. nitrid křemíku)</a:t>
            </a:r>
            <a:endParaRPr lang="en-US" sz="1500" dirty="0"/>
          </a:p>
          <a:p>
            <a:pPr marL="228600" indent="-228600">
              <a:spcAft>
                <a:spcPts val="400"/>
              </a:spcAft>
              <a:buSzPct val="100000"/>
              <a:buChar char="•"/>
            </a:pPr>
            <a:r>
              <a:rPr lang="en-US" sz="1500" dirty="0">
                <a:solidFill>
                  <a:schemeClr val="tx2"/>
                </a:solidFill>
              </a:rPr>
              <a:t>Inconel a titan pro letecké motory</a:t>
            </a:r>
            <a:endParaRPr lang="en-US" sz="1500" dirty="0"/>
          </a:p>
          <a:p>
            <a:pPr marL="228600" indent="-228600">
              <a:spcAft>
                <a:spcPts val="400"/>
              </a:spcAft>
              <a:buSzPct val="100000"/>
              <a:buChar char="•"/>
            </a:pPr>
            <a:r>
              <a:rPr lang="en-US" sz="1500" dirty="0">
                <a:solidFill>
                  <a:schemeClr val="tx2"/>
                </a:solidFill>
              </a:rPr>
              <a:t>Kalené oceli: delší životnost nástroje</a:t>
            </a:r>
            <a:endParaRPr lang="en-US" sz="1500" dirty="0"/>
          </a:p>
        </p:txBody>
      </p:sp>
      <p:sp>
        <p:nvSpPr>
          <p:cNvPr id="20" name="contrast card"/>
          <p:cNvSpPr/>
          <p:nvPr/>
        </p:nvSpPr>
        <p:spPr>
          <a:xfrm>
            <a:off x="7589520" y="4069080"/>
            <a:ext cx="4023360" cy="1965960"/>
          </a:xfrm>
          <a:prstGeom prst="roundRect">
            <a:avLst>
              <a:gd name="adj" fmla="val 5581"/>
            </a:avLst>
          </a:prstGeom>
          <a:solidFill>
            <a:schemeClr val="tx1"/>
          </a:solidFill>
          <a:ln/>
        </p:spPr>
      </p:sp>
      <p:sp>
        <p:nvSpPr>
          <p:cNvPr id="21" name="contrast icon circle"/>
          <p:cNvSpPr/>
          <p:nvPr/>
        </p:nvSpPr>
        <p:spPr>
          <a:xfrm>
            <a:off x="7863840" y="4251960"/>
            <a:ext cx="548640" cy="548640"/>
          </a:xfrm>
          <a:prstGeom prst="ellipse">
            <a:avLst/>
          </a:prstGeom>
          <a:solidFill>
            <a:schemeClr val="accent2"/>
          </a:solidFill>
          <a:ln/>
        </p:spPr>
      </p:sp>
      <p:pic>
        <p:nvPicPr>
          <p:cNvPr id="22" name="contrast icon" descr="contrast icon">    </p:cNvPr>
          <p:cNvPicPr>
            <a:picLocks noChangeAspect="1"/>
          </p:cNvPicPr>
          <p:nvPr/>
        </p:nvPicPr>
        <p:blipFill>
          <a:blip r:embed="rId6"/>
          <a:stretch>
            <a:fillRect/>
          </a:stretch>
        </p:blipFill>
        <p:spPr>
          <a:xfrm>
            <a:off x="7984541" y="4372661"/>
            <a:ext cx="307238" cy="307238"/>
          </a:xfrm>
          <a:prstGeom prst="rect">
            <a:avLst/>
          </a:prstGeom>
        </p:spPr>
      </p:pic>
      <p:sp>
        <p:nvSpPr>
          <p:cNvPr id="23" name="contrast title"/>
          <p:cNvSpPr txBox="1"/>
          <p:nvPr/>
        </p:nvSpPr>
        <p:spPr>
          <a:xfrm>
            <a:off x="8549640" y="4251960"/>
            <a:ext cx="2926080" cy="548640"/>
          </a:xfrm>
          <a:prstGeom prst="rect">
            <a:avLst/>
          </a:prstGeom>
          <a:noFill/>
          <a:ln/>
        </p:spPr>
        <p:txBody>
          <a:bodyPr wrap="square" lIns="0" tIns="0" rIns="0" bIns="0" rtlCol="0" anchor="ctr"/>
          <a:lstStyle/>
          <a:p>
            <a:pPr indent="0" marL="0">
              <a:buNone/>
            </a:pPr>
            <a:r>
              <a:rPr lang="en-US" sz="1800" b="1" dirty="0">
                <a:solidFill>
                  <a:schemeClr val="bg1"/>
                </a:solidFill>
              </a:rPr>
              <a:t>Opak kryogenu</a:t>
            </a:r>
            <a:endParaRPr lang="en-US" sz="1800" dirty="0"/>
          </a:p>
        </p:txBody>
      </p:sp>
      <p:sp>
        <p:nvSpPr>
          <p:cNvPr id="24" name="contrast text"/>
          <p:cNvSpPr txBox="1"/>
          <p:nvPr/>
        </p:nvSpPr>
        <p:spPr>
          <a:xfrm>
            <a:off x="7863840" y="4937760"/>
            <a:ext cx="3520440" cy="1005840"/>
          </a:xfrm>
          <a:prstGeom prst="rect">
            <a:avLst/>
          </a:prstGeom>
          <a:noFill/>
          <a:ln/>
        </p:spPr>
        <p:txBody>
          <a:bodyPr wrap="square" lIns="0" tIns="0" rIns="0" bIns="0" rtlCol="0" anchor="t"/>
          <a:lstStyle/>
          <a:p>
            <a:pPr indent="0" marL="0">
              <a:buNone/>
            </a:pPr>
            <a:r>
              <a:rPr lang="en-US" sz="1400" dirty="0">
                <a:solidFill>
                  <a:schemeClr val="bg1"/>
                </a:solidFill>
              </a:rPr>
              <a:t>Kryogenní obrábění chladí nástroj, laser naopak ohřívá obrobek. Obojí bojuje s tvrdostí a teplem.</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indent="0" marL="0">
              <a:buNone/>
            </a:pPr>
            <a:r>
              <a:rPr lang="en-US" sz="3400" b="1" dirty="0">
                <a:solidFill>
                  <a:schemeClr val="tx1"/>
                </a:solidFill>
              </a:rPr>
              <a:t>4 · Chytré nástroje a umělá inteligence</a:t>
            </a:r>
            <a:endParaRPr lang="en-US" sz="3400" dirty="0"/>
          </a:p>
        </p:txBody>
      </p:sp>
      <p:sp>
        <p:nvSpPr>
          <p:cNvPr id="3" name="smart icon 0 circle"/>
          <p:cNvSpPr/>
          <p:nvPr/>
        </p:nvSpPr>
        <p:spPr>
          <a:xfrm>
            <a:off x="548640" y="1508760"/>
            <a:ext cx="868680" cy="868680"/>
          </a:xfrm>
          <a:prstGeom prst="ellipse">
            <a:avLst/>
          </a:prstGeom>
          <a:solidFill>
            <a:schemeClr val="accent1"/>
          </a:solidFill>
          <a:ln/>
        </p:spPr>
      </p:sp>
      <p:pic>
        <p:nvPicPr>
          <p:cNvPr id="4" name="smart icon 0" descr="smart icon 0">    </p:cNvPr>
          <p:cNvPicPr>
            <a:picLocks noChangeAspect="1"/>
          </p:cNvPicPr>
          <p:nvPr/>
        </p:nvPicPr>
        <p:blipFill>
          <a:blip r:embed="rId1"/>
          <a:stretch>
            <a:fillRect/>
          </a:stretch>
        </p:blipFill>
        <p:spPr>
          <a:xfrm>
            <a:off x="739750" y="1699870"/>
            <a:ext cx="486461" cy="486461"/>
          </a:xfrm>
          <a:prstGeom prst="rect">
            <a:avLst/>
          </a:prstGeom>
        </p:spPr>
      </p:pic>
      <p:sp>
        <p:nvSpPr>
          <p:cNvPr id="5" name="smart title 0"/>
          <p:cNvSpPr txBox="1"/>
          <p:nvPr/>
        </p:nvSpPr>
        <p:spPr>
          <a:xfrm>
            <a:off x="1691640" y="1463040"/>
            <a:ext cx="5394960" cy="457200"/>
          </a:xfrm>
          <a:prstGeom prst="rect">
            <a:avLst/>
          </a:prstGeom>
          <a:noFill/>
          <a:ln/>
        </p:spPr>
        <p:txBody>
          <a:bodyPr wrap="square" lIns="0" tIns="0" rIns="0" bIns="0" rtlCol="0" anchor="t"/>
          <a:lstStyle/>
          <a:p>
            <a:pPr indent="0" marL="0">
              <a:buNone/>
            </a:pPr>
            <a:r>
              <a:rPr lang="en-US" sz="2000" b="1" dirty="0">
                <a:solidFill>
                  <a:schemeClr val="tx1"/>
                </a:solidFill>
              </a:rPr>
              <a:t>Senzory v držáku nože</a:t>
            </a:r>
            <a:endParaRPr lang="en-US" sz="2000" dirty="0"/>
          </a:p>
        </p:txBody>
      </p:sp>
      <p:sp>
        <p:nvSpPr>
          <p:cNvPr id="6" name="smart body 0"/>
          <p:cNvSpPr txBox="1"/>
          <p:nvPr/>
        </p:nvSpPr>
        <p:spPr>
          <a:xfrm>
            <a:off x="1691640" y="1965960"/>
            <a:ext cx="5394960" cy="868680"/>
          </a:xfrm>
          <a:prstGeom prst="rect">
            <a:avLst/>
          </a:prstGeom>
          <a:noFill/>
          <a:ln/>
        </p:spPr>
        <p:txBody>
          <a:bodyPr wrap="square" lIns="0" tIns="0" rIns="0" bIns="0" rtlCol="0" anchor="t"/>
          <a:lstStyle/>
          <a:p>
            <a:pPr indent="0" marL="0">
              <a:buNone/>
            </a:pPr>
            <a:r>
              <a:rPr lang="en-US" sz="1500" dirty="0">
                <a:solidFill>
                  <a:schemeClr val="tx2"/>
                </a:solidFill>
              </a:rPr>
              <a:t>Měří vibrace, řezné síly a teplotu přímo při řezu (např. Sandvik CoroPlus)</a:t>
            </a:r>
            <a:endParaRPr lang="en-US" sz="1500" dirty="0"/>
          </a:p>
        </p:txBody>
      </p:sp>
      <p:sp>
        <p:nvSpPr>
          <p:cNvPr id="7" name="smart icon 1 circle"/>
          <p:cNvSpPr/>
          <p:nvPr/>
        </p:nvSpPr>
        <p:spPr>
          <a:xfrm>
            <a:off x="548640" y="3063240"/>
            <a:ext cx="868680" cy="868680"/>
          </a:xfrm>
          <a:prstGeom prst="ellipse">
            <a:avLst/>
          </a:prstGeom>
          <a:solidFill>
            <a:schemeClr val="accent1"/>
          </a:solidFill>
          <a:ln/>
        </p:spPr>
      </p:sp>
      <p:pic>
        <p:nvPicPr>
          <p:cNvPr id="8" name="smart icon 1" descr="smart icon 1">    </p:cNvPr>
          <p:cNvPicPr>
            <a:picLocks noChangeAspect="1"/>
          </p:cNvPicPr>
          <p:nvPr/>
        </p:nvPicPr>
        <p:blipFill>
          <a:blip r:embed="rId2"/>
          <a:stretch>
            <a:fillRect/>
          </a:stretch>
        </p:blipFill>
        <p:spPr>
          <a:xfrm>
            <a:off x="739750" y="3254350"/>
            <a:ext cx="486461" cy="486461"/>
          </a:xfrm>
          <a:prstGeom prst="rect">
            <a:avLst/>
          </a:prstGeom>
        </p:spPr>
      </p:pic>
      <p:sp>
        <p:nvSpPr>
          <p:cNvPr id="9" name="smart title 1"/>
          <p:cNvSpPr txBox="1"/>
          <p:nvPr/>
        </p:nvSpPr>
        <p:spPr>
          <a:xfrm>
            <a:off x="1691640" y="3017520"/>
            <a:ext cx="5394960" cy="457200"/>
          </a:xfrm>
          <a:prstGeom prst="rect">
            <a:avLst/>
          </a:prstGeom>
          <a:noFill/>
          <a:ln/>
        </p:spPr>
        <p:txBody>
          <a:bodyPr wrap="square" lIns="0" tIns="0" rIns="0" bIns="0" rtlCol="0" anchor="t"/>
          <a:lstStyle/>
          <a:p>
            <a:pPr indent="0" marL="0">
              <a:buNone/>
            </a:pPr>
            <a:r>
              <a:rPr lang="en-US" sz="2000" b="1" dirty="0">
                <a:solidFill>
                  <a:schemeClr val="tx1"/>
                </a:solidFill>
              </a:rPr>
              <a:t>Adaptivní řízení a AI</a:t>
            </a:r>
            <a:endParaRPr lang="en-US" sz="2000" dirty="0"/>
          </a:p>
        </p:txBody>
      </p:sp>
      <p:sp>
        <p:nvSpPr>
          <p:cNvPr id="10" name="smart body 1"/>
          <p:cNvSpPr txBox="1"/>
          <p:nvPr/>
        </p:nvSpPr>
        <p:spPr>
          <a:xfrm>
            <a:off x="1691640" y="3520440"/>
            <a:ext cx="5394960" cy="868680"/>
          </a:xfrm>
          <a:prstGeom prst="rect">
            <a:avLst/>
          </a:prstGeom>
          <a:noFill/>
          <a:ln/>
        </p:spPr>
        <p:txBody>
          <a:bodyPr wrap="square" lIns="0" tIns="0" rIns="0" bIns="0" rtlCol="0" anchor="t"/>
          <a:lstStyle/>
          <a:p>
            <a:pPr indent="0" marL="0">
              <a:buNone/>
            </a:pPr>
            <a:r>
              <a:rPr lang="en-US" sz="1500" dirty="0">
                <a:solidFill>
                  <a:schemeClr val="tx2"/>
                </a:solidFill>
              </a:rPr>
              <a:t>Sleduje opotřebení, podle zatížení upraví posuv a při zlomu stroj okamžitě zastaví</a:t>
            </a:r>
            <a:endParaRPr lang="en-US" sz="1500" dirty="0"/>
          </a:p>
        </p:txBody>
      </p:sp>
      <p:sp>
        <p:nvSpPr>
          <p:cNvPr id="11" name="smart icon 2 circle"/>
          <p:cNvSpPr/>
          <p:nvPr/>
        </p:nvSpPr>
        <p:spPr>
          <a:xfrm>
            <a:off x="548640" y="4617720"/>
            <a:ext cx="868680" cy="868680"/>
          </a:xfrm>
          <a:prstGeom prst="ellipse">
            <a:avLst/>
          </a:prstGeom>
          <a:solidFill>
            <a:schemeClr val="accent1"/>
          </a:solidFill>
          <a:ln/>
        </p:spPr>
      </p:sp>
      <p:pic>
        <p:nvPicPr>
          <p:cNvPr id="12" name="smart icon 2" descr="smart icon 2">    </p:cNvPr>
          <p:cNvPicPr>
            <a:picLocks noChangeAspect="1"/>
          </p:cNvPicPr>
          <p:nvPr/>
        </p:nvPicPr>
        <p:blipFill>
          <a:blip r:embed="rId3"/>
          <a:stretch>
            <a:fillRect/>
          </a:stretch>
        </p:blipFill>
        <p:spPr>
          <a:xfrm>
            <a:off x="739750" y="4808830"/>
            <a:ext cx="486461" cy="486461"/>
          </a:xfrm>
          <a:prstGeom prst="rect">
            <a:avLst/>
          </a:prstGeom>
        </p:spPr>
      </p:pic>
      <p:sp>
        <p:nvSpPr>
          <p:cNvPr id="13" name="smart title 2"/>
          <p:cNvSpPr txBox="1"/>
          <p:nvPr/>
        </p:nvSpPr>
        <p:spPr>
          <a:xfrm>
            <a:off x="1691640" y="4572000"/>
            <a:ext cx="5394960" cy="457200"/>
          </a:xfrm>
          <a:prstGeom prst="rect">
            <a:avLst/>
          </a:prstGeom>
          <a:noFill/>
          <a:ln/>
        </p:spPr>
        <p:txBody>
          <a:bodyPr wrap="square" lIns="0" tIns="0" rIns="0" bIns="0" rtlCol="0" anchor="t"/>
          <a:lstStyle/>
          <a:p>
            <a:pPr indent="0" marL="0">
              <a:buNone/>
            </a:pPr>
            <a:r>
              <a:rPr lang="en-US" sz="2000" b="1" dirty="0">
                <a:solidFill>
                  <a:schemeClr val="tx1"/>
                </a:solidFill>
              </a:rPr>
              <a:t>Digitální dvojče</a:t>
            </a:r>
            <a:endParaRPr lang="en-US" sz="2000" dirty="0"/>
          </a:p>
        </p:txBody>
      </p:sp>
      <p:sp>
        <p:nvSpPr>
          <p:cNvPr id="14" name="smart body 2"/>
          <p:cNvSpPr txBox="1"/>
          <p:nvPr/>
        </p:nvSpPr>
        <p:spPr>
          <a:xfrm>
            <a:off x="1691640" y="5074920"/>
            <a:ext cx="5394960" cy="868680"/>
          </a:xfrm>
          <a:prstGeom prst="rect">
            <a:avLst/>
          </a:prstGeom>
          <a:noFill/>
          <a:ln/>
        </p:spPr>
        <p:txBody>
          <a:bodyPr wrap="square" lIns="0" tIns="0" rIns="0" bIns="0" rtlCol="0" anchor="t"/>
          <a:lstStyle/>
          <a:p>
            <a:pPr indent="0" marL="0">
              <a:buNone/>
            </a:pPr>
            <a:r>
              <a:rPr lang="en-US" sz="1500" dirty="0">
                <a:solidFill>
                  <a:schemeClr val="tx2"/>
                </a:solidFill>
              </a:rPr>
              <a:t>Software celý proces nasimuluje v počítači dřív, než program dostane stroj, takže nedojde ke kolizi</a:t>
            </a:r>
            <a:endParaRPr lang="en-US" sz="1500" dirty="0"/>
          </a:p>
        </p:txBody>
      </p:sp>
      <p:sp>
        <p:nvSpPr>
          <p:cNvPr id="15" name="myth card"/>
          <p:cNvSpPr/>
          <p:nvPr/>
        </p:nvSpPr>
        <p:spPr>
          <a:xfrm>
            <a:off x="7589520" y="1508760"/>
            <a:ext cx="4023360" cy="4526280"/>
          </a:xfrm>
          <a:prstGeom prst="roundRect">
            <a:avLst>
              <a:gd name="adj" fmla="val 2727"/>
            </a:avLst>
          </a:prstGeom>
          <a:solidFill>
            <a:schemeClr val="tx1"/>
          </a:solidFill>
          <a:ln/>
        </p:spPr>
      </p:sp>
      <p:sp>
        <p:nvSpPr>
          <p:cNvPr id="16" name="myth label"/>
          <p:cNvSpPr txBox="1"/>
          <p:nvPr/>
        </p:nvSpPr>
        <p:spPr>
          <a:xfrm>
            <a:off x="7909560" y="1783080"/>
            <a:ext cx="3383280" cy="365760"/>
          </a:xfrm>
          <a:prstGeom prst="rect">
            <a:avLst/>
          </a:prstGeom>
          <a:noFill/>
          <a:ln/>
        </p:spPr>
        <p:txBody>
          <a:bodyPr wrap="square" lIns="0" tIns="0" rIns="0" bIns="0" rtlCol="0" anchor="t"/>
          <a:lstStyle/>
          <a:p>
            <a:pPr indent="0" marL="0">
              <a:buNone/>
            </a:pPr>
            <a:r>
              <a:rPr lang="en-US" sz="1400" b="1" spc="200" kern="0" dirty="0">
                <a:solidFill>
                  <a:schemeClr val="accent3"/>
                </a:solidFill>
              </a:rPr>
              <a:t>MÝTUS</a:t>
            </a:r>
            <a:endParaRPr lang="en-US" sz="1400" dirty="0"/>
          </a:p>
        </p:txBody>
      </p:sp>
      <p:sp>
        <p:nvSpPr>
          <p:cNvPr id="17" name="myth text"/>
          <p:cNvSpPr txBox="1"/>
          <p:nvPr/>
        </p:nvSpPr>
        <p:spPr>
          <a:xfrm>
            <a:off x="7909560" y="2148840"/>
            <a:ext cx="3383280" cy="1097280"/>
          </a:xfrm>
          <a:prstGeom prst="rect">
            <a:avLst/>
          </a:prstGeom>
          <a:noFill/>
          <a:ln/>
        </p:spPr>
        <p:txBody>
          <a:bodyPr wrap="square" lIns="0" tIns="0" rIns="0" bIns="0" rtlCol="0" anchor="t"/>
          <a:lstStyle/>
          <a:p>
            <a:pPr indent="0" marL="0">
              <a:buNone/>
            </a:pPr>
            <a:r>
              <a:rPr lang="en-US" sz="1700" i="1" dirty="0">
                <a:solidFill>
                  <a:schemeClr val="bg1"/>
                </a:solidFill>
              </a:rPr>
              <a:t>„AI zlomek sekundy předem pozná, že se nůž zlomí.“</a:t>
            </a:r>
            <a:endParaRPr lang="en-US" sz="1700" dirty="0"/>
          </a:p>
        </p:txBody>
      </p:sp>
      <p:sp>
        <p:nvSpPr>
          <p:cNvPr id="18" name="reality label"/>
          <p:cNvSpPr txBox="1"/>
          <p:nvPr/>
        </p:nvSpPr>
        <p:spPr>
          <a:xfrm>
            <a:off x="7909560" y="3474720"/>
            <a:ext cx="3383280" cy="365760"/>
          </a:xfrm>
          <a:prstGeom prst="rect">
            <a:avLst/>
          </a:prstGeom>
          <a:noFill/>
          <a:ln/>
        </p:spPr>
        <p:txBody>
          <a:bodyPr wrap="square" lIns="0" tIns="0" rIns="0" bIns="0" rtlCol="0" anchor="t"/>
          <a:lstStyle/>
          <a:p>
            <a:pPr indent="0" marL="0">
              <a:buNone/>
            </a:pPr>
            <a:r>
              <a:rPr lang="en-US" sz="1400" b="1" spc="200" kern="0" dirty="0">
                <a:solidFill>
                  <a:schemeClr val="accent1"/>
                </a:solidFill>
              </a:rPr>
              <a:t>REALITA</a:t>
            </a:r>
            <a:endParaRPr lang="en-US" sz="1400" dirty="0"/>
          </a:p>
        </p:txBody>
      </p:sp>
      <p:sp>
        <p:nvSpPr>
          <p:cNvPr id="19" name="reality text"/>
          <p:cNvSpPr txBox="1"/>
          <p:nvPr/>
        </p:nvSpPr>
        <p:spPr>
          <a:xfrm>
            <a:off x="7909560" y="3840480"/>
            <a:ext cx="3383280" cy="2011680"/>
          </a:xfrm>
          <a:prstGeom prst="rect">
            <a:avLst/>
          </a:prstGeom>
          <a:noFill/>
          <a:ln/>
        </p:spPr>
        <p:txBody>
          <a:bodyPr wrap="square" lIns="0" tIns="0" rIns="0" bIns="0" rtlCol="0" anchor="t"/>
          <a:lstStyle/>
          <a:p>
            <a:pPr indent="0" marL="0">
              <a:buNone/>
            </a:pPr>
            <a:r>
              <a:rPr lang="en-US" sz="1500" dirty="0">
                <a:solidFill>
                  <a:schemeClr val="bg1"/>
                </a:solidFill>
              </a:rPr>
              <a:t>Dnes se hlavně sleduje trend opotřebení a zlom se rychle detekuje. Spolehlivá předpověď zlomu je zatím spíš výzkum.</a:t>
            </a:r>
            <a:endParaRPr lang="en-US" sz="15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indent="0" marL="0">
              <a:buNone/>
            </a:pPr>
            <a:r>
              <a:rPr lang="en-US" sz="3400" b="1" dirty="0">
                <a:solidFill>
                  <a:schemeClr val="tx1"/>
                </a:solidFill>
              </a:rPr>
              <a:t>5 · Ultrazvukem asistované soustružení</a:t>
            </a:r>
            <a:endParaRPr lang="en-US" sz="3400" dirty="0"/>
          </a:p>
        </p:txBody>
      </p:sp>
      <p:sp>
        <p:nvSpPr>
          <p:cNvPr id="3" name="stats card"/>
          <p:cNvSpPr/>
          <p:nvPr/>
        </p:nvSpPr>
        <p:spPr>
          <a:xfrm>
            <a:off x="548640" y="1508760"/>
            <a:ext cx="3749040" cy="4526280"/>
          </a:xfrm>
          <a:prstGeom prst="roundRect">
            <a:avLst>
              <a:gd name="adj" fmla="val 2927"/>
            </a:avLst>
          </a:prstGeom>
          <a:solidFill>
            <a:schemeClr val="tx1"/>
          </a:solidFill>
          <a:ln/>
        </p:spPr>
      </p:sp>
      <p:sp>
        <p:nvSpPr>
          <p:cNvPr id="4" name="wave icon circle"/>
          <p:cNvSpPr/>
          <p:nvPr/>
        </p:nvSpPr>
        <p:spPr>
          <a:xfrm>
            <a:off x="868680" y="1783080"/>
            <a:ext cx="731520" cy="731520"/>
          </a:xfrm>
          <a:prstGeom prst="ellipse">
            <a:avLst/>
          </a:prstGeom>
          <a:solidFill>
            <a:schemeClr val="accent1"/>
          </a:solidFill>
          <a:ln/>
        </p:spPr>
      </p:sp>
      <p:pic>
        <p:nvPicPr>
          <p:cNvPr id="5" name="wave icon" descr="wave icon">    </p:cNvPr>
          <p:cNvPicPr>
            <a:picLocks noChangeAspect="1"/>
          </p:cNvPicPr>
          <p:nvPr/>
        </p:nvPicPr>
        <p:blipFill>
          <a:blip r:embed="rId1"/>
          <a:stretch>
            <a:fillRect/>
          </a:stretch>
        </p:blipFill>
        <p:spPr>
          <a:xfrm>
            <a:off x="1029614" y="1944014"/>
            <a:ext cx="409651" cy="409651"/>
          </a:xfrm>
          <a:prstGeom prst="rect">
            <a:avLst/>
          </a:prstGeom>
        </p:spPr>
      </p:pic>
      <p:sp>
        <p:nvSpPr>
          <p:cNvPr id="6" name="freq value"/>
          <p:cNvSpPr txBox="1"/>
          <p:nvPr/>
        </p:nvSpPr>
        <p:spPr>
          <a:xfrm>
            <a:off x="868680" y="2743200"/>
            <a:ext cx="3200400" cy="731520"/>
          </a:xfrm>
          <a:prstGeom prst="rect">
            <a:avLst/>
          </a:prstGeom>
          <a:noFill/>
          <a:ln/>
        </p:spPr>
        <p:txBody>
          <a:bodyPr wrap="square" lIns="0" tIns="0" rIns="0" bIns="0" rtlCol="0" anchor="t"/>
          <a:lstStyle/>
          <a:p>
            <a:pPr indent="0" marL="0">
              <a:buNone/>
            </a:pPr>
            <a:r>
              <a:rPr lang="en-US" sz="4000" b="1" dirty="0">
                <a:solidFill>
                  <a:schemeClr val="accent1"/>
                </a:solidFill>
                <a:latin typeface="Arial" pitchFamily="34" charset="0"/>
                <a:ea typeface="Arial" pitchFamily="34" charset="-122"/>
                <a:cs typeface="Arial" pitchFamily="34" charset="-120"/>
              </a:rPr>
              <a:t>20–40 kHz</a:t>
            </a:r>
            <a:endParaRPr lang="en-US" sz="4000" dirty="0"/>
          </a:p>
        </p:txBody>
      </p:sp>
      <p:sp>
        <p:nvSpPr>
          <p:cNvPr id="7" name="freq label"/>
          <p:cNvSpPr txBox="1"/>
          <p:nvPr/>
        </p:nvSpPr>
        <p:spPr>
          <a:xfrm>
            <a:off x="868680" y="3474720"/>
            <a:ext cx="3200400" cy="365760"/>
          </a:xfrm>
          <a:prstGeom prst="rect">
            <a:avLst/>
          </a:prstGeom>
          <a:noFill/>
          <a:ln/>
        </p:spPr>
        <p:txBody>
          <a:bodyPr wrap="square" lIns="0" tIns="0" rIns="0" bIns="0" rtlCol="0" anchor="t"/>
          <a:lstStyle/>
          <a:p>
            <a:pPr indent="0" marL="0">
              <a:buNone/>
            </a:pPr>
            <a:r>
              <a:rPr lang="en-US" sz="1400" dirty="0">
                <a:solidFill>
                  <a:schemeClr val="bg1"/>
                </a:solidFill>
              </a:rPr>
              <a:t>20 000–40 000 kmitů za sekundu</a:t>
            </a:r>
            <a:endParaRPr lang="en-US" sz="1400" dirty="0"/>
          </a:p>
        </p:txBody>
      </p:sp>
      <p:sp>
        <p:nvSpPr>
          <p:cNvPr id="8" name="amp value"/>
          <p:cNvSpPr txBox="1"/>
          <p:nvPr/>
        </p:nvSpPr>
        <p:spPr>
          <a:xfrm>
            <a:off x="868680" y="4160520"/>
            <a:ext cx="3200400" cy="731520"/>
          </a:xfrm>
          <a:prstGeom prst="rect">
            <a:avLst/>
          </a:prstGeom>
          <a:noFill/>
          <a:ln/>
        </p:spPr>
        <p:txBody>
          <a:bodyPr wrap="square" lIns="0" tIns="0" rIns="0" bIns="0" rtlCol="0" anchor="t"/>
          <a:lstStyle/>
          <a:p>
            <a:pPr indent="0" marL="0">
              <a:buNone/>
            </a:pPr>
            <a:r>
              <a:rPr lang="en-US" sz="4000" b="1" dirty="0">
                <a:solidFill>
                  <a:schemeClr val="accent1"/>
                </a:solidFill>
                <a:latin typeface="Arial" pitchFamily="34" charset="0"/>
                <a:ea typeface="Arial" pitchFamily="34" charset="-122"/>
                <a:cs typeface="Arial" pitchFamily="34" charset="-120"/>
              </a:rPr>
              <a:t>pár µm</a:t>
            </a:r>
            <a:endParaRPr lang="en-US" sz="4000" dirty="0"/>
          </a:p>
        </p:txBody>
      </p:sp>
      <p:sp>
        <p:nvSpPr>
          <p:cNvPr id="9" name="amp label"/>
          <p:cNvSpPr txBox="1"/>
          <p:nvPr/>
        </p:nvSpPr>
        <p:spPr>
          <a:xfrm>
            <a:off x="868680" y="4892040"/>
            <a:ext cx="3200400" cy="365760"/>
          </a:xfrm>
          <a:prstGeom prst="rect">
            <a:avLst/>
          </a:prstGeom>
          <a:noFill/>
          <a:ln/>
        </p:spPr>
        <p:txBody>
          <a:bodyPr wrap="square" lIns="0" tIns="0" rIns="0" bIns="0" rtlCol="0" anchor="t"/>
          <a:lstStyle/>
          <a:p>
            <a:pPr indent="0" marL="0">
              <a:buNone/>
            </a:pPr>
            <a:r>
              <a:rPr lang="en-US" sz="1400" dirty="0">
                <a:solidFill>
                  <a:schemeClr val="bg1"/>
                </a:solidFill>
              </a:rPr>
              <a:t>amplituda kmitu, tenčí než vlas</a:t>
            </a:r>
            <a:endParaRPr lang="en-US" sz="1400" dirty="0"/>
          </a:p>
        </p:txBody>
      </p:sp>
      <p:sp>
        <p:nvSpPr>
          <p:cNvPr id="10" name="how title"/>
          <p:cNvSpPr txBox="1"/>
          <p:nvPr/>
        </p:nvSpPr>
        <p:spPr>
          <a:xfrm>
            <a:off x="4754880" y="1508760"/>
            <a:ext cx="6858000" cy="457200"/>
          </a:xfrm>
          <a:prstGeom prst="rect">
            <a:avLst/>
          </a:prstGeom>
          <a:noFill/>
          <a:ln/>
        </p:spPr>
        <p:txBody>
          <a:bodyPr wrap="square" lIns="0" tIns="0" rIns="0" bIns="0" rtlCol="0" anchor="t"/>
          <a:lstStyle/>
          <a:p>
            <a:pPr indent="0" marL="0">
              <a:buNone/>
            </a:pPr>
            <a:r>
              <a:rPr lang="en-US" sz="2000" b="1" dirty="0">
                <a:solidFill>
                  <a:schemeClr val="tx1"/>
                </a:solidFill>
              </a:rPr>
              <a:t>Jak to funguje</a:t>
            </a:r>
            <a:endParaRPr lang="en-US" sz="2000" dirty="0"/>
          </a:p>
        </p:txBody>
      </p:sp>
      <p:sp>
        <p:nvSpPr>
          <p:cNvPr id="11" name="num circle 0"/>
          <p:cNvSpPr/>
          <p:nvPr/>
        </p:nvSpPr>
        <p:spPr>
          <a:xfrm>
            <a:off x="4754880" y="2103120"/>
            <a:ext cx="502920" cy="502920"/>
          </a:xfrm>
          <a:prstGeom prst="ellipse">
            <a:avLst/>
          </a:prstGeom>
          <a:solidFill>
            <a:schemeClr val="bg2"/>
          </a:solidFill>
          <a:ln/>
        </p:spPr>
      </p:sp>
      <p:sp>
        <p:nvSpPr>
          <p:cNvPr id="12" name="num 0"/>
          <p:cNvSpPr txBox="1"/>
          <p:nvPr/>
        </p:nvSpPr>
        <p:spPr>
          <a:xfrm>
            <a:off x="4754880" y="2103120"/>
            <a:ext cx="502920" cy="502920"/>
          </a:xfrm>
          <a:prstGeom prst="rect">
            <a:avLst/>
          </a:prstGeom>
          <a:noFill/>
          <a:ln/>
        </p:spPr>
        <p:txBody>
          <a:bodyPr wrap="square" lIns="0" tIns="0" rIns="0" bIns="0" rtlCol="0" anchor="ctr"/>
          <a:lstStyle/>
          <a:p>
            <a:pPr algn="ctr" indent="0" marL="0">
              <a:buNone/>
            </a:pPr>
            <a:r>
              <a:rPr lang="en-US" sz="1600" b="1" dirty="0">
                <a:solidFill>
                  <a:schemeClr val="accent1"/>
                </a:solidFill>
              </a:rPr>
              <a:t>1</a:t>
            </a:r>
            <a:endParaRPr lang="en-US" sz="1600" dirty="0"/>
          </a:p>
        </p:txBody>
      </p:sp>
      <p:sp>
        <p:nvSpPr>
          <p:cNvPr id="13" name="how 0"/>
          <p:cNvSpPr txBox="1"/>
          <p:nvPr/>
        </p:nvSpPr>
        <p:spPr>
          <a:xfrm>
            <a:off x="5486400" y="2103120"/>
            <a:ext cx="6126480" cy="502920"/>
          </a:xfrm>
          <a:prstGeom prst="rect">
            <a:avLst/>
          </a:prstGeom>
          <a:noFill/>
          <a:ln/>
        </p:spPr>
        <p:txBody>
          <a:bodyPr wrap="square" lIns="0" tIns="0" rIns="0" bIns="0" rtlCol="0" anchor="ctr"/>
          <a:lstStyle/>
          <a:p>
            <a:pPr indent="0" marL="0">
              <a:buNone/>
            </a:pPr>
            <a:r>
              <a:rPr lang="en-US" sz="1500" dirty="0">
                <a:solidFill>
                  <a:schemeClr val="tx2"/>
                </a:solidFill>
              </a:rPr>
              <a:t>Piezoelektrický měnič rozkmitá nůž na ultrazvukové frekvenci</a:t>
            </a:r>
            <a:endParaRPr lang="en-US" sz="1500" dirty="0"/>
          </a:p>
        </p:txBody>
      </p:sp>
      <p:sp>
        <p:nvSpPr>
          <p:cNvPr id="14" name="num circle 1"/>
          <p:cNvSpPr/>
          <p:nvPr/>
        </p:nvSpPr>
        <p:spPr>
          <a:xfrm>
            <a:off x="4754880" y="2880360"/>
            <a:ext cx="502920" cy="502920"/>
          </a:xfrm>
          <a:prstGeom prst="ellipse">
            <a:avLst/>
          </a:prstGeom>
          <a:solidFill>
            <a:schemeClr val="bg2"/>
          </a:solidFill>
          <a:ln/>
        </p:spPr>
      </p:sp>
      <p:sp>
        <p:nvSpPr>
          <p:cNvPr id="15" name="num 1"/>
          <p:cNvSpPr txBox="1"/>
          <p:nvPr/>
        </p:nvSpPr>
        <p:spPr>
          <a:xfrm>
            <a:off x="4754880" y="2880360"/>
            <a:ext cx="502920" cy="502920"/>
          </a:xfrm>
          <a:prstGeom prst="rect">
            <a:avLst/>
          </a:prstGeom>
          <a:noFill/>
          <a:ln/>
        </p:spPr>
        <p:txBody>
          <a:bodyPr wrap="square" lIns="0" tIns="0" rIns="0" bIns="0" rtlCol="0" anchor="ctr"/>
          <a:lstStyle/>
          <a:p>
            <a:pPr algn="ctr" indent="0" marL="0">
              <a:buNone/>
            </a:pPr>
            <a:r>
              <a:rPr lang="en-US" sz="1600" b="1" dirty="0">
                <a:solidFill>
                  <a:schemeClr val="accent1"/>
                </a:solidFill>
              </a:rPr>
              <a:t>2</a:t>
            </a:r>
            <a:endParaRPr lang="en-US" sz="1600" dirty="0"/>
          </a:p>
        </p:txBody>
      </p:sp>
      <p:sp>
        <p:nvSpPr>
          <p:cNvPr id="16" name="how 1"/>
          <p:cNvSpPr txBox="1"/>
          <p:nvPr/>
        </p:nvSpPr>
        <p:spPr>
          <a:xfrm>
            <a:off x="5486400" y="2880360"/>
            <a:ext cx="6126480" cy="502920"/>
          </a:xfrm>
          <a:prstGeom prst="rect">
            <a:avLst/>
          </a:prstGeom>
          <a:noFill/>
          <a:ln/>
        </p:spPr>
        <p:txBody>
          <a:bodyPr wrap="square" lIns="0" tIns="0" rIns="0" bIns="0" rtlCol="0" anchor="ctr"/>
          <a:lstStyle/>
          <a:p>
            <a:pPr indent="0" marL="0">
              <a:buNone/>
            </a:pPr>
            <a:r>
              <a:rPr lang="en-US" sz="1500" dirty="0">
                <a:solidFill>
                  <a:schemeClr val="tx2"/>
                </a:solidFill>
              </a:rPr>
              <a:t>Nůž se od materiálu nepatrně odtahuje: menší tření a teplo</a:t>
            </a:r>
            <a:endParaRPr lang="en-US" sz="1500" dirty="0"/>
          </a:p>
        </p:txBody>
      </p:sp>
      <p:sp>
        <p:nvSpPr>
          <p:cNvPr id="17" name="num circle 2"/>
          <p:cNvSpPr/>
          <p:nvPr/>
        </p:nvSpPr>
        <p:spPr>
          <a:xfrm>
            <a:off x="4754880" y="3657600"/>
            <a:ext cx="502920" cy="502920"/>
          </a:xfrm>
          <a:prstGeom prst="ellipse">
            <a:avLst/>
          </a:prstGeom>
          <a:solidFill>
            <a:schemeClr val="bg2"/>
          </a:solidFill>
          <a:ln/>
        </p:spPr>
      </p:sp>
      <p:sp>
        <p:nvSpPr>
          <p:cNvPr id="18" name="num 2"/>
          <p:cNvSpPr txBox="1"/>
          <p:nvPr/>
        </p:nvSpPr>
        <p:spPr>
          <a:xfrm>
            <a:off x="4754880" y="3657600"/>
            <a:ext cx="502920" cy="502920"/>
          </a:xfrm>
          <a:prstGeom prst="rect">
            <a:avLst/>
          </a:prstGeom>
          <a:noFill/>
          <a:ln/>
        </p:spPr>
        <p:txBody>
          <a:bodyPr wrap="square" lIns="0" tIns="0" rIns="0" bIns="0" rtlCol="0" anchor="ctr"/>
          <a:lstStyle/>
          <a:p>
            <a:pPr algn="ctr" indent="0" marL="0">
              <a:buNone/>
            </a:pPr>
            <a:r>
              <a:rPr lang="en-US" sz="1600" b="1" dirty="0">
                <a:solidFill>
                  <a:schemeClr val="accent1"/>
                </a:solidFill>
              </a:rPr>
              <a:t>3</a:t>
            </a:r>
            <a:endParaRPr lang="en-US" sz="1600" dirty="0"/>
          </a:p>
        </p:txBody>
      </p:sp>
      <p:sp>
        <p:nvSpPr>
          <p:cNvPr id="19" name="how 2"/>
          <p:cNvSpPr txBox="1"/>
          <p:nvPr/>
        </p:nvSpPr>
        <p:spPr>
          <a:xfrm>
            <a:off x="5486400" y="3657600"/>
            <a:ext cx="6126480" cy="502920"/>
          </a:xfrm>
          <a:prstGeom prst="rect">
            <a:avLst/>
          </a:prstGeom>
          <a:noFill/>
          <a:ln/>
        </p:spPr>
        <p:txBody>
          <a:bodyPr wrap="square" lIns="0" tIns="0" rIns="0" bIns="0" rtlCol="0" anchor="ctr"/>
          <a:lstStyle/>
          <a:p>
            <a:pPr indent="0" marL="0">
              <a:buNone/>
            </a:pPr>
            <a:r>
              <a:rPr lang="en-US" sz="1500" dirty="0">
                <a:solidFill>
                  <a:schemeClr val="tx2"/>
                </a:solidFill>
              </a:rPr>
              <a:t>Řezné síly výrazně klesnou a křehký materiál nepraská</a:t>
            </a:r>
            <a:endParaRPr lang="en-US" sz="1500" dirty="0"/>
          </a:p>
        </p:txBody>
      </p:sp>
      <p:sp>
        <p:nvSpPr>
          <p:cNvPr id="20" name="mat title"/>
          <p:cNvSpPr txBox="1"/>
          <p:nvPr/>
        </p:nvSpPr>
        <p:spPr>
          <a:xfrm>
            <a:off x="4754880" y="4572000"/>
            <a:ext cx="6858000" cy="457200"/>
          </a:xfrm>
          <a:prstGeom prst="rect">
            <a:avLst/>
          </a:prstGeom>
          <a:noFill/>
          <a:ln/>
        </p:spPr>
        <p:txBody>
          <a:bodyPr wrap="square" lIns="0" tIns="0" rIns="0" bIns="0" rtlCol="0" anchor="t"/>
          <a:lstStyle/>
          <a:p>
            <a:pPr indent="0" marL="0">
              <a:buNone/>
            </a:pPr>
            <a:r>
              <a:rPr lang="en-US" sz="2000" b="1" dirty="0">
                <a:solidFill>
                  <a:schemeClr val="tx1"/>
                </a:solidFill>
              </a:rPr>
              <a:t>Co jde obrábět</a:t>
            </a:r>
            <a:endParaRPr lang="en-US" sz="2000" dirty="0"/>
          </a:p>
        </p:txBody>
      </p:sp>
      <p:sp>
        <p:nvSpPr>
          <p:cNvPr id="21" name="chip Technická keramika"/>
          <p:cNvSpPr/>
          <p:nvPr/>
        </p:nvSpPr>
        <p:spPr>
          <a:xfrm>
            <a:off x="4754880" y="5166360"/>
            <a:ext cx="1874520" cy="457200"/>
          </a:xfrm>
          <a:prstGeom prst="roundRect">
            <a:avLst>
              <a:gd name="adj" fmla="val 50000"/>
            </a:avLst>
          </a:prstGeom>
          <a:solidFill>
            <a:schemeClr val="bg2"/>
          </a:solidFill>
          <a:ln/>
        </p:spPr>
      </p:sp>
      <p:sp>
        <p:nvSpPr>
          <p:cNvPr id="22" name="chip text Technická keramika"/>
          <p:cNvSpPr txBox="1"/>
          <p:nvPr/>
        </p:nvSpPr>
        <p:spPr>
          <a:xfrm>
            <a:off x="4754880" y="5166360"/>
            <a:ext cx="1874520" cy="457200"/>
          </a:xfrm>
          <a:prstGeom prst="rect">
            <a:avLst/>
          </a:prstGeom>
          <a:noFill/>
          <a:ln/>
        </p:spPr>
        <p:txBody>
          <a:bodyPr wrap="square" lIns="0" tIns="0" rIns="0" bIns="0" rtlCol="0" anchor="ctr"/>
          <a:lstStyle/>
          <a:p>
            <a:pPr algn="ctr" indent="0" marL="0">
              <a:buNone/>
            </a:pPr>
            <a:r>
              <a:rPr lang="en-US" sz="1400" dirty="0">
                <a:solidFill>
                  <a:schemeClr val="tx1"/>
                </a:solidFill>
              </a:rPr>
              <a:t>Technická keramika</a:t>
            </a:r>
            <a:endParaRPr lang="en-US" sz="1400" dirty="0"/>
          </a:p>
        </p:txBody>
      </p:sp>
      <p:sp>
        <p:nvSpPr>
          <p:cNvPr id="23" name="chip Sklo"/>
          <p:cNvSpPr/>
          <p:nvPr/>
        </p:nvSpPr>
        <p:spPr>
          <a:xfrm>
            <a:off x="6720840" y="5166360"/>
            <a:ext cx="822960" cy="457200"/>
          </a:xfrm>
          <a:prstGeom prst="roundRect">
            <a:avLst>
              <a:gd name="adj" fmla="val 50000"/>
            </a:avLst>
          </a:prstGeom>
          <a:solidFill>
            <a:schemeClr val="bg2"/>
          </a:solidFill>
          <a:ln/>
        </p:spPr>
      </p:sp>
      <p:sp>
        <p:nvSpPr>
          <p:cNvPr id="24" name="chip text Sklo"/>
          <p:cNvSpPr txBox="1"/>
          <p:nvPr/>
        </p:nvSpPr>
        <p:spPr>
          <a:xfrm>
            <a:off x="6720840" y="5166360"/>
            <a:ext cx="822960" cy="457200"/>
          </a:xfrm>
          <a:prstGeom prst="rect">
            <a:avLst/>
          </a:prstGeom>
          <a:noFill/>
          <a:ln/>
        </p:spPr>
        <p:txBody>
          <a:bodyPr wrap="square" lIns="0" tIns="0" rIns="0" bIns="0" rtlCol="0" anchor="ctr"/>
          <a:lstStyle/>
          <a:p>
            <a:pPr algn="ctr" indent="0" marL="0">
              <a:buNone/>
            </a:pPr>
            <a:r>
              <a:rPr lang="en-US" sz="1400" dirty="0">
                <a:solidFill>
                  <a:schemeClr val="tx1"/>
                </a:solidFill>
              </a:rPr>
              <a:t>Sklo</a:t>
            </a:r>
            <a:endParaRPr lang="en-US" sz="1400" dirty="0"/>
          </a:p>
        </p:txBody>
      </p:sp>
      <p:sp>
        <p:nvSpPr>
          <p:cNvPr id="25" name="chip Karbid wolframu"/>
          <p:cNvSpPr/>
          <p:nvPr/>
        </p:nvSpPr>
        <p:spPr>
          <a:xfrm>
            <a:off x="7635240" y="5166360"/>
            <a:ext cx="1737360" cy="457200"/>
          </a:xfrm>
          <a:prstGeom prst="roundRect">
            <a:avLst>
              <a:gd name="adj" fmla="val 50000"/>
            </a:avLst>
          </a:prstGeom>
          <a:solidFill>
            <a:schemeClr val="bg2"/>
          </a:solidFill>
          <a:ln/>
        </p:spPr>
      </p:sp>
      <p:sp>
        <p:nvSpPr>
          <p:cNvPr id="26" name="chip text Karbid wolframu"/>
          <p:cNvSpPr txBox="1"/>
          <p:nvPr/>
        </p:nvSpPr>
        <p:spPr>
          <a:xfrm>
            <a:off x="7635240" y="5166360"/>
            <a:ext cx="1737360" cy="457200"/>
          </a:xfrm>
          <a:prstGeom prst="rect">
            <a:avLst/>
          </a:prstGeom>
          <a:noFill/>
          <a:ln/>
        </p:spPr>
        <p:txBody>
          <a:bodyPr wrap="square" lIns="0" tIns="0" rIns="0" bIns="0" rtlCol="0" anchor="ctr"/>
          <a:lstStyle/>
          <a:p>
            <a:pPr algn="ctr" indent="0" marL="0">
              <a:buNone/>
            </a:pPr>
            <a:r>
              <a:rPr lang="en-US" sz="1400" dirty="0">
                <a:solidFill>
                  <a:schemeClr val="tx1"/>
                </a:solidFill>
              </a:rPr>
              <a:t>Karbid wolframu</a:t>
            </a:r>
            <a:endParaRPr lang="en-US" sz="1400" dirty="0"/>
          </a:p>
        </p:txBody>
      </p:sp>
      <p:sp>
        <p:nvSpPr>
          <p:cNvPr id="27" name="chip Titan"/>
          <p:cNvSpPr/>
          <p:nvPr/>
        </p:nvSpPr>
        <p:spPr>
          <a:xfrm>
            <a:off x="9464040" y="5166360"/>
            <a:ext cx="868680" cy="457200"/>
          </a:xfrm>
          <a:prstGeom prst="roundRect">
            <a:avLst>
              <a:gd name="adj" fmla="val 50000"/>
            </a:avLst>
          </a:prstGeom>
          <a:solidFill>
            <a:schemeClr val="bg2"/>
          </a:solidFill>
          <a:ln/>
        </p:spPr>
      </p:sp>
      <p:sp>
        <p:nvSpPr>
          <p:cNvPr id="28" name="chip text Titan"/>
          <p:cNvSpPr txBox="1"/>
          <p:nvPr/>
        </p:nvSpPr>
        <p:spPr>
          <a:xfrm>
            <a:off x="9464040" y="5166360"/>
            <a:ext cx="868680" cy="457200"/>
          </a:xfrm>
          <a:prstGeom prst="rect">
            <a:avLst/>
          </a:prstGeom>
          <a:noFill/>
          <a:ln/>
        </p:spPr>
        <p:txBody>
          <a:bodyPr wrap="square" lIns="0" tIns="0" rIns="0" bIns="0" rtlCol="0" anchor="ctr"/>
          <a:lstStyle/>
          <a:p>
            <a:pPr algn="ctr" indent="0" marL="0">
              <a:buNone/>
            </a:pPr>
            <a:r>
              <a:rPr lang="en-US" sz="1400" dirty="0">
                <a:solidFill>
                  <a:schemeClr val="tx1"/>
                </a:solidFill>
              </a:rPr>
              <a:t>Titan</a:t>
            </a:r>
            <a:endParaRPr lang="en-US" sz="1400" dirty="0"/>
          </a:p>
        </p:txBody>
      </p:sp>
      <p:sp>
        <p:nvSpPr>
          <p:cNvPr id="29" name="chip Inconel"/>
          <p:cNvSpPr/>
          <p:nvPr/>
        </p:nvSpPr>
        <p:spPr>
          <a:xfrm>
            <a:off x="10424160" y="5166360"/>
            <a:ext cx="1051560" cy="457200"/>
          </a:xfrm>
          <a:prstGeom prst="roundRect">
            <a:avLst>
              <a:gd name="adj" fmla="val 50000"/>
            </a:avLst>
          </a:prstGeom>
          <a:solidFill>
            <a:schemeClr val="bg2"/>
          </a:solidFill>
          <a:ln/>
        </p:spPr>
      </p:sp>
      <p:sp>
        <p:nvSpPr>
          <p:cNvPr id="30" name="chip text Inconel"/>
          <p:cNvSpPr txBox="1"/>
          <p:nvPr/>
        </p:nvSpPr>
        <p:spPr>
          <a:xfrm>
            <a:off x="10424160" y="5166360"/>
            <a:ext cx="1051560" cy="457200"/>
          </a:xfrm>
          <a:prstGeom prst="rect">
            <a:avLst/>
          </a:prstGeom>
          <a:noFill/>
          <a:ln/>
        </p:spPr>
        <p:txBody>
          <a:bodyPr wrap="square" lIns="0" tIns="0" rIns="0" bIns="0" rtlCol="0" anchor="ctr"/>
          <a:lstStyle/>
          <a:p>
            <a:pPr algn="ctr" indent="0" marL="0">
              <a:buNone/>
            </a:pPr>
            <a:r>
              <a:rPr lang="en-US" sz="1400" dirty="0">
                <a:solidFill>
                  <a:schemeClr val="tx1"/>
                </a:solidFill>
              </a:rPr>
              <a:t>Inconel</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indent="0" marL="0">
              <a:buNone/>
            </a:pPr>
            <a:r>
              <a:rPr lang="en-US" sz="3400" b="1" dirty="0">
                <a:solidFill>
                  <a:schemeClr val="tx1"/>
                </a:solidFill>
              </a:rPr>
              <a:t>6 · Diamantové soustružení na nanometry</a:t>
            </a:r>
            <a:endParaRPr lang="en-US" sz="3400" dirty="0"/>
          </a:p>
        </p:txBody>
      </p:sp>
      <p:sp>
        <p:nvSpPr>
          <p:cNvPr id="3" name="spdt stat 0"/>
          <p:cNvSpPr/>
          <p:nvPr/>
        </p:nvSpPr>
        <p:spPr>
          <a:xfrm>
            <a:off x="548640" y="1463040"/>
            <a:ext cx="3520440" cy="1828800"/>
          </a:xfrm>
          <a:prstGeom prst="roundRect">
            <a:avLst>
              <a:gd name="adj" fmla="val 6000"/>
            </a:avLst>
          </a:prstGeom>
          <a:solidFill>
            <a:schemeClr val="bg2"/>
          </a:solidFill>
          <a:ln/>
        </p:spPr>
      </p:sp>
      <p:sp>
        <p:nvSpPr>
          <p:cNvPr id="4" name="spdt value 0"/>
          <p:cNvSpPr txBox="1"/>
          <p:nvPr/>
        </p:nvSpPr>
        <p:spPr>
          <a:xfrm>
            <a:off x="822960" y="1600200"/>
            <a:ext cx="3017520" cy="868680"/>
          </a:xfrm>
          <a:prstGeom prst="rect">
            <a:avLst/>
          </a:prstGeom>
          <a:noFill/>
          <a:ln/>
        </p:spPr>
        <p:txBody>
          <a:bodyPr wrap="square" lIns="0" tIns="0" rIns="0" bIns="0" rtlCol="0" anchor="t"/>
          <a:lstStyle/>
          <a:p>
            <a:pPr indent="0" marL="0">
              <a:buNone/>
            </a:pPr>
            <a:r>
              <a:rPr lang="en-US" sz="4400" b="1" dirty="0">
                <a:solidFill>
                  <a:schemeClr val="accent1"/>
                </a:solidFill>
                <a:latin typeface="Arial" pitchFamily="34" charset="0"/>
                <a:ea typeface="Arial" pitchFamily="34" charset="-122"/>
                <a:cs typeface="Arial" pitchFamily="34" charset="-120"/>
              </a:rPr>
              <a:t>1–5 nm</a:t>
            </a:r>
            <a:endParaRPr lang="en-US" sz="4400" dirty="0"/>
          </a:p>
        </p:txBody>
      </p:sp>
      <p:sp>
        <p:nvSpPr>
          <p:cNvPr id="5" name="spdt label 0"/>
          <p:cNvSpPr txBox="1"/>
          <p:nvPr/>
        </p:nvSpPr>
        <p:spPr>
          <a:xfrm>
            <a:off x="822960" y="2514600"/>
            <a:ext cx="3017520" cy="685800"/>
          </a:xfrm>
          <a:prstGeom prst="rect">
            <a:avLst/>
          </a:prstGeom>
          <a:noFill/>
          <a:ln/>
        </p:spPr>
        <p:txBody>
          <a:bodyPr wrap="square" lIns="0" tIns="0" rIns="0" bIns="0" rtlCol="0" anchor="t"/>
          <a:lstStyle/>
          <a:p>
            <a:pPr indent="0" marL="0">
              <a:buNone/>
            </a:pPr>
            <a:r>
              <a:rPr lang="en-US" sz="1400" dirty="0">
                <a:solidFill>
                  <a:schemeClr val="tx2"/>
                </a:solidFill>
              </a:rPr>
              <a:t>drsnost povrchu, asi 10 000× méně než tloušťka vlasu</a:t>
            </a:r>
            <a:endParaRPr lang="en-US" sz="1400" dirty="0"/>
          </a:p>
        </p:txBody>
      </p:sp>
      <p:sp>
        <p:nvSpPr>
          <p:cNvPr id="6" name="spdt stat 1"/>
          <p:cNvSpPr/>
          <p:nvPr/>
        </p:nvSpPr>
        <p:spPr>
          <a:xfrm>
            <a:off x="4320540" y="1463040"/>
            <a:ext cx="3520440" cy="1828800"/>
          </a:xfrm>
          <a:prstGeom prst="roundRect">
            <a:avLst>
              <a:gd name="adj" fmla="val 6000"/>
            </a:avLst>
          </a:prstGeom>
          <a:solidFill>
            <a:schemeClr val="bg2"/>
          </a:solidFill>
          <a:ln/>
        </p:spPr>
      </p:sp>
      <p:sp>
        <p:nvSpPr>
          <p:cNvPr id="7" name="spdt value 1"/>
          <p:cNvSpPr txBox="1"/>
          <p:nvPr/>
        </p:nvSpPr>
        <p:spPr>
          <a:xfrm>
            <a:off x="4594860" y="1600200"/>
            <a:ext cx="3017520" cy="868680"/>
          </a:xfrm>
          <a:prstGeom prst="rect">
            <a:avLst/>
          </a:prstGeom>
          <a:noFill/>
          <a:ln/>
        </p:spPr>
        <p:txBody>
          <a:bodyPr wrap="square" lIns="0" tIns="0" rIns="0" bIns="0" rtlCol="0" anchor="t"/>
          <a:lstStyle/>
          <a:p>
            <a:pPr indent="0" marL="0">
              <a:buNone/>
            </a:pPr>
            <a:r>
              <a:rPr lang="en-US" sz="4400" b="1" dirty="0">
                <a:solidFill>
                  <a:schemeClr val="accent1"/>
                </a:solidFill>
                <a:latin typeface="Arial" pitchFamily="34" charset="0"/>
                <a:ea typeface="Arial" pitchFamily="34" charset="-122"/>
                <a:cs typeface="Arial" pitchFamily="34" charset="-120"/>
              </a:rPr>
              <a:t>~0,1 µm</a:t>
            </a:r>
            <a:endParaRPr lang="en-US" sz="4400" dirty="0"/>
          </a:p>
        </p:txBody>
      </p:sp>
      <p:sp>
        <p:nvSpPr>
          <p:cNvPr id="8" name="spdt label 1"/>
          <p:cNvSpPr txBox="1"/>
          <p:nvPr/>
        </p:nvSpPr>
        <p:spPr>
          <a:xfrm>
            <a:off x="4594860" y="2514600"/>
            <a:ext cx="3017520" cy="685800"/>
          </a:xfrm>
          <a:prstGeom prst="rect">
            <a:avLst/>
          </a:prstGeom>
          <a:noFill/>
          <a:ln/>
        </p:spPr>
        <p:txBody>
          <a:bodyPr wrap="square" lIns="0" tIns="0" rIns="0" bIns="0" rtlCol="0" anchor="t"/>
          <a:lstStyle/>
          <a:p>
            <a:pPr indent="0" marL="0">
              <a:buNone/>
            </a:pPr>
            <a:r>
              <a:rPr lang="en-US" sz="1400" dirty="0">
                <a:solidFill>
                  <a:schemeClr val="tx2"/>
                </a:solidFill>
              </a:rPr>
              <a:t>přesnost tvaru celé plochy</a:t>
            </a:r>
            <a:endParaRPr lang="en-US" sz="1400" dirty="0"/>
          </a:p>
        </p:txBody>
      </p:sp>
      <p:sp>
        <p:nvSpPr>
          <p:cNvPr id="9" name="spdt stat 2"/>
          <p:cNvSpPr/>
          <p:nvPr/>
        </p:nvSpPr>
        <p:spPr>
          <a:xfrm>
            <a:off x="8092440" y="1463040"/>
            <a:ext cx="3520440" cy="1828800"/>
          </a:xfrm>
          <a:prstGeom prst="roundRect">
            <a:avLst>
              <a:gd name="adj" fmla="val 6000"/>
            </a:avLst>
          </a:prstGeom>
          <a:solidFill>
            <a:schemeClr val="bg2"/>
          </a:solidFill>
          <a:ln/>
        </p:spPr>
      </p:sp>
      <p:sp>
        <p:nvSpPr>
          <p:cNvPr id="10" name="spdt value 2"/>
          <p:cNvSpPr txBox="1"/>
          <p:nvPr/>
        </p:nvSpPr>
        <p:spPr>
          <a:xfrm>
            <a:off x="8366760" y="1600200"/>
            <a:ext cx="3017520" cy="868680"/>
          </a:xfrm>
          <a:prstGeom prst="rect">
            <a:avLst/>
          </a:prstGeom>
          <a:noFill/>
          <a:ln/>
        </p:spPr>
        <p:txBody>
          <a:bodyPr wrap="square" lIns="0" tIns="0" rIns="0" bIns="0" rtlCol="0" anchor="t"/>
          <a:lstStyle/>
          <a:p>
            <a:pPr indent="0" marL="0">
              <a:buNone/>
            </a:pPr>
            <a:r>
              <a:rPr lang="en-US" sz="4400" b="1" dirty="0">
                <a:solidFill>
                  <a:schemeClr val="accent1"/>
                </a:solidFill>
                <a:latin typeface="Arial" pitchFamily="34" charset="0"/>
                <a:ea typeface="Arial" pitchFamily="34" charset="-122"/>
                <a:cs typeface="Arial" pitchFamily="34" charset="-120"/>
              </a:rPr>
              <a:t>1 krystal</a:t>
            </a:r>
            <a:endParaRPr lang="en-US" sz="4400" dirty="0"/>
          </a:p>
        </p:txBody>
      </p:sp>
      <p:sp>
        <p:nvSpPr>
          <p:cNvPr id="11" name="spdt label 2"/>
          <p:cNvSpPr txBox="1"/>
          <p:nvPr/>
        </p:nvSpPr>
        <p:spPr>
          <a:xfrm>
            <a:off x="8366760" y="2514600"/>
            <a:ext cx="3017520" cy="685800"/>
          </a:xfrm>
          <a:prstGeom prst="rect">
            <a:avLst/>
          </a:prstGeom>
          <a:noFill/>
          <a:ln/>
        </p:spPr>
        <p:txBody>
          <a:bodyPr wrap="square" lIns="0" tIns="0" rIns="0" bIns="0" rtlCol="0" anchor="t"/>
          <a:lstStyle/>
          <a:p>
            <a:pPr indent="0" marL="0">
              <a:buNone/>
            </a:pPr>
            <a:r>
              <a:rPr lang="en-US" sz="1400" dirty="0">
                <a:solidFill>
                  <a:schemeClr val="tx2"/>
                </a:solidFill>
              </a:rPr>
              <a:t>nástroj z monokrystalického diamantu</a:t>
            </a:r>
            <a:endParaRPr lang="en-US" sz="1400" dirty="0"/>
          </a:p>
        </p:txBody>
      </p:sp>
      <p:sp>
        <p:nvSpPr>
          <p:cNvPr id="12" name="use title"/>
          <p:cNvSpPr txBox="1"/>
          <p:nvPr/>
        </p:nvSpPr>
        <p:spPr>
          <a:xfrm>
            <a:off x="548640" y="3657600"/>
            <a:ext cx="6400800" cy="457200"/>
          </a:xfrm>
          <a:prstGeom prst="rect">
            <a:avLst/>
          </a:prstGeom>
          <a:noFill/>
          <a:ln/>
        </p:spPr>
        <p:txBody>
          <a:bodyPr wrap="square" lIns="0" tIns="0" rIns="0" bIns="0" rtlCol="0" anchor="t"/>
          <a:lstStyle/>
          <a:p>
            <a:pPr indent="0" marL="0">
              <a:buNone/>
            </a:pPr>
            <a:r>
              <a:rPr lang="en-US" sz="2000" b="1" dirty="0">
                <a:solidFill>
                  <a:schemeClr val="tx1"/>
                </a:solidFill>
              </a:rPr>
              <a:t>Stroj a použití</a:t>
            </a:r>
            <a:endParaRPr lang="en-US" sz="2000" dirty="0"/>
          </a:p>
        </p:txBody>
      </p:sp>
      <p:sp>
        <p:nvSpPr>
          <p:cNvPr id="13" name="use list"/>
          <p:cNvSpPr txBox="1"/>
          <p:nvPr/>
        </p:nvSpPr>
        <p:spPr>
          <a:xfrm>
            <a:off x="548640" y="4206240"/>
            <a:ext cx="6675120" cy="1828800"/>
          </a:xfrm>
          <a:prstGeom prst="rect">
            <a:avLst/>
          </a:prstGeom>
          <a:noFill/>
          <a:ln/>
        </p:spPr>
        <p:txBody>
          <a:bodyPr wrap="square" lIns="0" tIns="0" rIns="0" bIns="0" rtlCol="0" anchor="t"/>
          <a:lstStyle/>
          <a:p>
            <a:pPr marL="228600" indent="-228600">
              <a:spcAft>
                <a:spcPts val="800"/>
              </a:spcAft>
              <a:buSzPct val="100000"/>
              <a:buChar char="•"/>
            </a:pPr>
            <a:r>
              <a:rPr lang="en-US" sz="1500" dirty="0">
                <a:solidFill>
                  <a:schemeClr val="tx2"/>
                </a:solidFill>
              </a:rPr>
              <a:t>Žulové lože a vzduchová ložiska tlumí i otřesy z ulice</a:t>
            </a:r>
            <a:endParaRPr lang="en-US" sz="1500" dirty="0"/>
          </a:p>
          <a:p>
            <a:pPr marL="228600" indent="-228600">
              <a:spcAft>
                <a:spcPts val="800"/>
              </a:spcAft>
              <a:buSzPct val="100000"/>
              <a:buChar char="•"/>
            </a:pPr>
            <a:r>
              <a:rPr lang="en-US" sz="1500" dirty="0">
                <a:solidFill>
                  <a:schemeClr val="tx2"/>
                </a:solidFill>
              </a:rPr>
              <a:t>Infračervená optika, laserová zrcadla, zrcadla do satelitů</a:t>
            </a:r>
            <a:endParaRPr lang="en-US" sz="1500" dirty="0"/>
          </a:p>
          <a:p>
            <a:pPr marL="228600" indent="-228600">
              <a:spcAft>
                <a:spcPts val="800"/>
              </a:spcAft>
              <a:buSzPct val="100000"/>
              <a:buChar char="•"/>
            </a:pPr>
            <a:r>
              <a:rPr lang="en-US" sz="1500" dirty="0">
                <a:solidFill>
                  <a:schemeClr val="tx2"/>
                </a:solidFill>
              </a:rPr>
              <a:t>Formy na čočky i samotné kontaktní čočky</a:t>
            </a:r>
            <a:endParaRPr lang="en-US" sz="1500" dirty="0"/>
          </a:p>
        </p:txBody>
      </p:sp>
      <p:sp>
        <p:nvSpPr>
          <p:cNvPr id="14" name="steel card"/>
          <p:cNvSpPr/>
          <p:nvPr/>
        </p:nvSpPr>
        <p:spPr>
          <a:xfrm>
            <a:off x="7589520" y="3657600"/>
            <a:ext cx="4023360" cy="2377440"/>
          </a:xfrm>
          <a:prstGeom prst="roundRect">
            <a:avLst>
              <a:gd name="adj" fmla="val 4615"/>
            </a:avLst>
          </a:prstGeom>
          <a:solidFill>
            <a:schemeClr val="tx1"/>
          </a:solidFill>
          <a:ln/>
        </p:spPr>
      </p:sp>
      <p:sp>
        <p:nvSpPr>
          <p:cNvPr id="15" name="diamond icon circle"/>
          <p:cNvSpPr/>
          <p:nvPr/>
        </p:nvSpPr>
        <p:spPr>
          <a:xfrm>
            <a:off x="7863840" y="3886200"/>
            <a:ext cx="594360" cy="594360"/>
          </a:xfrm>
          <a:prstGeom prst="ellipse">
            <a:avLst/>
          </a:prstGeom>
          <a:solidFill>
            <a:schemeClr val="accent1"/>
          </a:solidFill>
          <a:ln/>
        </p:spPr>
      </p:sp>
      <p:pic>
        <p:nvPicPr>
          <p:cNvPr id="16" name="diamond icon" descr="diamond icon">    </p:cNvPr>
          <p:cNvPicPr>
            <a:picLocks noChangeAspect="1"/>
          </p:cNvPicPr>
          <p:nvPr/>
        </p:nvPicPr>
        <p:blipFill>
          <a:blip r:embed="rId1"/>
          <a:stretch>
            <a:fillRect/>
          </a:stretch>
        </p:blipFill>
        <p:spPr>
          <a:xfrm>
            <a:off x="7994599" y="4016959"/>
            <a:ext cx="332842" cy="332842"/>
          </a:xfrm>
          <a:prstGeom prst="rect">
            <a:avLst/>
          </a:prstGeom>
        </p:spPr>
      </p:pic>
      <p:sp>
        <p:nvSpPr>
          <p:cNvPr id="17" name="steel title"/>
          <p:cNvSpPr txBox="1"/>
          <p:nvPr/>
        </p:nvSpPr>
        <p:spPr>
          <a:xfrm>
            <a:off x="8595360" y="3886200"/>
            <a:ext cx="2834640" cy="594360"/>
          </a:xfrm>
          <a:prstGeom prst="rect">
            <a:avLst/>
          </a:prstGeom>
          <a:noFill/>
          <a:ln/>
        </p:spPr>
        <p:txBody>
          <a:bodyPr wrap="square" lIns="0" tIns="0" rIns="0" bIns="0" rtlCol="0" anchor="ctr"/>
          <a:lstStyle/>
          <a:p>
            <a:pPr indent="0" marL="0">
              <a:buNone/>
            </a:pPr>
            <a:r>
              <a:rPr lang="en-US" sz="1800" b="1" dirty="0">
                <a:solidFill>
                  <a:schemeClr val="bg1"/>
                </a:solidFill>
              </a:rPr>
              <a:t>Proč ne ocel?</a:t>
            </a:r>
            <a:endParaRPr lang="en-US" sz="1800" dirty="0"/>
          </a:p>
        </p:txBody>
      </p:sp>
      <p:sp>
        <p:nvSpPr>
          <p:cNvPr id="18" name="steel text"/>
          <p:cNvSpPr txBox="1"/>
          <p:nvPr/>
        </p:nvSpPr>
        <p:spPr>
          <a:xfrm>
            <a:off x="7863840" y="4617720"/>
            <a:ext cx="3520440" cy="1325880"/>
          </a:xfrm>
          <a:prstGeom prst="rect">
            <a:avLst/>
          </a:prstGeom>
          <a:noFill/>
          <a:ln/>
        </p:spPr>
        <p:txBody>
          <a:bodyPr wrap="square" lIns="0" tIns="0" rIns="0" bIns="0" rtlCol="0" anchor="t"/>
          <a:lstStyle/>
          <a:p>
            <a:pPr indent="0" marL="0">
              <a:buNone/>
            </a:pPr>
            <a:r>
              <a:rPr lang="en-US" sz="1400" dirty="0">
                <a:solidFill>
                  <a:schemeClr val="bg1"/>
                </a:solidFill>
              </a:rPr>
              <a:t>Uhlík z diamantu se rozpouští v železe a nástroj se rychle zničí. Obrábí se hliník, měď, germanium nebo plasty.</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indent="0" marL="0">
              <a:buNone/>
            </a:pPr>
            <a:r>
              <a:rPr lang="en-US" sz="3400" b="1" dirty="0">
                <a:solidFill>
                  <a:schemeClr val="tx1"/>
                </a:solidFill>
              </a:rPr>
              <a:t>Rychlé zajímavosti navíc</a:t>
            </a:r>
            <a:endParaRPr lang="en-US" sz="3400" dirty="0"/>
          </a:p>
        </p:txBody>
      </p:sp>
      <p:sp>
        <p:nvSpPr>
          <p:cNvPr id="3" name="fact card 0"/>
          <p:cNvSpPr/>
          <p:nvPr/>
        </p:nvSpPr>
        <p:spPr>
          <a:xfrm>
            <a:off x="548640" y="1508760"/>
            <a:ext cx="3520440" cy="4023360"/>
          </a:xfrm>
          <a:prstGeom prst="roundRect">
            <a:avLst>
              <a:gd name="adj" fmla="val 3117"/>
            </a:avLst>
          </a:prstGeom>
          <a:solidFill>
            <a:schemeClr val="bg2"/>
          </a:solidFill>
          <a:ln/>
        </p:spPr>
      </p:sp>
      <p:sp>
        <p:nvSpPr>
          <p:cNvPr id="4" name="fact value 0"/>
          <p:cNvSpPr txBox="1"/>
          <p:nvPr/>
        </p:nvSpPr>
        <p:spPr>
          <a:xfrm>
            <a:off x="914400" y="1828800"/>
            <a:ext cx="2834640" cy="1005840"/>
          </a:xfrm>
          <a:prstGeom prst="rect">
            <a:avLst/>
          </a:prstGeom>
          <a:noFill/>
          <a:ln/>
        </p:spPr>
        <p:txBody>
          <a:bodyPr wrap="square" lIns="0" tIns="0" rIns="0" bIns="0" rtlCol="0" anchor="t"/>
          <a:lstStyle/>
          <a:p>
            <a:pPr indent="0" marL="0">
              <a:buNone/>
            </a:pPr>
            <a:r>
              <a:rPr lang="en-US" sz="4800" b="1" dirty="0">
                <a:solidFill>
                  <a:schemeClr val="accent1"/>
                </a:solidFill>
                <a:latin typeface="Arial" pitchFamily="34" charset="0"/>
                <a:ea typeface="Arial" pitchFamily="34" charset="-122"/>
                <a:cs typeface="Arial" pitchFamily="34" charset="-120"/>
              </a:rPr>
              <a:t>&gt;60 HRC</a:t>
            </a:r>
            <a:endParaRPr lang="en-US" sz="4800" dirty="0"/>
          </a:p>
        </p:txBody>
      </p:sp>
      <p:sp>
        <p:nvSpPr>
          <p:cNvPr id="5" name="fact title 0"/>
          <p:cNvSpPr txBox="1"/>
          <p:nvPr/>
        </p:nvSpPr>
        <p:spPr>
          <a:xfrm>
            <a:off x="914400" y="3017520"/>
            <a:ext cx="2834640" cy="822960"/>
          </a:xfrm>
          <a:prstGeom prst="rect">
            <a:avLst/>
          </a:prstGeom>
          <a:noFill/>
          <a:ln/>
        </p:spPr>
        <p:txBody>
          <a:bodyPr wrap="square" lIns="0" tIns="0" rIns="0" bIns="0" rtlCol="0" anchor="t"/>
          <a:lstStyle/>
          <a:p>
            <a:pPr indent="0" marL="0">
              <a:buNone/>
            </a:pPr>
            <a:r>
              <a:rPr lang="en-US" sz="2000" b="1" dirty="0">
                <a:solidFill>
                  <a:schemeClr val="tx1"/>
                </a:solidFill>
              </a:rPr>
              <a:t>Tvrdé soustružení</a:t>
            </a:r>
            <a:endParaRPr lang="en-US" sz="2000" dirty="0"/>
          </a:p>
        </p:txBody>
      </p:sp>
      <p:sp>
        <p:nvSpPr>
          <p:cNvPr id="6" name="fact body 0"/>
          <p:cNvSpPr txBox="1"/>
          <p:nvPr/>
        </p:nvSpPr>
        <p:spPr>
          <a:xfrm>
            <a:off x="914400" y="3931920"/>
            <a:ext cx="2834640" cy="1463040"/>
          </a:xfrm>
          <a:prstGeom prst="rect">
            <a:avLst/>
          </a:prstGeom>
          <a:noFill/>
          <a:ln/>
        </p:spPr>
        <p:txBody>
          <a:bodyPr wrap="square" lIns="0" tIns="0" rIns="0" bIns="0" rtlCol="0" anchor="t"/>
          <a:lstStyle/>
          <a:p>
            <a:pPr indent="0" marL="0">
              <a:buNone/>
            </a:pPr>
            <a:r>
              <a:rPr lang="en-US" sz="1500" dirty="0">
                <a:solidFill>
                  <a:schemeClr val="tx2"/>
                </a:solidFill>
              </a:rPr>
              <a:t>Nástroje z kubického nitridu boru (CBN) soustruží kalenou ocel a u některých dílů nahradí broušení.</a:t>
            </a:r>
            <a:endParaRPr lang="en-US" sz="1500" dirty="0"/>
          </a:p>
        </p:txBody>
      </p:sp>
      <p:sp>
        <p:nvSpPr>
          <p:cNvPr id="7" name="fact card 1"/>
          <p:cNvSpPr/>
          <p:nvPr/>
        </p:nvSpPr>
        <p:spPr>
          <a:xfrm>
            <a:off x="4320540" y="1508760"/>
            <a:ext cx="3520440" cy="4023360"/>
          </a:xfrm>
          <a:prstGeom prst="roundRect">
            <a:avLst>
              <a:gd name="adj" fmla="val 3117"/>
            </a:avLst>
          </a:prstGeom>
          <a:solidFill>
            <a:schemeClr val="tx1"/>
          </a:solidFill>
          <a:ln/>
        </p:spPr>
      </p:sp>
      <p:sp>
        <p:nvSpPr>
          <p:cNvPr id="8" name="fact value 1"/>
          <p:cNvSpPr txBox="1"/>
          <p:nvPr/>
        </p:nvSpPr>
        <p:spPr>
          <a:xfrm>
            <a:off x="4686300" y="1828800"/>
            <a:ext cx="2834640" cy="1005840"/>
          </a:xfrm>
          <a:prstGeom prst="rect">
            <a:avLst/>
          </a:prstGeom>
          <a:noFill/>
          <a:ln/>
        </p:spPr>
        <p:txBody>
          <a:bodyPr wrap="square" lIns="0" tIns="0" rIns="0" bIns="0" rtlCol="0" anchor="t"/>
          <a:lstStyle/>
          <a:p>
            <a:pPr indent="0" marL="0">
              <a:buNone/>
            </a:pPr>
            <a:r>
              <a:rPr lang="en-US" sz="4800" b="1" dirty="0">
                <a:solidFill>
                  <a:schemeClr val="accent1"/>
                </a:solidFill>
                <a:latin typeface="Arial" pitchFamily="34" charset="0"/>
                <a:ea typeface="Arial" pitchFamily="34" charset="-122"/>
                <a:cs typeface="Arial" pitchFamily="34" charset="-120"/>
              </a:rPr>
              <a:t>⇄</a:t>
            </a:r>
            <a:endParaRPr lang="en-US" sz="4800" dirty="0"/>
          </a:p>
        </p:txBody>
      </p:sp>
      <p:sp>
        <p:nvSpPr>
          <p:cNvPr id="9" name="fact title 1"/>
          <p:cNvSpPr txBox="1"/>
          <p:nvPr/>
        </p:nvSpPr>
        <p:spPr>
          <a:xfrm>
            <a:off x="4686300" y="3017520"/>
            <a:ext cx="2834640" cy="822960"/>
          </a:xfrm>
          <a:prstGeom prst="rect">
            <a:avLst/>
          </a:prstGeom>
          <a:noFill/>
          <a:ln/>
        </p:spPr>
        <p:txBody>
          <a:bodyPr wrap="square" lIns="0" tIns="0" rIns="0" bIns="0" rtlCol="0" anchor="t"/>
          <a:lstStyle/>
          <a:p>
            <a:pPr indent="0" marL="0">
              <a:buNone/>
            </a:pPr>
            <a:r>
              <a:rPr lang="en-US" sz="2000" b="1" dirty="0">
                <a:solidFill>
                  <a:schemeClr val="bg1"/>
                </a:solidFill>
              </a:rPr>
              <a:t>Sandvik PrimeTurn</a:t>
            </a:r>
            <a:endParaRPr lang="en-US" sz="2000" dirty="0"/>
          </a:p>
        </p:txBody>
      </p:sp>
      <p:sp>
        <p:nvSpPr>
          <p:cNvPr id="10" name="fact body 1"/>
          <p:cNvSpPr txBox="1"/>
          <p:nvPr/>
        </p:nvSpPr>
        <p:spPr>
          <a:xfrm>
            <a:off x="4686300" y="3931920"/>
            <a:ext cx="2834640" cy="1463040"/>
          </a:xfrm>
          <a:prstGeom prst="rect">
            <a:avLst/>
          </a:prstGeom>
          <a:noFill/>
          <a:ln/>
        </p:spPr>
        <p:txBody>
          <a:bodyPr wrap="square" lIns="0" tIns="0" rIns="0" bIns="0" rtlCol="0" anchor="t"/>
          <a:lstStyle/>
          <a:p>
            <a:pPr indent="0" marL="0">
              <a:buNone/>
            </a:pPr>
            <a:r>
              <a:rPr lang="en-US" sz="1500" dirty="0">
                <a:solidFill>
                  <a:schemeClr val="bg1"/>
                </a:solidFill>
              </a:rPr>
              <a:t>Soustružení oběma směry posuvu jedním nástrojem: méně přejezdů, vyšší produktivita.</a:t>
            </a:r>
            <a:endParaRPr lang="en-US" sz="1500" dirty="0"/>
          </a:p>
        </p:txBody>
      </p:sp>
      <p:sp>
        <p:nvSpPr>
          <p:cNvPr id="11" name="fact card 2"/>
          <p:cNvSpPr/>
          <p:nvPr/>
        </p:nvSpPr>
        <p:spPr>
          <a:xfrm>
            <a:off x="8092440" y="1508760"/>
            <a:ext cx="3520440" cy="4023360"/>
          </a:xfrm>
          <a:prstGeom prst="roundRect">
            <a:avLst>
              <a:gd name="adj" fmla="val 3117"/>
            </a:avLst>
          </a:prstGeom>
          <a:solidFill>
            <a:schemeClr val="bg2"/>
          </a:solidFill>
          <a:ln/>
        </p:spPr>
      </p:sp>
      <p:sp>
        <p:nvSpPr>
          <p:cNvPr id="12" name="fact value 2"/>
          <p:cNvSpPr txBox="1"/>
          <p:nvPr/>
        </p:nvSpPr>
        <p:spPr>
          <a:xfrm>
            <a:off x="8458200" y="1828800"/>
            <a:ext cx="2834640" cy="1005840"/>
          </a:xfrm>
          <a:prstGeom prst="rect">
            <a:avLst/>
          </a:prstGeom>
          <a:noFill/>
          <a:ln/>
        </p:spPr>
        <p:txBody>
          <a:bodyPr wrap="square" lIns="0" tIns="0" rIns="0" bIns="0" rtlCol="0" anchor="t"/>
          <a:lstStyle/>
          <a:p>
            <a:pPr indent="0" marL="0">
              <a:buNone/>
            </a:pPr>
            <a:r>
              <a:rPr lang="en-US" sz="4800" b="1" dirty="0">
                <a:solidFill>
                  <a:schemeClr val="accent1"/>
                </a:solidFill>
                <a:latin typeface="Arial" pitchFamily="34" charset="0"/>
                <a:ea typeface="Arial" pitchFamily="34" charset="-122"/>
                <a:cs typeface="Arial" pitchFamily="34" charset="-120"/>
              </a:rPr>
              <a:t>70+ bar</a:t>
            </a:r>
            <a:endParaRPr lang="en-US" sz="4800" dirty="0"/>
          </a:p>
        </p:txBody>
      </p:sp>
      <p:sp>
        <p:nvSpPr>
          <p:cNvPr id="13" name="fact title 2"/>
          <p:cNvSpPr txBox="1"/>
          <p:nvPr/>
        </p:nvSpPr>
        <p:spPr>
          <a:xfrm>
            <a:off x="8458200" y="3017520"/>
            <a:ext cx="2834640" cy="822960"/>
          </a:xfrm>
          <a:prstGeom prst="rect">
            <a:avLst/>
          </a:prstGeom>
          <a:noFill/>
          <a:ln/>
        </p:spPr>
        <p:txBody>
          <a:bodyPr wrap="square" lIns="0" tIns="0" rIns="0" bIns="0" rtlCol="0" anchor="t"/>
          <a:lstStyle/>
          <a:p>
            <a:pPr indent="0" marL="0">
              <a:buNone/>
            </a:pPr>
            <a:r>
              <a:rPr lang="en-US" sz="2000" b="1" dirty="0">
                <a:solidFill>
                  <a:schemeClr val="tx1"/>
                </a:solidFill>
              </a:rPr>
              <a:t>Vysokotlaké chlazení</a:t>
            </a:r>
            <a:endParaRPr lang="en-US" sz="2000" dirty="0"/>
          </a:p>
        </p:txBody>
      </p:sp>
      <p:sp>
        <p:nvSpPr>
          <p:cNvPr id="14" name="fact body 2"/>
          <p:cNvSpPr txBox="1"/>
          <p:nvPr/>
        </p:nvSpPr>
        <p:spPr>
          <a:xfrm>
            <a:off x="8458200" y="3931920"/>
            <a:ext cx="2834640" cy="1463040"/>
          </a:xfrm>
          <a:prstGeom prst="rect">
            <a:avLst/>
          </a:prstGeom>
          <a:noFill/>
          <a:ln/>
        </p:spPr>
        <p:txBody>
          <a:bodyPr wrap="square" lIns="0" tIns="0" rIns="0" bIns="0" rtlCol="0" anchor="t"/>
          <a:lstStyle/>
          <a:p>
            <a:pPr indent="0" marL="0">
              <a:buNone/>
            </a:pPr>
            <a:r>
              <a:rPr lang="en-US" sz="1500" dirty="0">
                <a:solidFill>
                  <a:schemeClr val="tx2"/>
                </a:solidFill>
              </a:rPr>
              <a:t>Proud kapaliny láme třísky na malé kousky, takže se nenamotávají na obrobek.</a:t>
            </a:r>
            <a:endParaRPr lang="en-US" sz="15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indent="0" marL="0">
              <a:buNone/>
            </a:pPr>
            <a:r>
              <a:rPr lang="en-US" sz="3400" b="1" dirty="0">
                <a:solidFill>
                  <a:schemeClr val="bg1"/>
                </a:solidFill>
              </a:rPr>
              <a:t>Shrnutí</a:t>
            </a:r>
            <a:endParaRPr lang="en-US" sz="3400" dirty="0"/>
          </a:p>
        </p:txBody>
      </p:sp>
      <p:sp>
        <p:nvSpPr>
          <p:cNvPr id="3" name="sum circle 0"/>
          <p:cNvSpPr/>
          <p:nvPr/>
        </p:nvSpPr>
        <p:spPr>
          <a:xfrm>
            <a:off x="548640" y="1554480"/>
            <a:ext cx="548640" cy="548640"/>
          </a:xfrm>
          <a:prstGeom prst="ellipse">
            <a:avLst/>
          </a:prstGeom>
          <a:solidFill>
            <a:schemeClr val="accent1"/>
          </a:solidFill>
          <a:ln/>
        </p:spPr>
      </p:sp>
      <p:sp>
        <p:nvSpPr>
          <p:cNvPr id="4" name="sum num 0"/>
          <p:cNvSpPr txBox="1"/>
          <p:nvPr/>
        </p:nvSpPr>
        <p:spPr>
          <a:xfrm>
            <a:off x="548640" y="155448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5" name="sum text 0"/>
          <p:cNvSpPr txBox="1"/>
          <p:nvPr/>
        </p:nvSpPr>
        <p:spPr>
          <a:xfrm>
            <a:off x="1325880" y="1554480"/>
            <a:ext cx="5760720" cy="548640"/>
          </a:xfrm>
          <a:prstGeom prst="rect">
            <a:avLst/>
          </a:prstGeom>
          <a:noFill/>
          <a:ln/>
        </p:spPr>
        <p:txBody>
          <a:bodyPr wrap="square" lIns="0" tIns="0" rIns="0" bIns="0" rtlCol="0" anchor="ctr"/>
          <a:lstStyle/>
          <a:p>
            <a:pPr indent="0" marL="0">
              <a:buNone/>
            </a:pPr>
            <a:r>
              <a:rPr lang="en-US" sz="1700" dirty="0">
                <a:solidFill>
                  <a:schemeClr val="bg1"/>
                </a:solidFill>
              </a:rPr>
              <a:t>Soustružení spojuje 3D tisk a obrábění v jednom stroji</a:t>
            </a:r>
            <a:endParaRPr lang="en-US" sz="1700" dirty="0"/>
          </a:p>
        </p:txBody>
      </p:sp>
      <p:sp>
        <p:nvSpPr>
          <p:cNvPr id="6" name="sum circle 1"/>
          <p:cNvSpPr/>
          <p:nvPr/>
        </p:nvSpPr>
        <p:spPr>
          <a:xfrm>
            <a:off x="548640" y="2560320"/>
            <a:ext cx="548640" cy="548640"/>
          </a:xfrm>
          <a:prstGeom prst="ellipse">
            <a:avLst/>
          </a:prstGeom>
          <a:solidFill>
            <a:schemeClr val="accent1"/>
          </a:solidFill>
          <a:ln/>
        </p:spPr>
      </p:sp>
      <p:sp>
        <p:nvSpPr>
          <p:cNvPr id="7" name="sum num 1"/>
          <p:cNvSpPr txBox="1"/>
          <p:nvPr/>
        </p:nvSpPr>
        <p:spPr>
          <a:xfrm>
            <a:off x="548640" y="256032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8" name="sum text 1"/>
          <p:cNvSpPr txBox="1"/>
          <p:nvPr/>
        </p:nvSpPr>
        <p:spPr>
          <a:xfrm>
            <a:off x="1325880" y="2560320"/>
            <a:ext cx="5760720" cy="548640"/>
          </a:xfrm>
          <a:prstGeom prst="rect">
            <a:avLst/>
          </a:prstGeom>
          <a:noFill/>
          <a:ln/>
        </p:spPr>
        <p:txBody>
          <a:bodyPr wrap="square" lIns="0" tIns="0" rIns="0" bIns="0" rtlCol="0" anchor="ctr"/>
          <a:lstStyle/>
          <a:p>
            <a:pPr indent="0" marL="0">
              <a:buNone/>
            </a:pPr>
            <a:r>
              <a:rPr lang="en-US" sz="1700" dirty="0">
                <a:solidFill>
                  <a:schemeClr val="bg1"/>
                </a:solidFill>
              </a:rPr>
              <a:t>Teplo pod kontrolou: dusík chladí, laser ohřívá</a:t>
            </a:r>
            <a:endParaRPr lang="en-US" sz="1700" dirty="0"/>
          </a:p>
        </p:txBody>
      </p:sp>
      <p:sp>
        <p:nvSpPr>
          <p:cNvPr id="9" name="sum circle 2"/>
          <p:cNvSpPr/>
          <p:nvPr/>
        </p:nvSpPr>
        <p:spPr>
          <a:xfrm>
            <a:off x="548640" y="3566160"/>
            <a:ext cx="548640" cy="548640"/>
          </a:xfrm>
          <a:prstGeom prst="ellipse">
            <a:avLst/>
          </a:prstGeom>
          <a:solidFill>
            <a:schemeClr val="accent1"/>
          </a:solidFill>
          <a:ln/>
        </p:spPr>
      </p:sp>
      <p:sp>
        <p:nvSpPr>
          <p:cNvPr id="10" name="sum num 2"/>
          <p:cNvSpPr txBox="1"/>
          <p:nvPr/>
        </p:nvSpPr>
        <p:spPr>
          <a:xfrm>
            <a:off x="548640" y="356616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1" name="sum text 2"/>
          <p:cNvSpPr txBox="1"/>
          <p:nvPr/>
        </p:nvSpPr>
        <p:spPr>
          <a:xfrm>
            <a:off x="1325880" y="3566160"/>
            <a:ext cx="5760720" cy="548640"/>
          </a:xfrm>
          <a:prstGeom prst="rect">
            <a:avLst/>
          </a:prstGeom>
          <a:noFill/>
          <a:ln/>
        </p:spPr>
        <p:txBody>
          <a:bodyPr wrap="square" lIns="0" tIns="0" rIns="0" bIns="0" rtlCol="0" anchor="ctr"/>
          <a:lstStyle/>
          <a:p>
            <a:pPr indent="0" marL="0">
              <a:buNone/>
            </a:pPr>
            <a:r>
              <a:rPr lang="en-US" sz="1700" dirty="0">
                <a:solidFill>
                  <a:schemeClr val="bg1"/>
                </a:solidFill>
              </a:rPr>
              <a:t>Senzory, AI a digitální dvojče hlídají proces</a:t>
            </a:r>
            <a:endParaRPr lang="en-US" sz="1700" dirty="0"/>
          </a:p>
        </p:txBody>
      </p:sp>
      <p:sp>
        <p:nvSpPr>
          <p:cNvPr id="12" name="sum circle 3"/>
          <p:cNvSpPr/>
          <p:nvPr/>
        </p:nvSpPr>
        <p:spPr>
          <a:xfrm>
            <a:off x="548640" y="4572000"/>
            <a:ext cx="548640" cy="548640"/>
          </a:xfrm>
          <a:prstGeom prst="ellipse">
            <a:avLst/>
          </a:prstGeom>
          <a:solidFill>
            <a:schemeClr val="accent1"/>
          </a:solidFill>
          <a:ln/>
        </p:spPr>
      </p:sp>
      <p:sp>
        <p:nvSpPr>
          <p:cNvPr id="13" name="sum num 3"/>
          <p:cNvSpPr txBox="1"/>
          <p:nvPr/>
        </p:nvSpPr>
        <p:spPr>
          <a:xfrm>
            <a:off x="548640" y="457200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4</a:t>
            </a:r>
            <a:endParaRPr lang="en-US" sz="1800" dirty="0"/>
          </a:p>
        </p:txBody>
      </p:sp>
      <p:sp>
        <p:nvSpPr>
          <p:cNvPr id="14" name="sum text 3"/>
          <p:cNvSpPr txBox="1"/>
          <p:nvPr/>
        </p:nvSpPr>
        <p:spPr>
          <a:xfrm>
            <a:off x="1325880" y="4572000"/>
            <a:ext cx="5760720" cy="548640"/>
          </a:xfrm>
          <a:prstGeom prst="rect">
            <a:avLst/>
          </a:prstGeom>
          <a:noFill/>
          <a:ln/>
        </p:spPr>
        <p:txBody>
          <a:bodyPr wrap="square" lIns="0" tIns="0" rIns="0" bIns="0" rtlCol="0" anchor="ctr"/>
          <a:lstStyle/>
          <a:p>
            <a:pPr indent="0" marL="0">
              <a:buNone/>
            </a:pPr>
            <a:r>
              <a:rPr lang="en-US" sz="1700" dirty="0">
                <a:solidFill>
                  <a:schemeClr val="bg1"/>
                </a:solidFill>
              </a:rPr>
              <a:t>Ultrazvuk a diamant: křehké materiály a nanometrová přesnost</a:t>
            </a:r>
            <a:endParaRPr lang="en-US" sz="1700" dirty="0"/>
          </a:p>
        </p:txBody>
      </p:sp>
      <p:sp>
        <p:nvSpPr>
          <p:cNvPr id="15" name="end circle"/>
          <p:cNvSpPr/>
          <p:nvPr/>
        </p:nvSpPr>
        <p:spPr>
          <a:xfrm>
            <a:off x="8229600" y="1554480"/>
            <a:ext cx="2377440" cy="2377440"/>
          </a:xfrm>
          <a:prstGeom prst="ellipse">
            <a:avLst/>
          </a:prstGeom>
          <a:solidFill>
            <a:schemeClr val="tx2"/>
          </a:solidFill>
          <a:ln/>
        </p:spPr>
      </p:sp>
      <p:pic>
        <p:nvPicPr>
          <p:cNvPr id="16" name="gears icon" descr="ozubená kola">    </p:cNvPr>
          <p:cNvPicPr>
            <a:picLocks noChangeAspect="1"/>
          </p:cNvPicPr>
          <p:nvPr/>
        </p:nvPicPr>
        <p:blipFill>
          <a:blip r:embed="rId1"/>
          <a:stretch>
            <a:fillRect/>
          </a:stretch>
        </p:blipFill>
        <p:spPr>
          <a:xfrm>
            <a:off x="8686800" y="2011680"/>
            <a:ext cx="1463040" cy="1463040"/>
          </a:xfrm>
          <a:prstGeom prst="rect">
            <a:avLst/>
          </a:prstGeom>
        </p:spPr>
      </p:pic>
      <p:sp>
        <p:nvSpPr>
          <p:cNvPr id="17" name="thanks"/>
          <p:cNvSpPr txBox="1"/>
          <p:nvPr/>
        </p:nvSpPr>
        <p:spPr>
          <a:xfrm>
            <a:off x="7315200" y="4206240"/>
            <a:ext cx="4206240" cy="548640"/>
          </a:xfrm>
          <a:prstGeom prst="rect">
            <a:avLst/>
          </a:prstGeom>
          <a:noFill/>
          <a:ln/>
        </p:spPr>
        <p:txBody>
          <a:bodyPr wrap="square" lIns="0" tIns="0" rIns="0" bIns="0" rtlCol="0" anchor="t"/>
          <a:lstStyle/>
          <a:p>
            <a:pPr algn="ctr" indent="0" marL="0">
              <a:buNone/>
            </a:pPr>
            <a:r>
              <a:rPr lang="en-US" sz="2400" b="1" dirty="0">
                <a:solidFill>
                  <a:schemeClr val="bg1"/>
                </a:solidFill>
                <a:latin typeface="Arial" pitchFamily="34" charset="0"/>
                <a:ea typeface="Arial" pitchFamily="34" charset="-122"/>
                <a:cs typeface="Arial" pitchFamily="34" charset="-120"/>
              </a:rPr>
              <a:t>Děkuji za pozornost</a:t>
            </a:r>
            <a:endParaRPr lang="en-US" sz="2400" dirty="0"/>
          </a:p>
        </p:txBody>
      </p:sp>
      <p:sp>
        <p:nvSpPr>
          <p:cNvPr id="18" name="questions"/>
          <p:cNvSpPr txBox="1"/>
          <p:nvPr/>
        </p:nvSpPr>
        <p:spPr>
          <a:xfrm>
            <a:off x="7315200" y="4754880"/>
            <a:ext cx="4206240" cy="457200"/>
          </a:xfrm>
          <a:prstGeom prst="rect">
            <a:avLst/>
          </a:prstGeom>
          <a:noFill/>
          <a:ln/>
        </p:spPr>
        <p:txBody>
          <a:bodyPr wrap="square" lIns="0" tIns="0" rIns="0" bIns="0" rtlCol="0" anchor="t"/>
          <a:lstStyle/>
          <a:p>
            <a:pPr algn="ctr" indent="0" marL="0">
              <a:buNone/>
            </a:pPr>
            <a:r>
              <a:rPr lang="en-US" sz="2000" dirty="0">
                <a:solidFill>
                  <a:schemeClr val="accent1"/>
                </a:solidFill>
              </a:rPr>
              <a:t>Otázky?</a:t>
            </a:r>
            <a:endParaRPr lang="en-US" sz="2000" dirty="0"/>
          </a:p>
        </p:txBody>
      </p:sp>
      <p:sp>
        <p:nvSpPr>
          <p:cNvPr id="19" name="sources"/>
          <p:cNvSpPr txBox="1"/>
          <p:nvPr/>
        </p:nvSpPr>
        <p:spPr>
          <a:xfrm>
            <a:off x="548640" y="6217920"/>
            <a:ext cx="11064240" cy="320040"/>
          </a:xfrm>
          <a:prstGeom prst="rect">
            <a:avLst/>
          </a:prstGeom>
          <a:noFill/>
          <a:ln/>
        </p:spPr>
        <p:txBody>
          <a:bodyPr wrap="square" lIns="0" tIns="0" rIns="0" bIns="0" rtlCol="0" anchor="t"/>
          <a:lstStyle/>
          <a:p>
            <a:pPr indent="0" marL="0">
              <a:buNone/>
            </a:pPr>
            <a:r>
              <a:rPr lang="en-US" sz="1000" dirty="0">
                <a:solidFill>
                  <a:schemeClr val="accent3"/>
                </a:solidFill>
              </a:rPr>
              <a:t>Zdroje: Okuma, DMG MORI, Mazak, Sandvik Coromant, odborné články (ResearchGate, ScienceDirect)</a:t>
            </a:r>
            <a:endParaRPr lang="en-US" sz="1000" dirty="0"/>
          </a:p>
        </p:txBody>
      </p:sp>
    </p:spTree>
  </p:cSld>
  <p:clrMapOvr>
    <a:masterClrMapping/>
  </p:clrMapOvr>
</p:sld>
</file>

<file path=ppt/theme/theme1.xml><?xml version="1.0" encoding="utf-8"?>
<a:theme xmlns:a="http://schemas.openxmlformats.org/drawingml/2006/main" name="Ocel a jiskry">
  <a:themeElements>
    <a:clrScheme name="Ocel a jiskry">
      <a:dk1>
        <a:srgbClr val="1B232B"/>
      </a:dk1>
      <a:lt1>
        <a:srgbClr val="FFFFFF"/>
      </a:lt1>
      <a:dk2>
        <a:srgbClr val="2E3B47"/>
      </a:dk2>
      <a:lt2>
        <a:srgbClr val="EEF1F4"/>
      </a:lt2>
      <a:accent1>
        <a:srgbClr val="E8742C"/>
      </a:accent1>
      <a:accent2>
        <a:srgbClr val="3FA7D6"/>
      </a:accent2>
      <a:accent3>
        <a:srgbClr val="8A99A6"/>
      </a:accent3>
      <a:accent4>
        <a:srgbClr val="F2B134"/>
      </a:accent4>
      <a:accent5>
        <a:srgbClr val="5C6B78"/>
      </a:accent5>
      <a:accent6>
        <a:srgbClr val="C94F1E"/>
      </a:accent6>
      <a:hlink>
        <a:srgbClr val="3FA7D6"/>
      </a:hlink>
      <a:folHlink>
        <a:srgbClr val="8A99A6"/>
      </a:folHlink>
    </a:clrScheme>
    <a:fontScheme name="Ocel a jiskry">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Inovace v soustružení</dc:title>
  <dc:subject>PptxGenJS Presentation</dc:subject>
  <dc:creator>PptxGenJS</dc:creator>
  <cp:lastModifiedBy>PptxGenJS</cp:lastModifiedBy>
  <cp:revision>1</cp:revision>
  <dcterms:created xsi:type="dcterms:W3CDTF">2026-10-05T15:39:02Z</dcterms:created>
  <dcterms:modified xsi:type="dcterms:W3CDTF">2026-10-05T15:39:02Z</dcterms:modified>
</cp:coreProperties>
</file>